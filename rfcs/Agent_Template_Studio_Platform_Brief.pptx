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sldIdLst>
    <p:sldId id="256" r:id="rId7"/>
    <p:sldId id="257" r:id="rId6"/>
    <p:sldId id="258" r:id="rId9"/>
    <p:sldId id="259" r:id="rId10"/>
    <p:sldId id="260" r:id="rId11"/>
    <p:sldId id="261" r:id="rId12"/>
    <p:sldId id="262" r:id="rId13"/>
    <p:sldId id="263" r:id="rId14"/>
  </p:sldIdLst>
  <p:sldSz cx="12191999"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Lead with the platform value: domain teams create agents in a few guided steps on prepared infrastructure. Data access, PII handling and managed/private model choices are bundled capabilities. This is a reusable foundation across domains; Payroll is a reference implementation. Private deployment is an operating choice for sensitive workloads, not a claim that selecting a local model alone guarantees an isolated data path.</a:t>
            </a:r>
          </a:p>
          <a:p/>
          <a:p>
            <a:r>
              <a:t>IMPLEMENTATION EVIDENCE</a:t>
            </a:r>
          </a:p>
          <a:p>
            <a:r>
              <a:t>backend/agent_factory/factory.py</a:t>
            </a:r>
          </a:p>
          <a:p>
            <a:r>
              <a:t>backend/template/config.py</a:t>
            </a:r>
          </a:p>
          <a:p>
            <a:r>
              <a:t>ui-payroll-agent/src/app/agent-editor.component.html</a:t>
            </a:r>
          </a:p>
          <a:p>
            <a:r>
              <a:t>backend/runtime/agent_access.py</a:t>
            </a:r>
          </a:p>
          <a:p>
            <a:r>
              <a:t>backend/runtime/access.py</a:t>
            </a:r>
          </a:p>
          <a:p>
            <a:r>
              <a:t>ui-payroll-agent/src/app/access-control.component.ts</a:t>
            </a:r>
          </a:p>
          <a:p>
            <a:r>
              <a:t>backend/runtime/privacy.py</a:t>
            </a:r>
          </a:p>
          <a:p>
            <a:r>
              <a:t>backend/agents/anomaly_detection/investigation.py</a:t>
            </a:r>
          </a:p>
          <a:p>
            <a:r>
              <a:t>backend/agents/question/context_answer.py</a:t>
            </a:r>
          </a:p>
          <a:p>
            <a:r>
              <a:t>backend/model/runtime.py</a:t>
            </a:r>
          </a:p>
          <a:p>
            <a:r>
              <a:t>backend/templates/Model_config/ollama-local.json</a:t>
            </a:r>
          </a:p>
          <a:p>
            <a:r>
              <a:t>backend/templates/Model_config/vllm-slm.json</a:t>
            </a:r>
          </a:p>
          <a:p>
            <a:r>
              <a:t>infra/deploy/platform.py</a:t>
            </a:r>
          </a:p>
          <a:p>
            <a:r>
              <a:t>infra/deploy/ray/serving.yaml</a:t>
            </a:r>
          </a:p>
          <a:p>
            <a:r>
              <a:t>backend/agents/anomaly_detection/fallback.py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Read the picture top to bottom. Business domains consume agents built on the common platform. The platform bundles template-driven creation, runtime/model connections, data/API permissions, PII handling and common operating views. At the bottom, data systems and inference endpoints remain explicit choices. HR, Benefits and Insurance are reuse opportunities, not delivered production integrations. Current PII masking is specific to employee names in Payroll contexts.</a:t>
            </a:r>
          </a:p>
          <a:p/>
          <a:p>
            <a:r>
              <a:t>IMPLEMENTATION EVIDENCE</a:t>
            </a:r>
          </a:p>
          <a:p>
            <a:r>
              <a:t>backend/agent_factory/factory.py</a:t>
            </a:r>
          </a:p>
          <a:p>
            <a:r>
              <a:t>backend/template/config.py</a:t>
            </a:r>
          </a:p>
          <a:p>
            <a:r>
              <a:t>ui-payroll-agent/src/app/agent-editor.component.html</a:t>
            </a:r>
          </a:p>
          <a:p>
            <a:r>
              <a:t>backend/runtime/agent_access.py</a:t>
            </a:r>
          </a:p>
          <a:p>
            <a:r>
              <a:t>backend/runtime/access.py</a:t>
            </a:r>
          </a:p>
          <a:p>
            <a:r>
              <a:t>ui-payroll-agent/src/app/access-control.component.ts</a:t>
            </a:r>
          </a:p>
          <a:p>
            <a:r>
              <a:t>backend/runtime/privacy.py</a:t>
            </a:r>
          </a:p>
          <a:p>
            <a:r>
              <a:t>backend/agents/anomaly_detection/investigation.py</a:t>
            </a:r>
          </a:p>
          <a:p>
            <a:r>
              <a:t>backend/agents/question/context_answer.py</a:t>
            </a:r>
          </a:p>
          <a:p>
            <a:r>
              <a:t>backend/model/runtime.py</a:t>
            </a:r>
          </a:p>
          <a:p>
            <a:r>
              <a:t>backend/templates/Model_config/ollama-local.json</a:t>
            </a:r>
          </a:p>
          <a:p>
            <a:r>
              <a:t>backend/templates/Model_config/vllm-slm.json</a:t>
            </a:r>
          </a:p>
          <a:p>
            <a:r>
              <a:t>infra/deploy/platform.py</a:t>
            </a:r>
          </a:p>
          <a:p>
            <a:r>
              <a:t>infra/deploy/ray/serving.yaml</a:t>
            </a:r>
          </a:p>
          <a:p>
            <a:r>
              <a:t>backend/agents/anomaly_detection/fallback.py</a:t>
            </a:r>
          </a:p>
          <a:p>
            <a:r>
              <a:t>backend/agents/health.py</a:t>
            </a:r>
          </a:p>
          <a:p>
            <a:r>
              <a:t>backend/agents/metrics.py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The guided creation experience builds on configured templates, models and registered APIs. Choose a template; configure purpose, model and application placement; assign permitted data and context; save and use the registered agent. This is a conceptual summary rather than an exact screen order or measured click count. Model configuration is selected per agent; saving the agent does not itself deploy a GPU model. My Agents, health checks and the host application expose the saved instance.</a:t>
            </a:r>
          </a:p>
          <a:p/>
          <a:p>
            <a:r>
              <a:t>IMPLEMENTATION EVIDENCE</a:t>
            </a:r>
          </a:p>
          <a:p>
            <a:r>
              <a:t>backend/agent_factory/factory.py</a:t>
            </a:r>
          </a:p>
          <a:p>
            <a:r>
              <a:t>backend/template/config.py</a:t>
            </a:r>
          </a:p>
          <a:p>
            <a:r>
              <a:t>ui-payroll-agent/src/app/agent-editor.component.html</a:t>
            </a:r>
          </a:p>
          <a:p>
            <a:r>
              <a:t>backend/runtime/agent_access.py</a:t>
            </a:r>
          </a:p>
          <a:p>
            <a:r>
              <a:t>backend/runtime/access.py</a:t>
            </a:r>
          </a:p>
          <a:p>
            <a:r>
              <a:t>ui-payroll-agent/src/app/access-control.component.ts</a:t>
            </a:r>
          </a:p>
          <a:p>
            <a:r>
              <a:t>ui-payroll-agent/src/app/my-agents.component.ts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Use three questions to distinguish the controls. Data access governs which registered services and saved agent contexts a task may read. PII handling reduces employee names in model prompts by replacing them with IDs. Model placement governs whether the selected model endpoint is privately operated or managed. No one control replaces the others. API permissions are service-level and domain-scoped, not employee/field-level filtering or physical tenant isolation. Roles, direct grants and groups are additive; new agents start without service grants.</a:t>
            </a:r>
          </a:p>
          <a:p/>
          <a:p>
            <a:r>
              <a:t>IMPLEMENTATION EVIDENCE</a:t>
            </a:r>
          </a:p>
          <a:p>
            <a:r>
              <a:t>backend/runtime/agent_access.py</a:t>
            </a:r>
          </a:p>
          <a:p>
            <a:r>
              <a:t>backend/runtime/access.py</a:t>
            </a:r>
          </a:p>
          <a:p>
            <a:r>
              <a:t>ui-payroll-agent/src/app/access-control.component.ts</a:t>
            </a:r>
          </a:p>
          <a:p>
            <a:r>
              <a:t>backend/runtime/privacy.py</a:t>
            </a:r>
          </a:p>
          <a:p>
            <a:r>
              <a:t>backend/agents/anomaly_detection/investigation.py</a:t>
            </a:r>
          </a:p>
          <a:p>
            <a:r>
              <a:t>backend/agents/question/context_answer.py</a:t>
            </a:r>
          </a:p>
          <a:p>
            <a:r>
              <a:t>backend/model/runtime.py</a:t>
            </a:r>
          </a:p>
          <a:p>
            <a:r>
              <a:t>backend/templates/Model_config/ollama-local.json</a:t>
            </a:r>
          </a:p>
          <a:p>
            <a:r>
              <a:t>backend/templates/Model_config/vllm-slm.json</a:t>
            </a:r>
          </a:p>
          <a:p>
            <a:r>
              <a:t>infra/deploy/platform.py</a:t>
            </a:r>
          </a:p>
          <a:p>
            <a:r>
              <a:t>infra/deploy/ray/serving.yaml</a:t>
            </a:r>
          </a:p>
          <a:p>
            <a:r>
              <a:t>backend/agents/anomaly_detection/fallback.py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The actual Pseudonymizer is enabled by default unless PII_MASKING=false. It replaces employee names, and unambiguous surnames, with employee IDs in prepared prompts/context and restores names in supported response prose. Pay figures remain because they are needed for the task. This does not remove every possible PII type, does not implement field-level data policy and does not guarantee anonymous data. The example uses a fictitious employee and illustrative amount. PII controls exist in backend preparation, not as a new unimplemented UI policy builder.</a:t>
            </a:r>
          </a:p>
          <a:p/>
          <a:p>
            <a:r>
              <a:t>IMPLEMENTATION EVIDENCE</a:t>
            </a:r>
          </a:p>
          <a:p>
            <a:r>
              <a:t>backend/runtime/privacy.py</a:t>
            </a:r>
          </a:p>
          <a:p>
            <a:r>
              <a:t>backend/agents/anomaly_detection/investigation.py</a:t>
            </a:r>
          </a:p>
          <a:p>
            <a:r>
              <a:t>backend/agents/question/context_answer.py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This is a deployment/configuration decision for the administrator, not automatic sensitivity classification or routing. For workloads requiring tighter control of where inference runs, use an organization-operated endpoint and approved infrastructure/network controls. Managed inference remains available when organization policy permits the provider and data path. The runtime supports compatible endpoints and Hugging Face, with private endpoint options including Ollama and vLLM. The Ray/vLLM deployment assets exist but local inference has not been validated. A private main model alone is insufficient: Jev decision services, embeddings and investigation fallback paths must all be assessed/configured for the target boundary. vLLM AD selection blocks the Hugging Face backup; other private options require explicit AD_HF_FALLBACK=false where relevant. Private deployment is not an air-gap or certification claim.</a:t>
            </a:r>
          </a:p>
          <a:p/>
          <a:p>
            <a:r>
              <a:t>IMPLEMENTATION EVIDENCE</a:t>
            </a:r>
          </a:p>
          <a:p>
            <a:r>
              <a:t>backend/model/runtime.py</a:t>
            </a:r>
          </a:p>
          <a:p>
            <a:r>
              <a:t>backend/templates/Model_config/ollama-local.json</a:t>
            </a:r>
          </a:p>
          <a:p>
            <a:r>
              <a:t>backend/templates/Model_config/vllm-slm.json</a:t>
            </a:r>
          </a:p>
          <a:p>
            <a:r>
              <a:t>infra/deploy/platform.py</a:t>
            </a:r>
          </a:p>
          <a:p>
            <a:r>
              <a:t>infra/deploy/ray/serving.yaml</a:t>
            </a:r>
          </a:p>
          <a:p>
            <a:r>
              <a:t>backend/agents/anomaly_detection/fallback.py</a:t>
            </a:r>
          </a:p>
          <a:p>
            <a:r>
              <a:t>backend/agents/anomaly_detection/jev.py</a:t>
            </a:r>
          </a:p>
          <a:p>
            <a:r>
              <a:t>backend/runtime/retrieval.py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Keep the multi-domain story central. Payroll is a reference workflow combining approved API reads, name masking, configured models, saved findings and explicit incident handoff. HR and Benefits are illustrative next domains, not completed integrations. A generic record adapter and Leaves example provide an extension path. Shared infrastructure includes factory/registry, model adapters, access/context permissions and operating visibility. Domain-specific PII types need domain-specific handling; do not claim Payroll name masking automatically covers all HR or Benefits sensitive fields.</a:t>
            </a:r>
          </a:p>
          <a:p/>
          <a:p>
            <a:r>
              <a:t>IMPLEMENTATION EVIDENCE</a:t>
            </a:r>
          </a:p>
          <a:p>
            <a:r>
              <a:t>backend/agent_factory/factory.py</a:t>
            </a:r>
          </a:p>
          <a:p>
            <a:r>
              <a:t>backend/template/config.py</a:t>
            </a:r>
          </a:p>
          <a:p>
            <a:r>
              <a:t>ui-payroll-agent/src/app/agent-editor.component.html</a:t>
            </a:r>
          </a:p>
          <a:p>
            <a:r>
              <a:t>backend/runtime/agent_access.py</a:t>
            </a:r>
          </a:p>
          <a:p>
            <a:r>
              <a:t>backend/runtime/access.py</a:t>
            </a:r>
          </a:p>
          <a:p>
            <a:r>
              <a:t>ui-payroll-agent/src/app/access-control.component.ts</a:t>
            </a:r>
          </a:p>
          <a:p>
            <a:r>
              <a:t>backend/runtime/privacy.py</a:t>
            </a:r>
          </a:p>
          <a:p>
            <a:r>
              <a:t>backend/agents/anomaly_detection/investigation.py</a:t>
            </a:r>
          </a:p>
          <a:p>
            <a:r>
              <a:t>backend/agents/question/context_answer.py</a:t>
            </a:r>
          </a:p>
          <a:p>
            <a:r>
              <a:t>backend/agents/anomaly_detection/domains/records.py</a:t>
            </a:r>
          </a:p>
          <a:p>
            <a:r>
              <a:t>backend/examples/anomaly/leaves-template.json</a:t>
            </a:r>
          </a:p>
          <a:p>
            <a:r>
              <a:t>backend/agents/communication/incident.py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Close on the bundled platform value. Template-driven creation reduces repeated setup; data/API permissions and PII handling support controlled use; private/managed model choices allow the operating environment to match the workload. Start with one domain and prove reuse on the next, including validating the privacy boundary and real model readiness. Benefits are goals to measure, not quantified savings or a security certification. Detailed implementation limits belong in these notes rather than adding dense appendix slides.</a:t>
            </a:r>
          </a:p>
          <a:p/>
          <a:p>
            <a:r>
              <a:t>IMPLEMENTATION EVIDENCE</a:t>
            </a:r>
          </a:p>
          <a:p>
            <a:r>
              <a:t>backend/agent_factory/factory.py</a:t>
            </a:r>
          </a:p>
          <a:p>
            <a:r>
              <a:t>backend/template/config.py</a:t>
            </a:r>
          </a:p>
          <a:p>
            <a:r>
              <a:t>ui-payroll-agent/src/app/agent-editor.component.html</a:t>
            </a:r>
          </a:p>
          <a:p>
            <a:r>
              <a:t>backend/runtime/agent_access.py</a:t>
            </a:r>
          </a:p>
          <a:p>
            <a:r>
              <a:t>backend/runtime/access.py</a:t>
            </a:r>
          </a:p>
          <a:p>
            <a:r>
              <a:t>ui-payroll-agent/src/app/access-control.component.ts</a:t>
            </a:r>
          </a:p>
          <a:p>
            <a:r>
              <a:t>backend/runtime/privacy.py</a:t>
            </a:r>
          </a:p>
          <a:p>
            <a:r>
              <a:t>backend/agents/anomaly_detection/investigation.py</a:t>
            </a:r>
          </a:p>
          <a:p>
            <a:r>
              <a:t>backend/agents/question/context_answer.py</a:t>
            </a:r>
          </a:p>
          <a:p>
            <a:r>
              <a:t>backend/model/runtime.py</a:t>
            </a:r>
          </a:p>
          <a:p>
            <a:r>
              <a:t>backend/templates/Model_config/ollama-local.json</a:t>
            </a:r>
          </a:p>
          <a:p>
            <a:r>
              <a:t>backend/templates/Model_config/vllm-slm.json</a:t>
            </a:r>
          </a:p>
          <a:p>
            <a:r>
              <a:t>infra/deploy/platform.py</a:t>
            </a:r>
          </a:p>
          <a:p>
            <a:r>
              <a:t>infra/deploy/ray/serving.yaml</a:t>
            </a:r>
          </a:p>
          <a:p>
            <a:r>
              <a:t>backend/agents/anomaly_detection/fallback.py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AGENT TEMPLATE STUDIO</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A REUSABLE INFRASTRUCTURE PLATFORM</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Create agents quickly. Keep data under control.</a:t>
            </a:r>
          </a:p>
        </p:txBody>
      </p:sp>
      <p:sp>
        <p:nvSpPr>
          <p:cNvPr id="6" name="TextBox 5"/>
          <p:cNvSpPr txBox="1"/>
          <p:nvPr/>
        </p:nvSpPr>
        <p:spPr>
          <a:xfrm>
            <a:off x="640080" y="1993392"/>
            <a:ext cx="10881360" cy="466344"/>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Templates, data controls and model choice — in one platform.</a:t>
            </a:r>
          </a:p>
        </p:txBody>
      </p:sp>
      <p:sp>
        <p:nvSpPr>
          <p:cNvPr id="7" name="Rectangle 6"/>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SHARED AGENT PLATFORM  /  03 OCT 2026</a:t>
            </a:r>
          </a:p>
        </p:txBody>
      </p:sp>
      <p:sp>
        <p:nvSpPr>
          <p:cNvPr id="9" name="TextBox 8"/>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01</a:t>
            </a:r>
          </a:p>
        </p:txBody>
      </p:sp>
      <p:sp>
        <p:nvSpPr>
          <p:cNvPr id="10" name="Rounded Rectangle 9"/>
          <p:cNvSpPr/>
          <p:nvPr/>
        </p:nvSpPr>
        <p:spPr>
          <a:xfrm>
            <a:off x="630936" y="2734056"/>
            <a:ext cx="3483864" cy="253288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2953512"/>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CREATE</a:t>
            </a:r>
          </a:p>
        </p:txBody>
      </p:sp>
      <p:sp>
        <p:nvSpPr>
          <p:cNvPr id="12" name="TextBox 11"/>
          <p:cNvSpPr txBox="1"/>
          <p:nvPr/>
        </p:nvSpPr>
        <p:spPr>
          <a:xfrm>
            <a:off x="850392" y="3566160"/>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Start from</a:t>
            </a:r>
          </a:p>
          <a:p>
            <a:pPr algn="l">
              <a:lnSpc>
                <a:spcPts val="2800"/>
              </a:lnSpc>
              <a:spcBef>
                <a:spcPts val="0"/>
              </a:spcBef>
              <a:spcAft>
                <a:spcPts val="0"/>
              </a:spcAft>
            </a:pPr>
            <a:r>
              <a:rPr sz="2500" b="1">
                <a:solidFill>
                  <a:srgbClr val="122743"/>
                </a:solidFill>
                <a:latin typeface="Aptos"/>
              </a:rPr>
              <a:t>a template</a:t>
            </a:r>
          </a:p>
        </p:txBody>
      </p:sp>
      <p:sp>
        <p:nvSpPr>
          <p:cNvPr id="13" name="TextBox 12"/>
          <p:cNvSpPr txBox="1"/>
          <p:nvPr/>
        </p:nvSpPr>
        <p:spPr>
          <a:xfrm>
            <a:off x="850392" y="4544568"/>
            <a:ext cx="3044952" cy="585216"/>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A few guided steps.</a:t>
            </a:r>
          </a:p>
        </p:txBody>
      </p:sp>
      <p:sp>
        <p:nvSpPr>
          <p:cNvPr id="14" name="Rounded Rectangle 13"/>
          <p:cNvSpPr/>
          <p:nvPr/>
        </p:nvSpPr>
        <p:spPr>
          <a:xfrm>
            <a:off x="4352544" y="2734056"/>
            <a:ext cx="3483864" cy="2532888"/>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953512"/>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65D5CF"/>
                </a:solidFill>
                <a:latin typeface="Aptos"/>
              </a:rPr>
              <a:t>CONTROL</a:t>
            </a:r>
          </a:p>
        </p:txBody>
      </p:sp>
      <p:sp>
        <p:nvSpPr>
          <p:cNvPr id="16" name="TextBox 15"/>
          <p:cNvSpPr txBox="1"/>
          <p:nvPr/>
        </p:nvSpPr>
        <p:spPr>
          <a:xfrm>
            <a:off x="4572000" y="3566160"/>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FFFFFF"/>
                </a:solidFill>
                <a:latin typeface="Aptos"/>
              </a:rPr>
              <a:t>Set data +</a:t>
            </a:r>
          </a:p>
          <a:p>
            <a:pPr algn="l">
              <a:lnSpc>
                <a:spcPts val="2800"/>
              </a:lnSpc>
              <a:spcBef>
                <a:spcPts val="0"/>
              </a:spcBef>
              <a:spcAft>
                <a:spcPts val="0"/>
              </a:spcAft>
            </a:pPr>
            <a:r>
              <a:rPr sz="2500" b="1">
                <a:solidFill>
                  <a:srgbClr val="FFFFFF"/>
                </a:solidFill>
                <a:latin typeface="Aptos"/>
              </a:rPr>
              <a:t>PII boundaries</a:t>
            </a:r>
          </a:p>
        </p:txBody>
      </p:sp>
      <p:sp>
        <p:nvSpPr>
          <p:cNvPr id="17" name="TextBox 16"/>
          <p:cNvSpPr txBox="1"/>
          <p:nvPr/>
        </p:nvSpPr>
        <p:spPr>
          <a:xfrm>
            <a:off x="4572000" y="4544568"/>
            <a:ext cx="3044952" cy="585216"/>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D8E6F3"/>
                </a:solidFill>
                <a:latin typeface="Aptos"/>
              </a:rPr>
              <a:t>Explicit access and masking.</a:t>
            </a:r>
          </a:p>
        </p:txBody>
      </p:sp>
      <p:sp>
        <p:nvSpPr>
          <p:cNvPr id="18" name="Rounded Rectangle 17"/>
          <p:cNvSpPr/>
          <p:nvPr/>
        </p:nvSpPr>
        <p:spPr>
          <a:xfrm>
            <a:off x="8074152" y="2734056"/>
            <a:ext cx="3483864" cy="253288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2953512"/>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7650A6"/>
                </a:solidFill>
                <a:latin typeface="Aptos"/>
              </a:rPr>
              <a:t>CHOOSE</a:t>
            </a:r>
          </a:p>
        </p:txBody>
      </p:sp>
      <p:sp>
        <p:nvSpPr>
          <p:cNvPr id="20" name="TextBox 19"/>
          <p:cNvSpPr txBox="1"/>
          <p:nvPr/>
        </p:nvSpPr>
        <p:spPr>
          <a:xfrm>
            <a:off x="8293608" y="3566160"/>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Private or</a:t>
            </a:r>
          </a:p>
          <a:p>
            <a:pPr algn="l">
              <a:lnSpc>
                <a:spcPts val="2800"/>
              </a:lnSpc>
              <a:spcBef>
                <a:spcPts val="0"/>
              </a:spcBef>
              <a:spcAft>
                <a:spcPts val="0"/>
              </a:spcAft>
            </a:pPr>
            <a:r>
              <a:rPr sz="2500" b="1">
                <a:solidFill>
                  <a:srgbClr val="122743"/>
                </a:solidFill>
                <a:latin typeface="Aptos"/>
              </a:rPr>
              <a:t>managed models</a:t>
            </a:r>
          </a:p>
        </p:txBody>
      </p:sp>
      <p:sp>
        <p:nvSpPr>
          <p:cNvPr id="21" name="TextBox 20"/>
          <p:cNvSpPr txBox="1"/>
          <p:nvPr/>
        </p:nvSpPr>
        <p:spPr>
          <a:xfrm>
            <a:off x="8293608" y="4544568"/>
            <a:ext cx="3044952" cy="585216"/>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Fit the privacy requirement.</a:t>
            </a:r>
          </a:p>
        </p:txBody>
      </p:sp>
      <p:sp>
        <p:nvSpPr>
          <p:cNvPr id="22" name="Rounded Rectangle 21"/>
          <p:cNvSpPr/>
          <p:nvPr/>
        </p:nvSpPr>
        <p:spPr>
          <a:xfrm>
            <a:off x="630936" y="5477256"/>
            <a:ext cx="10927080" cy="438912"/>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5568696"/>
            <a:ext cx="10533888" cy="256032"/>
          </a:xfrm>
          <a:prstGeom prst="rect">
            <a:avLst/>
          </a:prstGeom>
          <a:noFill/>
        </p:spPr>
        <p:txBody>
          <a:bodyPr wrap="square" lIns="13716" rIns="13716" tIns="22860" bIns="22860">
            <a:spAutoFit/>
          </a:bodyPr>
          <a:lstStyle/>
          <a:p>
            <a:pPr algn="ctr">
              <a:lnSpc>
                <a:spcPts val="1680"/>
              </a:lnSpc>
              <a:spcBef>
                <a:spcPts val="0"/>
              </a:spcBef>
              <a:spcAft>
                <a:spcPts val="0"/>
              </a:spcAft>
            </a:pPr>
            <a:r>
              <a:rPr sz="1500" b="1">
                <a:solidFill>
                  <a:srgbClr val="007C83"/>
                </a:solidFill>
                <a:latin typeface="Aptos"/>
              </a:rPr>
              <a:t>One foundation. Reuse across domains.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AGENT TEMPLATE STUDIO</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THE PLATFORM</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One platform connects agents, data and models.</a:t>
            </a:r>
          </a:p>
        </p:txBody>
      </p:sp>
      <p:sp>
        <p:nvSpPr>
          <p:cNvPr id="6" name="Rectangle 5"/>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SHARED AGENT PLATFORM  /  03 OCT 2026</a:t>
            </a:r>
          </a:p>
        </p:txBody>
      </p:sp>
      <p:sp>
        <p:nvSpPr>
          <p:cNvPr id="8" name="TextBox 7"/>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02</a:t>
            </a:r>
          </a:p>
        </p:txBody>
      </p:sp>
      <p:sp>
        <p:nvSpPr>
          <p:cNvPr id="9" name="Rounded Rectangle 8"/>
          <p:cNvSpPr/>
          <p:nvPr/>
        </p:nvSpPr>
        <p:spPr>
          <a:xfrm>
            <a:off x="630936" y="2560320"/>
            <a:ext cx="2532888" cy="50292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5" y="2688336"/>
            <a:ext cx="2350008" cy="256032"/>
          </a:xfrm>
          <a:prstGeom prst="rect">
            <a:avLst/>
          </a:prstGeom>
          <a:noFill/>
        </p:spPr>
        <p:txBody>
          <a:bodyPr wrap="square" lIns="13716" rIns="13716" tIns="22860" bIns="22860">
            <a:spAutoFit/>
          </a:bodyPr>
          <a:lstStyle/>
          <a:p>
            <a:pPr algn="ctr">
              <a:lnSpc>
                <a:spcPts val="1568"/>
              </a:lnSpc>
              <a:spcBef>
                <a:spcPts val="0"/>
              </a:spcBef>
              <a:spcAft>
                <a:spcPts val="0"/>
              </a:spcAft>
            </a:pPr>
            <a:r>
              <a:rPr sz="1400" b="1">
                <a:solidFill>
                  <a:srgbClr val="235CC4"/>
                </a:solidFill>
                <a:latin typeface="Aptos"/>
              </a:rPr>
              <a:t>PAYROLL</a:t>
            </a:r>
          </a:p>
        </p:txBody>
      </p:sp>
      <p:sp>
        <p:nvSpPr>
          <p:cNvPr id="11" name="Rounded Rectangle 10"/>
          <p:cNvSpPr/>
          <p:nvPr/>
        </p:nvSpPr>
        <p:spPr>
          <a:xfrm>
            <a:off x="3429000" y="2560320"/>
            <a:ext cx="2532888" cy="50292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2688336"/>
            <a:ext cx="2350008" cy="256032"/>
          </a:xfrm>
          <a:prstGeom prst="rect">
            <a:avLst/>
          </a:prstGeom>
          <a:noFill/>
        </p:spPr>
        <p:txBody>
          <a:bodyPr wrap="square" lIns="13716" rIns="13716" tIns="22860" bIns="22860">
            <a:spAutoFit/>
          </a:bodyPr>
          <a:lstStyle/>
          <a:p>
            <a:pPr algn="ctr">
              <a:lnSpc>
                <a:spcPts val="1568"/>
              </a:lnSpc>
              <a:spcBef>
                <a:spcPts val="0"/>
              </a:spcBef>
              <a:spcAft>
                <a:spcPts val="0"/>
              </a:spcAft>
            </a:pPr>
            <a:r>
              <a:rPr sz="1400" b="1">
                <a:solidFill>
                  <a:srgbClr val="235CC4"/>
                </a:solidFill>
                <a:latin typeface="Aptos"/>
              </a:rPr>
              <a:t>HR</a:t>
            </a:r>
          </a:p>
        </p:txBody>
      </p:sp>
      <p:sp>
        <p:nvSpPr>
          <p:cNvPr id="13" name="Rounded Rectangle 12"/>
          <p:cNvSpPr/>
          <p:nvPr/>
        </p:nvSpPr>
        <p:spPr>
          <a:xfrm>
            <a:off x="6227064" y="2560320"/>
            <a:ext cx="2532888" cy="50292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2688336"/>
            <a:ext cx="2350008" cy="256032"/>
          </a:xfrm>
          <a:prstGeom prst="rect">
            <a:avLst/>
          </a:prstGeom>
          <a:noFill/>
        </p:spPr>
        <p:txBody>
          <a:bodyPr wrap="square" lIns="13716" rIns="13716" tIns="22860" bIns="22860">
            <a:spAutoFit/>
          </a:bodyPr>
          <a:lstStyle/>
          <a:p>
            <a:pPr algn="ctr">
              <a:lnSpc>
                <a:spcPts val="1568"/>
              </a:lnSpc>
              <a:spcBef>
                <a:spcPts val="0"/>
              </a:spcBef>
              <a:spcAft>
                <a:spcPts val="0"/>
              </a:spcAft>
            </a:pPr>
            <a:r>
              <a:rPr sz="1400" b="1">
                <a:solidFill>
                  <a:srgbClr val="235CC4"/>
                </a:solidFill>
                <a:latin typeface="Aptos"/>
              </a:rPr>
              <a:t>BENEFITS</a:t>
            </a:r>
          </a:p>
        </p:txBody>
      </p:sp>
      <p:sp>
        <p:nvSpPr>
          <p:cNvPr id="15" name="Rounded Rectangle 14"/>
          <p:cNvSpPr/>
          <p:nvPr/>
        </p:nvSpPr>
        <p:spPr>
          <a:xfrm>
            <a:off x="9025128" y="2560320"/>
            <a:ext cx="2532888" cy="50292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6567" y="2688336"/>
            <a:ext cx="2350008" cy="256032"/>
          </a:xfrm>
          <a:prstGeom prst="rect">
            <a:avLst/>
          </a:prstGeom>
          <a:noFill/>
        </p:spPr>
        <p:txBody>
          <a:bodyPr wrap="square" lIns="13716" rIns="13716" tIns="22860" bIns="22860">
            <a:spAutoFit/>
          </a:bodyPr>
          <a:lstStyle/>
          <a:p>
            <a:pPr algn="ctr">
              <a:lnSpc>
                <a:spcPts val="1568"/>
              </a:lnSpc>
              <a:spcBef>
                <a:spcPts val="0"/>
              </a:spcBef>
              <a:spcAft>
                <a:spcPts val="0"/>
              </a:spcAft>
            </a:pPr>
            <a:r>
              <a:rPr sz="1400" b="1">
                <a:solidFill>
                  <a:srgbClr val="235CC4"/>
                </a:solidFill>
                <a:latin typeface="Aptos"/>
              </a:rPr>
              <a:t>INSURANCE</a:t>
            </a:r>
          </a:p>
        </p:txBody>
      </p:sp>
      <p:sp>
        <p:nvSpPr>
          <p:cNvPr id="17" name="Rounded Rectangle 16"/>
          <p:cNvSpPr/>
          <p:nvPr/>
        </p:nvSpPr>
        <p:spPr>
          <a:xfrm>
            <a:off x="630936" y="3383280"/>
            <a:ext cx="10927080" cy="1673352"/>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3611880"/>
            <a:ext cx="10396728" cy="292608"/>
          </a:xfrm>
          <a:prstGeom prst="rect">
            <a:avLst/>
          </a:prstGeom>
          <a:noFill/>
        </p:spPr>
        <p:txBody>
          <a:bodyPr wrap="square" lIns="13716" rIns="13716" tIns="22860" bIns="22860">
            <a:spAutoFit/>
          </a:bodyPr>
          <a:lstStyle/>
          <a:p>
            <a:pPr algn="ctr">
              <a:lnSpc>
                <a:spcPts val="2128"/>
              </a:lnSpc>
              <a:spcBef>
                <a:spcPts val="0"/>
              </a:spcBef>
              <a:spcAft>
                <a:spcPts val="0"/>
              </a:spcAft>
            </a:pPr>
            <a:r>
              <a:rPr sz="1900" b="1">
                <a:solidFill>
                  <a:srgbClr val="65D5CF"/>
                </a:solidFill>
                <a:latin typeface="Aptos"/>
              </a:rPr>
              <a:t>AGENT TEMPLATE STUDIO</a:t>
            </a:r>
          </a:p>
        </p:txBody>
      </p:sp>
      <p:sp>
        <p:nvSpPr>
          <p:cNvPr id="19" name="TextBox 18"/>
          <p:cNvSpPr txBox="1"/>
          <p:nvPr/>
        </p:nvSpPr>
        <p:spPr>
          <a:xfrm>
            <a:off x="850392" y="4261104"/>
            <a:ext cx="2578608" cy="356616"/>
          </a:xfrm>
          <a:prstGeom prst="rect">
            <a:avLst/>
          </a:prstGeom>
          <a:noFill/>
        </p:spPr>
        <p:txBody>
          <a:bodyPr wrap="square" lIns="13716" rIns="13716" tIns="22860" bIns="22860">
            <a:spAutoFit/>
          </a:bodyPr>
          <a:lstStyle/>
          <a:p>
            <a:pPr algn="ctr">
              <a:lnSpc>
                <a:spcPts val="2352"/>
              </a:lnSpc>
              <a:spcBef>
                <a:spcPts val="0"/>
              </a:spcBef>
              <a:spcAft>
                <a:spcPts val="0"/>
              </a:spcAft>
            </a:pPr>
            <a:r>
              <a:rPr sz="2100" b="1">
                <a:solidFill>
                  <a:srgbClr val="FFFFFF"/>
                </a:solidFill>
                <a:latin typeface="Aptos"/>
              </a:rPr>
              <a:t>Templates</a:t>
            </a:r>
          </a:p>
        </p:txBody>
      </p:sp>
      <p:sp>
        <p:nvSpPr>
          <p:cNvPr id="20" name="TextBox 19"/>
          <p:cNvSpPr txBox="1"/>
          <p:nvPr/>
        </p:nvSpPr>
        <p:spPr>
          <a:xfrm>
            <a:off x="3566160" y="4261104"/>
            <a:ext cx="2578608" cy="356616"/>
          </a:xfrm>
          <a:prstGeom prst="rect">
            <a:avLst/>
          </a:prstGeom>
          <a:noFill/>
        </p:spPr>
        <p:txBody>
          <a:bodyPr wrap="square" lIns="13716" rIns="13716" tIns="22860" bIns="22860">
            <a:spAutoFit/>
          </a:bodyPr>
          <a:lstStyle/>
          <a:p>
            <a:pPr algn="ctr">
              <a:lnSpc>
                <a:spcPts val="2352"/>
              </a:lnSpc>
              <a:spcBef>
                <a:spcPts val="0"/>
              </a:spcBef>
              <a:spcAft>
                <a:spcPts val="0"/>
              </a:spcAft>
            </a:pPr>
            <a:r>
              <a:rPr sz="2100" b="1">
                <a:solidFill>
                  <a:srgbClr val="FFFFFF"/>
                </a:solidFill>
                <a:latin typeface="Aptos"/>
              </a:rPr>
              <a:t>Agents + models</a:t>
            </a:r>
          </a:p>
        </p:txBody>
      </p:sp>
      <p:sp>
        <p:nvSpPr>
          <p:cNvPr id="21" name="TextBox 20"/>
          <p:cNvSpPr txBox="1"/>
          <p:nvPr/>
        </p:nvSpPr>
        <p:spPr>
          <a:xfrm>
            <a:off x="6281928" y="4261104"/>
            <a:ext cx="2578608" cy="356616"/>
          </a:xfrm>
          <a:prstGeom prst="rect">
            <a:avLst/>
          </a:prstGeom>
          <a:noFill/>
        </p:spPr>
        <p:txBody>
          <a:bodyPr wrap="square" lIns="13716" rIns="13716" tIns="22860" bIns="22860">
            <a:spAutoFit/>
          </a:bodyPr>
          <a:lstStyle/>
          <a:p>
            <a:pPr algn="ctr">
              <a:lnSpc>
                <a:spcPts val="2352"/>
              </a:lnSpc>
              <a:spcBef>
                <a:spcPts val="0"/>
              </a:spcBef>
              <a:spcAft>
                <a:spcPts val="0"/>
              </a:spcAft>
            </a:pPr>
            <a:r>
              <a:rPr sz="2100" b="1">
                <a:solidFill>
                  <a:srgbClr val="FFFFFF"/>
                </a:solidFill>
                <a:latin typeface="Aptos"/>
              </a:rPr>
              <a:t>APIs + data</a:t>
            </a:r>
          </a:p>
        </p:txBody>
      </p:sp>
      <p:sp>
        <p:nvSpPr>
          <p:cNvPr id="22" name="TextBox 21"/>
          <p:cNvSpPr txBox="1"/>
          <p:nvPr/>
        </p:nvSpPr>
        <p:spPr>
          <a:xfrm>
            <a:off x="8997696" y="4261104"/>
            <a:ext cx="2578608" cy="356616"/>
          </a:xfrm>
          <a:prstGeom prst="rect">
            <a:avLst/>
          </a:prstGeom>
          <a:noFill/>
        </p:spPr>
        <p:txBody>
          <a:bodyPr wrap="square" lIns="13716" rIns="13716" tIns="22860" bIns="22860">
            <a:spAutoFit/>
          </a:bodyPr>
          <a:lstStyle/>
          <a:p>
            <a:pPr algn="ctr">
              <a:lnSpc>
                <a:spcPts val="2352"/>
              </a:lnSpc>
              <a:spcBef>
                <a:spcPts val="0"/>
              </a:spcBef>
              <a:spcAft>
                <a:spcPts val="0"/>
              </a:spcAft>
            </a:pPr>
            <a:r>
              <a:rPr sz="2100" b="1">
                <a:solidFill>
                  <a:srgbClr val="FFFFFF"/>
                </a:solidFill>
                <a:latin typeface="Aptos"/>
              </a:rPr>
              <a:t>Access + PII</a:t>
            </a:r>
          </a:p>
        </p:txBody>
      </p:sp>
      <p:sp>
        <p:nvSpPr>
          <p:cNvPr id="23" name="Rounded Rectangle 22"/>
          <p:cNvSpPr/>
          <p:nvPr/>
        </p:nvSpPr>
        <p:spPr>
          <a:xfrm>
            <a:off x="630936" y="5394960"/>
            <a:ext cx="3483864" cy="475488"/>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513832"/>
            <a:ext cx="3246120"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007C83"/>
                </a:solidFill>
                <a:latin typeface="Aptos"/>
              </a:rPr>
              <a:t>DOMAIN DATA</a:t>
            </a:r>
          </a:p>
        </p:txBody>
      </p:sp>
      <p:sp>
        <p:nvSpPr>
          <p:cNvPr id="25" name="Rounded Rectangle 24"/>
          <p:cNvSpPr/>
          <p:nvPr/>
        </p:nvSpPr>
        <p:spPr>
          <a:xfrm>
            <a:off x="4352544" y="5394960"/>
            <a:ext cx="3483864" cy="475488"/>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1416" y="5513832"/>
            <a:ext cx="3246120"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007C83"/>
                </a:solidFill>
                <a:latin typeface="Aptos"/>
              </a:rPr>
              <a:t>PRIVATE MODELS</a:t>
            </a:r>
          </a:p>
        </p:txBody>
      </p:sp>
      <p:sp>
        <p:nvSpPr>
          <p:cNvPr id="27" name="Rounded Rectangle 26"/>
          <p:cNvSpPr/>
          <p:nvPr/>
        </p:nvSpPr>
        <p:spPr>
          <a:xfrm>
            <a:off x="8074152" y="5394960"/>
            <a:ext cx="3483864" cy="475488"/>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93024" y="5513832"/>
            <a:ext cx="3246120"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007C83"/>
                </a:solidFill>
                <a:latin typeface="Aptos"/>
              </a:rPr>
              <a:t>MANAGED MODELS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AGENT TEMPLATE STUDIO</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CREATE</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Choose. Configure. Save. Use.</a:t>
            </a:r>
          </a:p>
        </p:txBody>
      </p:sp>
      <p:sp>
        <p:nvSpPr>
          <p:cNvPr id="6" name="TextBox 5"/>
          <p:cNvSpPr txBox="1"/>
          <p:nvPr/>
        </p:nvSpPr>
        <p:spPr>
          <a:xfrm>
            <a:off x="640080" y="1993392"/>
            <a:ext cx="10881360" cy="466344"/>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Approved defaults make agent creation a short, repeatable flow.</a:t>
            </a:r>
          </a:p>
        </p:txBody>
      </p:sp>
      <p:sp>
        <p:nvSpPr>
          <p:cNvPr id="7" name="TextBox 6"/>
          <p:cNvSpPr txBox="1"/>
          <p:nvPr/>
        </p:nvSpPr>
        <p:spPr>
          <a:xfrm>
            <a:off x="640080" y="6053328"/>
            <a:ext cx="10927080" cy="274320"/>
          </a:xfrm>
          <a:prstGeom prst="rect">
            <a:avLst/>
          </a:prstGeom>
          <a:noFill/>
        </p:spPr>
        <p:txBody>
          <a:bodyPr wrap="square" lIns="13716" rIns="13716" tIns="22860" bIns="22860">
            <a:spAutoFit/>
          </a:bodyPr>
          <a:lstStyle/>
          <a:p>
            <a:pPr algn="l">
              <a:lnSpc>
                <a:spcPts val="1176"/>
              </a:lnSpc>
              <a:spcBef>
                <a:spcPts val="0"/>
              </a:spcBef>
              <a:spcAft>
                <a:spcPts val="0"/>
              </a:spcAft>
            </a:pPr>
            <a:r>
              <a:rPr sz="1050" b="0">
                <a:solidFill>
                  <a:srgbClr val="5C6F83"/>
                </a:solidFill>
                <a:latin typeface="Aptos"/>
              </a:rPr>
              <a:t>Platform administrators prepare the templates, connections and available models.</a:t>
            </a:r>
          </a:p>
        </p:txBody>
      </p:sp>
      <p:sp>
        <p:nvSpPr>
          <p:cNvPr id="8" name="Rectangle 7"/>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SHARED AGENT PLATFORM  /  03 OCT 2026</a:t>
            </a:r>
          </a:p>
        </p:txBody>
      </p:sp>
      <p:sp>
        <p:nvSpPr>
          <p:cNvPr id="10" name="TextBox 9"/>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03</a:t>
            </a:r>
          </a:p>
        </p:txBody>
      </p:sp>
      <p:sp>
        <p:nvSpPr>
          <p:cNvPr id="11" name="Rounded Rectangle 10"/>
          <p:cNvSpPr/>
          <p:nvPr/>
        </p:nvSpPr>
        <p:spPr>
          <a:xfrm>
            <a:off x="630936" y="2889504"/>
            <a:ext cx="2532888" cy="227685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1247" y="3118104"/>
            <a:ext cx="393192" cy="393192"/>
          </a:xfrm>
          <a:prstGeom prst="ellipse">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3172968"/>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1</a:t>
            </a:r>
          </a:p>
        </p:txBody>
      </p:sp>
      <p:sp>
        <p:nvSpPr>
          <p:cNvPr id="14" name="TextBox 13"/>
          <p:cNvSpPr txBox="1"/>
          <p:nvPr/>
        </p:nvSpPr>
        <p:spPr>
          <a:xfrm>
            <a:off x="841247" y="3794760"/>
            <a:ext cx="2112264" cy="667512"/>
          </a:xfrm>
          <a:prstGeom prst="rect">
            <a:avLst/>
          </a:prstGeom>
          <a:noFill/>
        </p:spPr>
        <p:txBody>
          <a:bodyPr wrap="square" lIns="13716" rIns="13716" tIns="22860" bIns="22860">
            <a:spAutoFit/>
          </a:bodyPr>
          <a:lstStyle/>
          <a:p>
            <a:pPr algn="l">
              <a:lnSpc>
                <a:spcPts val="2464"/>
              </a:lnSpc>
              <a:spcBef>
                <a:spcPts val="0"/>
              </a:spcBef>
              <a:spcAft>
                <a:spcPts val="0"/>
              </a:spcAft>
            </a:pPr>
            <a:r>
              <a:rPr sz="2200" b="1">
                <a:solidFill>
                  <a:srgbClr val="122743"/>
                </a:solidFill>
                <a:latin typeface="Aptos"/>
              </a:rPr>
              <a:t>Choose template</a:t>
            </a:r>
          </a:p>
        </p:txBody>
      </p:sp>
      <p:sp>
        <p:nvSpPr>
          <p:cNvPr id="15" name="TextBox 14"/>
          <p:cNvSpPr txBox="1"/>
          <p:nvPr/>
        </p:nvSpPr>
        <p:spPr>
          <a:xfrm>
            <a:off x="841247" y="4581144"/>
            <a:ext cx="2112264" cy="41148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Start with the job.</a:t>
            </a:r>
          </a:p>
        </p:txBody>
      </p:sp>
      <p:sp>
        <p:nvSpPr>
          <p:cNvPr id="16" name="Chevron 15"/>
          <p:cNvSpPr/>
          <p:nvPr/>
        </p:nvSpPr>
        <p:spPr>
          <a:xfrm>
            <a:off x="3227832" y="3959352"/>
            <a:ext cx="137160"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29000" y="2889504"/>
            <a:ext cx="2532888" cy="227685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39312" y="3118104"/>
            <a:ext cx="393192" cy="393192"/>
          </a:xfrm>
          <a:prstGeom prst="ellipse">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39312" y="3172968"/>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2</a:t>
            </a:r>
          </a:p>
        </p:txBody>
      </p:sp>
      <p:sp>
        <p:nvSpPr>
          <p:cNvPr id="20" name="TextBox 19"/>
          <p:cNvSpPr txBox="1"/>
          <p:nvPr/>
        </p:nvSpPr>
        <p:spPr>
          <a:xfrm>
            <a:off x="3639312" y="3794760"/>
            <a:ext cx="2112264" cy="667512"/>
          </a:xfrm>
          <a:prstGeom prst="rect">
            <a:avLst/>
          </a:prstGeom>
          <a:noFill/>
        </p:spPr>
        <p:txBody>
          <a:bodyPr wrap="square" lIns="13716" rIns="13716" tIns="22860" bIns="22860">
            <a:spAutoFit/>
          </a:bodyPr>
          <a:lstStyle/>
          <a:p>
            <a:pPr algn="l">
              <a:lnSpc>
                <a:spcPts val="2464"/>
              </a:lnSpc>
              <a:spcBef>
                <a:spcPts val="0"/>
              </a:spcBef>
              <a:spcAft>
                <a:spcPts val="0"/>
              </a:spcAft>
            </a:pPr>
            <a:r>
              <a:rPr sz="2200" b="1">
                <a:solidFill>
                  <a:srgbClr val="122743"/>
                </a:solidFill>
                <a:latin typeface="Aptos"/>
              </a:rPr>
              <a:t>Configure</a:t>
            </a:r>
          </a:p>
        </p:txBody>
      </p:sp>
      <p:sp>
        <p:nvSpPr>
          <p:cNvPr id="21" name="TextBox 20"/>
          <p:cNvSpPr txBox="1"/>
          <p:nvPr/>
        </p:nvSpPr>
        <p:spPr>
          <a:xfrm>
            <a:off x="3639312" y="4581144"/>
            <a:ext cx="2112264" cy="41148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Model, app and access.</a:t>
            </a:r>
          </a:p>
        </p:txBody>
      </p:sp>
      <p:sp>
        <p:nvSpPr>
          <p:cNvPr id="22" name="Chevron 21"/>
          <p:cNvSpPr/>
          <p:nvPr/>
        </p:nvSpPr>
        <p:spPr>
          <a:xfrm>
            <a:off x="6025896" y="3959352"/>
            <a:ext cx="137160"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27064" y="2889504"/>
            <a:ext cx="2532888" cy="227685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37376" y="3118104"/>
            <a:ext cx="393192" cy="393192"/>
          </a:xfrm>
          <a:prstGeom prst="ellipse">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7376" y="3172968"/>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3</a:t>
            </a:r>
          </a:p>
        </p:txBody>
      </p:sp>
      <p:sp>
        <p:nvSpPr>
          <p:cNvPr id="26" name="TextBox 25"/>
          <p:cNvSpPr txBox="1"/>
          <p:nvPr/>
        </p:nvSpPr>
        <p:spPr>
          <a:xfrm>
            <a:off x="6437376" y="3794760"/>
            <a:ext cx="2112264" cy="667512"/>
          </a:xfrm>
          <a:prstGeom prst="rect">
            <a:avLst/>
          </a:prstGeom>
          <a:noFill/>
        </p:spPr>
        <p:txBody>
          <a:bodyPr wrap="square" lIns="13716" rIns="13716" tIns="22860" bIns="22860">
            <a:spAutoFit/>
          </a:bodyPr>
          <a:lstStyle/>
          <a:p>
            <a:pPr algn="l">
              <a:lnSpc>
                <a:spcPts val="2464"/>
              </a:lnSpc>
              <a:spcBef>
                <a:spcPts val="0"/>
              </a:spcBef>
              <a:spcAft>
                <a:spcPts val="0"/>
              </a:spcAft>
            </a:pPr>
            <a:r>
              <a:rPr sz="2200" b="1">
                <a:solidFill>
                  <a:srgbClr val="122743"/>
                </a:solidFill>
                <a:latin typeface="Aptos"/>
              </a:rPr>
              <a:t>Save agent</a:t>
            </a:r>
          </a:p>
        </p:txBody>
      </p:sp>
      <p:sp>
        <p:nvSpPr>
          <p:cNvPr id="27" name="TextBox 26"/>
          <p:cNvSpPr txBox="1"/>
          <p:nvPr/>
        </p:nvSpPr>
        <p:spPr>
          <a:xfrm>
            <a:off x="6437376" y="4581144"/>
            <a:ext cx="2112264" cy="41148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Validate and register.</a:t>
            </a:r>
          </a:p>
        </p:txBody>
      </p:sp>
      <p:sp>
        <p:nvSpPr>
          <p:cNvPr id="28" name="Chevron 27"/>
          <p:cNvSpPr/>
          <p:nvPr/>
        </p:nvSpPr>
        <p:spPr>
          <a:xfrm>
            <a:off x="8823960" y="3959352"/>
            <a:ext cx="137160"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25128" y="2889504"/>
            <a:ext cx="2532888" cy="227685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235440" y="3118104"/>
            <a:ext cx="393192" cy="393192"/>
          </a:xfrm>
          <a:prstGeom prst="ellipse">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35440" y="3172968"/>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4</a:t>
            </a:r>
          </a:p>
        </p:txBody>
      </p:sp>
      <p:sp>
        <p:nvSpPr>
          <p:cNvPr id="32" name="TextBox 31"/>
          <p:cNvSpPr txBox="1"/>
          <p:nvPr/>
        </p:nvSpPr>
        <p:spPr>
          <a:xfrm>
            <a:off x="9235440" y="3794760"/>
            <a:ext cx="2112264" cy="667512"/>
          </a:xfrm>
          <a:prstGeom prst="rect">
            <a:avLst/>
          </a:prstGeom>
          <a:noFill/>
        </p:spPr>
        <p:txBody>
          <a:bodyPr wrap="square" lIns="13716" rIns="13716" tIns="22860" bIns="22860">
            <a:spAutoFit/>
          </a:bodyPr>
          <a:lstStyle/>
          <a:p>
            <a:pPr algn="l">
              <a:lnSpc>
                <a:spcPts val="2464"/>
              </a:lnSpc>
              <a:spcBef>
                <a:spcPts val="0"/>
              </a:spcBef>
              <a:spcAft>
                <a:spcPts val="0"/>
              </a:spcAft>
            </a:pPr>
            <a:r>
              <a:rPr sz="2200" b="1">
                <a:solidFill>
                  <a:srgbClr val="122743"/>
                </a:solidFill>
                <a:latin typeface="Aptos"/>
              </a:rPr>
              <a:t>Use + monitor</a:t>
            </a:r>
          </a:p>
        </p:txBody>
      </p:sp>
      <p:sp>
        <p:nvSpPr>
          <p:cNvPr id="33" name="TextBox 32"/>
          <p:cNvSpPr txBox="1"/>
          <p:nvPr/>
        </p:nvSpPr>
        <p:spPr>
          <a:xfrm>
            <a:off x="9235440" y="4581144"/>
            <a:ext cx="2112264" cy="41148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Use in the app.</a:t>
            </a:r>
          </a:p>
        </p:txBody>
      </p:sp>
      <p:sp>
        <p:nvSpPr>
          <p:cNvPr id="34" name="Rounded Rectangle 33"/>
          <p:cNvSpPr/>
          <p:nvPr/>
        </p:nvSpPr>
        <p:spPr>
          <a:xfrm>
            <a:off x="630936" y="5477256"/>
            <a:ext cx="10927080" cy="438912"/>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 y="5568696"/>
            <a:ext cx="10533888" cy="256032"/>
          </a:xfrm>
          <a:prstGeom prst="rect">
            <a:avLst/>
          </a:prstGeom>
          <a:noFill/>
        </p:spPr>
        <p:txBody>
          <a:bodyPr wrap="square" lIns="13716" rIns="13716" tIns="22860" bIns="22860">
            <a:spAutoFit/>
          </a:bodyPr>
          <a:lstStyle/>
          <a:p>
            <a:pPr algn="ctr">
              <a:lnSpc>
                <a:spcPts val="1680"/>
              </a:lnSpc>
              <a:spcBef>
                <a:spcPts val="0"/>
              </a:spcBef>
              <a:spcAft>
                <a:spcPts val="0"/>
              </a:spcAft>
            </a:pPr>
            <a:r>
              <a:rPr sz="1500" b="1">
                <a:solidFill>
                  <a:srgbClr val="007C83"/>
                </a:solidFill>
                <a:latin typeface="Aptos"/>
              </a:rPr>
              <a:t>Reuse the setup for the next agent.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AGENT TEMPLATE STUDIO</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CONTROL</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Three controls. One clear security story.</a:t>
            </a:r>
          </a:p>
        </p:txBody>
      </p:sp>
      <p:sp>
        <p:nvSpPr>
          <p:cNvPr id="6" name="Rectangle 5"/>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SHARED AGENT PLATFORM  /  03 OCT 2026</a:t>
            </a:r>
          </a:p>
        </p:txBody>
      </p:sp>
      <p:sp>
        <p:nvSpPr>
          <p:cNvPr id="8" name="TextBox 7"/>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04</a:t>
            </a:r>
          </a:p>
        </p:txBody>
      </p:sp>
      <p:sp>
        <p:nvSpPr>
          <p:cNvPr id="9" name="Rounded Rectangle 8"/>
          <p:cNvSpPr/>
          <p:nvPr/>
        </p:nvSpPr>
        <p:spPr>
          <a:xfrm>
            <a:off x="630936" y="2724912"/>
            <a:ext cx="3483864" cy="257860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2944368"/>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DATA ACCESS</a:t>
            </a:r>
          </a:p>
        </p:txBody>
      </p:sp>
      <p:sp>
        <p:nvSpPr>
          <p:cNvPr id="11" name="TextBox 10"/>
          <p:cNvSpPr txBox="1"/>
          <p:nvPr/>
        </p:nvSpPr>
        <p:spPr>
          <a:xfrm>
            <a:off x="850392" y="3557016"/>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What can</a:t>
            </a:r>
          </a:p>
          <a:p>
            <a:pPr algn="l">
              <a:lnSpc>
                <a:spcPts val="2800"/>
              </a:lnSpc>
              <a:spcBef>
                <a:spcPts val="0"/>
              </a:spcBef>
              <a:spcAft>
                <a:spcPts val="0"/>
              </a:spcAft>
            </a:pPr>
            <a:r>
              <a:rPr sz="2500" b="1">
                <a:solidFill>
                  <a:srgbClr val="122743"/>
                </a:solidFill>
                <a:latin typeface="Aptos"/>
              </a:rPr>
              <a:t>the agent read?</a:t>
            </a:r>
          </a:p>
        </p:txBody>
      </p:sp>
      <p:sp>
        <p:nvSpPr>
          <p:cNvPr id="12" name="TextBox 11"/>
          <p:cNvSpPr txBox="1"/>
          <p:nvPr/>
        </p:nvSpPr>
        <p:spPr>
          <a:xfrm>
            <a:off x="850392" y="4535424"/>
            <a:ext cx="3044952" cy="630936"/>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Grant APIs, roles and context.</a:t>
            </a:r>
          </a:p>
        </p:txBody>
      </p:sp>
      <p:sp>
        <p:nvSpPr>
          <p:cNvPr id="13" name="Rounded Rectangle 12"/>
          <p:cNvSpPr/>
          <p:nvPr/>
        </p:nvSpPr>
        <p:spPr>
          <a:xfrm>
            <a:off x="4352544" y="2724912"/>
            <a:ext cx="3483864" cy="2578608"/>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944368"/>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65D5CF"/>
                </a:solidFill>
                <a:latin typeface="Aptos"/>
              </a:rPr>
              <a:t>PII CONTROL</a:t>
            </a:r>
          </a:p>
        </p:txBody>
      </p:sp>
      <p:sp>
        <p:nvSpPr>
          <p:cNvPr id="15" name="TextBox 14"/>
          <p:cNvSpPr txBox="1"/>
          <p:nvPr/>
        </p:nvSpPr>
        <p:spPr>
          <a:xfrm>
            <a:off x="4572000" y="3557016"/>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FFFFFF"/>
                </a:solidFill>
                <a:latin typeface="Aptos"/>
              </a:rPr>
              <a:t>What reaches</a:t>
            </a:r>
          </a:p>
          <a:p>
            <a:pPr algn="l">
              <a:lnSpc>
                <a:spcPts val="2800"/>
              </a:lnSpc>
              <a:spcBef>
                <a:spcPts val="0"/>
              </a:spcBef>
              <a:spcAft>
                <a:spcPts val="0"/>
              </a:spcAft>
            </a:pPr>
            <a:r>
              <a:rPr sz="2500" b="1">
                <a:solidFill>
                  <a:srgbClr val="FFFFFF"/>
                </a:solidFill>
                <a:latin typeface="Aptos"/>
              </a:rPr>
              <a:t>the model?</a:t>
            </a:r>
          </a:p>
        </p:txBody>
      </p:sp>
      <p:sp>
        <p:nvSpPr>
          <p:cNvPr id="16" name="TextBox 15"/>
          <p:cNvSpPr txBox="1"/>
          <p:nvPr/>
        </p:nvSpPr>
        <p:spPr>
          <a:xfrm>
            <a:off x="4572000" y="4535424"/>
            <a:ext cx="3044952" cy="630936"/>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D8E6F3"/>
                </a:solidFill>
                <a:latin typeface="Aptos"/>
              </a:rPr>
              <a:t>Mask employee names.</a:t>
            </a:r>
          </a:p>
        </p:txBody>
      </p:sp>
      <p:sp>
        <p:nvSpPr>
          <p:cNvPr id="17" name="Rounded Rectangle 16"/>
          <p:cNvSpPr/>
          <p:nvPr/>
        </p:nvSpPr>
        <p:spPr>
          <a:xfrm>
            <a:off x="8074152" y="2724912"/>
            <a:ext cx="3483864" cy="257860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944368"/>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7650A6"/>
                </a:solidFill>
                <a:latin typeface="Aptos"/>
              </a:rPr>
              <a:t>MODEL LOCATION</a:t>
            </a:r>
          </a:p>
        </p:txBody>
      </p:sp>
      <p:sp>
        <p:nvSpPr>
          <p:cNvPr id="19" name="TextBox 18"/>
          <p:cNvSpPr txBox="1"/>
          <p:nvPr/>
        </p:nvSpPr>
        <p:spPr>
          <a:xfrm>
            <a:off x="8293608" y="3557016"/>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Where does</a:t>
            </a:r>
          </a:p>
          <a:p>
            <a:pPr algn="l">
              <a:lnSpc>
                <a:spcPts val="2800"/>
              </a:lnSpc>
              <a:spcBef>
                <a:spcPts val="0"/>
              </a:spcBef>
              <a:spcAft>
                <a:spcPts val="0"/>
              </a:spcAft>
            </a:pPr>
            <a:r>
              <a:rPr sz="2500" b="1">
                <a:solidFill>
                  <a:srgbClr val="122743"/>
                </a:solidFill>
                <a:latin typeface="Aptos"/>
              </a:rPr>
              <a:t>inference run?</a:t>
            </a:r>
          </a:p>
        </p:txBody>
      </p:sp>
      <p:sp>
        <p:nvSpPr>
          <p:cNvPr id="20" name="TextBox 19"/>
          <p:cNvSpPr txBox="1"/>
          <p:nvPr/>
        </p:nvSpPr>
        <p:spPr>
          <a:xfrm>
            <a:off x="8293608" y="4535424"/>
            <a:ext cx="3044952" cy="630936"/>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Private or approved provider.</a:t>
            </a:r>
          </a:p>
        </p:txBody>
      </p:sp>
      <p:sp>
        <p:nvSpPr>
          <p:cNvPr id="21" name="Rounded Rectangle 20"/>
          <p:cNvSpPr/>
          <p:nvPr/>
        </p:nvSpPr>
        <p:spPr>
          <a:xfrm>
            <a:off x="630936" y="5477256"/>
            <a:ext cx="10927080" cy="438912"/>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 y="5568696"/>
            <a:ext cx="10533888" cy="256032"/>
          </a:xfrm>
          <a:prstGeom prst="rect">
            <a:avLst/>
          </a:prstGeom>
          <a:noFill/>
        </p:spPr>
        <p:txBody>
          <a:bodyPr wrap="square" lIns="13716" rIns="13716" tIns="22860" bIns="22860">
            <a:spAutoFit/>
          </a:bodyPr>
          <a:lstStyle/>
          <a:p>
            <a:pPr algn="ctr">
              <a:lnSpc>
                <a:spcPts val="1680"/>
              </a:lnSpc>
              <a:spcBef>
                <a:spcPts val="0"/>
              </a:spcBef>
              <a:spcAft>
                <a:spcPts val="0"/>
              </a:spcAft>
            </a:pPr>
            <a:r>
              <a:rPr sz="1500" b="1">
                <a:solidFill>
                  <a:srgbClr val="007C83"/>
                </a:solidFill>
                <a:latin typeface="Aptos"/>
              </a:rPr>
              <a:t>Access permissions + PII handling + model placement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AGENT TEMPLATE STUDIO</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PII CONTROL</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Reduce PII before model inference.</a:t>
            </a:r>
          </a:p>
        </p:txBody>
      </p:sp>
      <p:sp>
        <p:nvSpPr>
          <p:cNvPr id="6" name="TextBox 5"/>
          <p:cNvSpPr txBox="1"/>
          <p:nvPr/>
        </p:nvSpPr>
        <p:spPr>
          <a:xfrm>
            <a:off x="640080" y="1993392"/>
            <a:ext cx="10881360" cy="466344"/>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Read authorized data. Replace employee names with IDs. Then call the model.</a:t>
            </a:r>
          </a:p>
        </p:txBody>
      </p:sp>
      <p:sp>
        <p:nvSpPr>
          <p:cNvPr id="7" name="TextBox 6"/>
          <p:cNvSpPr txBox="1"/>
          <p:nvPr/>
        </p:nvSpPr>
        <p:spPr>
          <a:xfrm>
            <a:off x="640080" y="6053328"/>
            <a:ext cx="10927080" cy="274320"/>
          </a:xfrm>
          <a:prstGeom prst="rect">
            <a:avLst/>
          </a:prstGeom>
          <a:noFill/>
        </p:spPr>
        <p:txBody>
          <a:bodyPr wrap="square" lIns="13716" rIns="13716" tIns="22860" bIns="22860">
            <a:spAutoFit/>
          </a:bodyPr>
          <a:lstStyle/>
          <a:p>
            <a:pPr algn="l">
              <a:lnSpc>
                <a:spcPts val="1176"/>
              </a:lnSpc>
              <a:spcBef>
                <a:spcPts val="0"/>
              </a:spcBef>
              <a:spcAft>
                <a:spcPts val="0"/>
              </a:spcAft>
            </a:pPr>
            <a:r>
              <a:rPr sz="1050" b="0">
                <a:solidFill>
                  <a:srgbClr val="5C6F83"/>
                </a:solidFill>
                <a:latin typeface="Aptos"/>
              </a:rPr>
              <a:t>Current masking replaces employee names; payroll amounts remain. This is not full anonymization.</a:t>
            </a:r>
          </a:p>
        </p:txBody>
      </p:sp>
      <p:sp>
        <p:nvSpPr>
          <p:cNvPr id="8" name="Rectangle 7"/>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SHARED AGENT PLATFORM  /  03 OCT 2026</a:t>
            </a:r>
          </a:p>
        </p:txBody>
      </p:sp>
      <p:sp>
        <p:nvSpPr>
          <p:cNvPr id="10" name="TextBox 9"/>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05</a:t>
            </a:r>
          </a:p>
        </p:txBody>
      </p:sp>
      <p:sp>
        <p:nvSpPr>
          <p:cNvPr id="11" name="Rounded Rectangle 10"/>
          <p:cNvSpPr/>
          <p:nvPr/>
        </p:nvSpPr>
        <p:spPr>
          <a:xfrm>
            <a:off x="630936" y="2807208"/>
            <a:ext cx="3483864" cy="261518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3026663"/>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PERMISSIONED READ</a:t>
            </a:r>
          </a:p>
        </p:txBody>
      </p:sp>
      <p:sp>
        <p:nvSpPr>
          <p:cNvPr id="13" name="TextBox 12"/>
          <p:cNvSpPr txBox="1"/>
          <p:nvPr/>
        </p:nvSpPr>
        <p:spPr>
          <a:xfrm>
            <a:off x="850392" y="3639312"/>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Employee: Alex</a:t>
            </a:r>
          </a:p>
          <a:p>
            <a:pPr algn="l">
              <a:lnSpc>
                <a:spcPts val="2800"/>
              </a:lnSpc>
              <a:spcBef>
                <a:spcPts val="0"/>
              </a:spcBef>
              <a:spcAft>
                <a:spcPts val="0"/>
              </a:spcAft>
            </a:pPr>
            <a:r>
              <a:rPr sz="2500" b="1">
                <a:solidFill>
                  <a:srgbClr val="122743"/>
                </a:solidFill>
                <a:latin typeface="Aptos"/>
              </a:rPr>
              <a:t>Pay: $5,000</a:t>
            </a:r>
          </a:p>
        </p:txBody>
      </p:sp>
      <p:sp>
        <p:nvSpPr>
          <p:cNvPr id="14" name="TextBox 13"/>
          <p:cNvSpPr txBox="1"/>
          <p:nvPr/>
        </p:nvSpPr>
        <p:spPr>
          <a:xfrm>
            <a:off x="850392" y="4617720"/>
            <a:ext cx="3044952" cy="66751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Approved source data</a:t>
            </a:r>
          </a:p>
        </p:txBody>
      </p:sp>
      <p:sp>
        <p:nvSpPr>
          <p:cNvPr id="15" name="Chevron 14"/>
          <p:cNvSpPr/>
          <p:nvPr/>
        </p:nvSpPr>
        <p:spPr>
          <a:xfrm>
            <a:off x="4187952" y="3995928"/>
            <a:ext cx="155448"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52544" y="2807208"/>
            <a:ext cx="3483864" cy="2615184"/>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3026663"/>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65D5CF"/>
                </a:solidFill>
                <a:latin typeface="Aptos"/>
              </a:rPr>
              <a:t>NAME MASKING</a:t>
            </a:r>
          </a:p>
        </p:txBody>
      </p:sp>
      <p:sp>
        <p:nvSpPr>
          <p:cNvPr id="18" name="TextBox 17"/>
          <p:cNvSpPr txBox="1"/>
          <p:nvPr/>
        </p:nvSpPr>
        <p:spPr>
          <a:xfrm>
            <a:off x="4572000" y="3639312"/>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FFFFFF"/>
                </a:solidFill>
                <a:latin typeface="Aptos"/>
              </a:rPr>
              <a:t>Alex → E1001</a:t>
            </a:r>
          </a:p>
        </p:txBody>
      </p:sp>
      <p:sp>
        <p:nvSpPr>
          <p:cNvPr id="19" name="TextBox 18"/>
          <p:cNvSpPr txBox="1"/>
          <p:nvPr/>
        </p:nvSpPr>
        <p:spPr>
          <a:xfrm>
            <a:off x="4572000" y="4617720"/>
            <a:ext cx="3044952" cy="66751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D8E6F3"/>
                </a:solidFill>
                <a:latin typeface="Aptos"/>
              </a:rPr>
              <a:t>Remove the name</a:t>
            </a:r>
          </a:p>
          <a:p>
            <a:pPr algn="l">
              <a:lnSpc>
                <a:spcPts val="2016"/>
              </a:lnSpc>
              <a:spcBef>
                <a:spcPts val="0"/>
              </a:spcBef>
              <a:spcAft>
                <a:spcPts val="0"/>
              </a:spcAft>
            </a:pPr>
            <a:r>
              <a:rPr sz="1800" b="0">
                <a:solidFill>
                  <a:srgbClr val="D8E6F3"/>
                </a:solidFill>
                <a:latin typeface="Aptos"/>
              </a:rPr>
              <a:t>from the prompt.</a:t>
            </a:r>
          </a:p>
        </p:txBody>
      </p:sp>
      <p:sp>
        <p:nvSpPr>
          <p:cNvPr id="20" name="Chevron 19"/>
          <p:cNvSpPr/>
          <p:nvPr/>
        </p:nvSpPr>
        <p:spPr>
          <a:xfrm>
            <a:off x="7909560" y="3995928"/>
            <a:ext cx="155448"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74152" y="2807208"/>
            <a:ext cx="3483864" cy="261518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3608" y="3026663"/>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MODEL INPUT</a:t>
            </a:r>
          </a:p>
        </p:txBody>
      </p:sp>
      <p:sp>
        <p:nvSpPr>
          <p:cNvPr id="23" name="TextBox 22"/>
          <p:cNvSpPr txBox="1"/>
          <p:nvPr/>
        </p:nvSpPr>
        <p:spPr>
          <a:xfrm>
            <a:off x="8293608" y="3639312"/>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Employee: E1001</a:t>
            </a:r>
          </a:p>
          <a:p>
            <a:pPr algn="l">
              <a:lnSpc>
                <a:spcPts val="2800"/>
              </a:lnSpc>
              <a:spcBef>
                <a:spcPts val="0"/>
              </a:spcBef>
              <a:spcAft>
                <a:spcPts val="0"/>
              </a:spcAft>
            </a:pPr>
            <a:r>
              <a:rPr sz="2500" b="1">
                <a:solidFill>
                  <a:srgbClr val="122743"/>
                </a:solidFill>
                <a:latin typeface="Aptos"/>
              </a:rPr>
              <a:t>Pay: $5,000</a:t>
            </a:r>
          </a:p>
        </p:txBody>
      </p:sp>
      <p:sp>
        <p:nvSpPr>
          <p:cNvPr id="24" name="TextBox 23"/>
          <p:cNvSpPr txBox="1"/>
          <p:nvPr/>
        </p:nvSpPr>
        <p:spPr>
          <a:xfrm>
            <a:off x="8293608" y="4617720"/>
            <a:ext cx="3044952" cy="66751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Same task, less PII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AGENT TEMPLATE STUDIO</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MODEL CHOICE</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Private inference for sensitive workloads.</a:t>
            </a:r>
          </a:p>
        </p:txBody>
      </p:sp>
      <p:sp>
        <p:nvSpPr>
          <p:cNvPr id="6" name="TextBox 5"/>
          <p:cNvSpPr txBox="1"/>
          <p:nvPr/>
        </p:nvSpPr>
        <p:spPr>
          <a:xfrm>
            <a:off x="640080" y="1993392"/>
            <a:ext cx="10881360" cy="466344"/>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Select the model location to match the data and privacy requirements.</a:t>
            </a:r>
          </a:p>
        </p:txBody>
      </p:sp>
      <p:sp>
        <p:nvSpPr>
          <p:cNvPr id="7" name="TextBox 6"/>
          <p:cNvSpPr txBox="1"/>
          <p:nvPr/>
        </p:nvSpPr>
        <p:spPr>
          <a:xfrm>
            <a:off x="640080" y="6053328"/>
            <a:ext cx="10927080" cy="274320"/>
          </a:xfrm>
          <a:prstGeom prst="rect">
            <a:avLst/>
          </a:prstGeom>
          <a:noFill/>
        </p:spPr>
        <p:txBody>
          <a:bodyPr wrap="square" lIns="13716" rIns="13716" tIns="22860" bIns="22860">
            <a:spAutoFit/>
          </a:bodyPr>
          <a:lstStyle/>
          <a:p>
            <a:pPr algn="l">
              <a:lnSpc>
                <a:spcPts val="1176"/>
              </a:lnSpc>
              <a:spcBef>
                <a:spcPts val="0"/>
              </a:spcBef>
              <a:spcAft>
                <a:spcPts val="0"/>
              </a:spcAft>
            </a:pPr>
            <a:r>
              <a:rPr sz="1050" b="0">
                <a:solidFill>
                  <a:srgbClr val="5C6F83"/>
                </a:solidFill>
                <a:latin typeface="Aptos"/>
              </a:rPr>
              <a:t>Private-only operation requires every model and fallback path to be private. Local Ray / vLLM inference still needs validation.</a:t>
            </a:r>
          </a:p>
        </p:txBody>
      </p:sp>
      <p:sp>
        <p:nvSpPr>
          <p:cNvPr id="8" name="Rectangle 7"/>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SHARED AGENT PLATFORM  /  03 OCT 2026</a:t>
            </a:r>
          </a:p>
        </p:txBody>
      </p:sp>
      <p:sp>
        <p:nvSpPr>
          <p:cNvPr id="10" name="TextBox 9"/>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06</a:t>
            </a:r>
          </a:p>
        </p:txBody>
      </p:sp>
      <p:sp>
        <p:nvSpPr>
          <p:cNvPr id="11" name="Rounded Rectangle 10"/>
          <p:cNvSpPr/>
          <p:nvPr/>
        </p:nvSpPr>
        <p:spPr>
          <a:xfrm>
            <a:off x="630936" y="2761488"/>
            <a:ext cx="5349240" cy="2569464"/>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980944"/>
            <a:ext cx="4910327"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65D5CF"/>
                </a:solidFill>
                <a:latin typeface="Aptos"/>
              </a:rPr>
              <a:t>HIGH PRIVACY REQUIREMENTS</a:t>
            </a:r>
          </a:p>
        </p:txBody>
      </p:sp>
      <p:sp>
        <p:nvSpPr>
          <p:cNvPr id="13" name="TextBox 12"/>
          <p:cNvSpPr txBox="1"/>
          <p:nvPr/>
        </p:nvSpPr>
        <p:spPr>
          <a:xfrm>
            <a:off x="850392" y="3593592"/>
            <a:ext cx="4910327"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FFFFFF"/>
                </a:solidFill>
                <a:latin typeface="Aptos"/>
              </a:rPr>
              <a:t>Private model</a:t>
            </a:r>
          </a:p>
        </p:txBody>
      </p:sp>
      <p:sp>
        <p:nvSpPr>
          <p:cNvPr id="14" name="TextBox 13"/>
          <p:cNvSpPr txBox="1"/>
          <p:nvPr/>
        </p:nvSpPr>
        <p:spPr>
          <a:xfrm>
            <a:off x="850392" y="4572000"/>
            <a:ext cx="4910327" cy="62179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D8E6F3"/>
                </a:solidFill>
                <a:latin typeface="Aptos"/>
              </a:rPr>
              <a:t>Your environment.</a:t>
            </a:r>
          </a:p>
          <a:p>
            <a:pPr algn="l">
              <a:lnSpc>
                <a:spcPts val="2016"/>
              </a:lnSpc>
              <a:spcBef>
                <a:spcPts val="0"/>
              </a:spcBef>
              <a:spcAft>
                <a:spcPts val="0"/>
              </a:spcAft>
            </a:pPr>
            <a:r>
              <a:rPr sz="1800" b="0">
                <a:solidFill>
                  <a:srgbClr val="D8E6F3"/>
                </a:solidFill>
                <a:latin typeface="Aptos"/>
              </a:rPr>
              <a:t>Your inference infrastructure.</a:t>
            </a:r>
          </a:p>
        </p:txBody>
      </p:sp>
      <p:sp>
        <p:nvSpPr>
          <p:cNvPr id="15" name="Rounded Rectangle 14"/>
          <p:cNvSpPr/>
          <p:nvPr/>
        </p:nvSpPr>
        <p:spPr>
          <a:xfrm>
            <a:off x="6208776" y="2761488"/>
            <a:ext cx="5349240" cy="256946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2980944"/>
            <a:ext cx="4910327"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APPROVED EXTERNAL PROCESSING</a:t>
            </a:r>
          </a:p>
        </p:txBody>
      </p:sp>
      <p:sp>
        <p:nvSpPr>
          <p:cNvPr id="17" name="TextBox 16"/>
          <p:cNvSpPr txBox="1"/>
          <p:nvPr/>
        </p:nvSpPr>
        <p:spPr>
          <a:xfrm>
            <a:off x="6428232" y="3593592"/>
            <a:ext cx="4910327"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Managed model</a:t>
            </a:r>
          </a:p>
        </p:txBody>
      </p:sp>
      <p:sp>
        <p:nvSpPr>
          <p:cNvPr id="18" name="TextBox 17"/>
          <p:cNvSpPr txBox="1"/>
          <p:nvPr/>
        </p:nvSpPr>
        <p:spPr>
          <a:xfrm>
            <a:off x="6428232" y="4572000"/>
            <a:ext cx="4910327" cy="62179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Approved provider.</a:t>
            </a:r>
          </a:p>
          <a:p>
            <a:pPr algn="l">
              <a:lnSpc>
                <a:spcPts val="2016"/>
              </a:lnSpc>
              <a:spcBef>
                <a:spcPts val="0"/>
              </a:spcBef>
              <a:spcAft>
                <a:spcPts val="0"/>
              </a:spcAft>
            </a:pPr>
            <a:r>
              <a:rPr sz="1800" b="0">
                <a:solidFill>
                  <a:srgbClr val="5C6F83"/>
                </a:solidFill>
                <a:latin typeface="Aptos"/>
              </a:rPr>
              <a:t>Use when policy permits.</a:t>
            </a:r>
          </a:p>
        </p:txBody>
      </p:sp>
      <p:sp>
        <p:nvSpPr>
          <p:cNvPr id="19" name="Rounded Rectangle 18"/>
          <p:cNvSpPr/>
          <p:nvPr/>
        </p:nvSpPr>
        <p:spPr>
          <a:xfrm>
            <a:off x="630936" y="5477256"/>
            <a:ext cx="10927080" cy="438912"/>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5568696"/>
            <a:ext cx="10533888" cy="256032"/>
          </a:xfrm>
          <a:prstGeom prst="rect">
            <a:avLst/>
          </a:prstGeom>
          <a:noFill/>
        </p:spPr>
        <p:txBody>
          <a:bodyPr wrap="square" lIns="13716" rIns="13716" tIns="22860" bIns="22860">
            <a:spAutoFit/>
          </a:bodyPr>
          <a:lstStyle/>
          <a:p>
            <a:pPr algn="ctr">
              <a:lnSpc>
                <a:spcPts val="1680"/>
              </a:lnSpc>
              <a:spcBef>
                <a:spcPts val="0"/>
              </a:spcBef>
              <a:spcAft>
                <a:spcPts val="0"/>
              </a:spcAft>
            </a:pPr>
            <a:r>
              <a:rPr sz="1500" b="1">
                <a:solidFill>
                  <a:srgbClr val="007C83"/>
                </a:solidFill>
                <a:latin typeface="Aptos"/>
              </a:rPr>
              <a:t>Both paths use the same agent setup and data-access controls.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AGENT TEMPLATE STUDIO</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REUSE</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One platform. Different domain needs.</a:t>
            </a:r>
          </a:p>
        </p:txBody>
      </p:sp>
      <p:sp>
        <p:nvSpPr>
          <p:cNvPr id="6" name="TextBox 5"/>
          <p:cNvSpPr txBox="1"/>
          <p:nvPr/>
        </p:nvSpPr>
        <p:spPr>
          <a:xfrm>
            <a:off x="640080" y="1993392"/>
            <a:ext cx="10881360" cy="466344"/>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Domains bring their data and purpose. The platform supplies the common controls.</a:t>
            </a:r>
          </a:p>
        </p:txBody>
      </p:sp>
      <p:sp>
        <p:nvSpPr>
          <p:cNvPr id="7" name="TextBox 6"/>
          <p:cNvSpPr txBox="1"/>
          <p:nvPr/>
        </p:nvSpPr>
        <p:spPr>
          <a:xfrm>
            <a:off x="640080" y="6053328"/>
            <a:ext cx="10927080" cy="274320"/>
          </a:xfrm>
          <a:prstGeom prst="rect">
            <a:avLst/>
          </a:prstGeom>
          <a:noFill/>
        </p:spPr>
        <p:txBody>
          <a:bodyPr wrap="square" lIns="13716" rIns="13716" tIns="22860" bIns="22860">
            <a:spAutoFit/>
          </a:bodyPr>
          <a:lstStyle/>
          <a:p>
            <a:pPr algn="l">
              <a:lnSpc>
                <a:spcPts val="1176"/>
              </a:lnSpc>
              <a:spcBef>
                <a:spcPts val="0"/>
              </a:spcBef>
              <a:spcAft>
                <a:spcPts val="0"/>
              </a:spcAft>
            </a:pPr>
            <a:r>
              <a:rPr sz="1050" b="0">
                <a:solidFill>
                  <a:srgbClr val="5C6F83"/>
                </a:solidFill>
                <a:latin typeface="Aptos"/>
              </a:rPr>
              <a:t>Payroll is the reference workflow. Additional domains require their own integrations and policy setup.</a:t>
            </a:r>
          </a:p>
        </p:txBody>
      </p:sp>
      <p:sp>
        <p:nvSpPr>
          <p:cNvPr id="8" name="Rectangle 7"/>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SHARED AGENT PLATFORM  /  03 OCT 2026</a:t>
            </a:r>
          </a:p>
        </p:txBody>
      </p:sp>
      <p:sp>
        <p:nvSpPr>
          <p:cNvPr id="10" name="TextBox 9"/>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07</a:t>
            </a:r>
          </a:p>
        </p:txBody>
      </p:sp>
      <p:sp>
        <p:nvSpPr>
          <p:cNvPr id="11" name="Rounded Rectangle 10"/>
          <p:cNvSpPr/>
          <p:nvPr/>
        </p:nvSpPr>
        <p:spPr>
          <a:xfrm>
            <a:off x="630936" y="2752344"/>
            <a:ext cx="3483864" cy="256946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971800"/>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PAYROLL</a:t>
            </a:r>
          </a:p>
        </p:txBody>
      </p:sp>
      <p:sp>
        <p:nvSpPr>
          <p:cNvPr id="13" name="TextBox 12"/>
          <p:cNvSpPr txBox="1"/>
          <p:nvPr/>
        </p:nvSpPr>
        <p:spPr>
          <a:xfrm>
            <a:off x="850392" y="3584448"/>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Explain pay</a:t>
            </a:r>
          </a:p>
          <a:p>
            <a:pPr algn="l">
              <a:lnSpc>
                <a:spcPts val="2800"/>
              </a:lnSpc>
              <a:spcBef>
                <a:spcPts val="0"/>
              </a:spcBef>
              <a:spcAft>
                <a:spcPts val="0"/>
              </a:spcAft>
            </a:pPr>
            <a:r>
              <a:rPr sz="2500" b="1">
                <a:solidFill>
                  <a:srgbClr val="122743"/>
                </a:solidFill>
                <a:latin typeface="Aptos"/>
              </a:rPr>
              <a:t>changes</a:t>
            </a:r>
          </a:p>
        </p:txBody>
      </p:sp>
      <p:sp>
        <p:nvSpPr>
          <p:cNvPr id="14" name="TextBox 13"/>
          <p:cNvSpPr txBox="1"/>
          <p:nvPr/>
        </p:nvSpPr>
        <p:spPr>
          <a:xfrm>
            <a:off x="850392" y="4562856"/>
            <a:ext cx="3044952" cy="62179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Reference workflow</a:t>
            </a:r>
          </a:p>
        </p:txBody>
      </p:sp>
      <p:sp>
        <p:nvSpPr>
          <p:cNvPr id="15" name="Rounded Rectangle 14"/>
          <p:cNvSpPr/>
          <p:nvPr/>
        </p:nvSpPr>
        <p:spPr>
          <a:xfrm>
            <a:off x="4352544" y="2752344"/>
            <a:ext cx="3483864" cy="256946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971800"/>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HR</a:t>
            </a:r>
          </a:p>
        </p:txBody>
      </p:sp>
      <p:sp>
        <p:nvSpPr>
          <p:cNvPr id="17" name="TextBox 16"/>
          <p:cNvSpPr txBox="1"/>
          <p:nvPr/>
        </p:nvSpPr>
        <p:spPr>
          <a:xfrm>
            <a:off x="4572000" y="3584448"/>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Answer people</a:t>
            </a:r>
          </a:p>
          <a:p>
            <a:pPr algn="l">
              <a:lnSpc>
                <a:spcPts val="2800"/>
              </a:lnSpc>
              <a:spcBef>
                <a:spcPts val="0"/>
              </a:spcBef>
              <a:spcAft>
                <a:spcPts val="0"/>
              </a:spcAft>
            </a:pPr>
            <a:r>
              <a:rPr sz="2500" b="1">
                <a:solidFill>
                  <a:srgbClr val="122743"/>
                </a:solidFill>
                <a:latin typeface="Aptos"/>
              </a:rPr>
              <a:t>questions</a:t>
            </a:r>
          </a:p>
        </p:txBody>
      </p:sp>
      <p:sp>
        <p:nvSpPr>
          <p:cNvPr id="18" name="TextBox 17"/>
          <p:cNvSpPr txBox="1"/>
          <p:nvPr/>
        </p:nvSpPr>
        <p:spPr>
          <a:xfrm>
            <a:off x="4572000" y="4562856"/>
            <a:ext cx="3044952" cy="62179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Expansion opportunity</a:t>
            </a:r>
          </a:p>
        </p:txBody>
      </p:sp>
      <p:sp>
        <p:nvSpPr>
          <p:cNvPr id="19" name="Rounded Rectangle 18"/>
          <p:cNvSpPr/>
          <p:nvPr/>
        </p:nvSpPr>
        <p:spPr>
          <a:xfrm>
            <a:off x="8074152" y="2752344"/>
            <a:ext cx="3483864" cy="256946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2971800"/>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BENEFITS</a:t>
            </a:r>
          </a:p>
        </p:txBody>
      </p:sp>
      <p:sp>
        <p:nvSpPr>
          <p:cNvPr id="21" name="TextBox 20"/>
          <p:cNvSpPr txBox="1"/>
          <p:nvPr/>
        </p:nvSpPr>
        <p:spPr>
          <a:xfrm>
            <a:off x="8293608" y="3584448"/>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Review benefit</a:t>
            </a:r>
          </a:p>
          <a:p>
            <a:pPr algn="l">
              <a:lnSpc>
                <a:spcPts val="2800"/>
              </a:lnSpc>
              <a:spcBef>
                <a:spcPts val="0"/>
              </a:spcBef>
              <a:spcAft>
                <a:spcPts val="0"/>
              </a:spcAft>
            </a:pPr>
            <a:r>
              <a:rPr sz="2500" b="1">
                <a:solidFill>
                  <a:srgbClr val="122743"/>
                </a:solidFill>
                <a:latin typeface="Aptos"/>
              </a:rPr>
              <a:t>changes</a:t>
            </a:r>
          </a:p>
        </p:txBody>
      </p:sp>
      <p:sp>
        <p:nvSpPr>
          <p:cNvPr id="22" name="TextBox 21"/>
          <p:cNvSpPr txBox="1"/>
          <p:nvPr/>
        </p:nvSpPr>
        <p:spPr>
          <a:xfrm>
            <a:off x="8293608" y="4562856"/>
            <a:ext cx="3044952" cy="62179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Expansion opportunity</a:t>
            </a:r>
          </a:p>
        </p:txBody>
      </p:sp>
      <p:sp>
        <p:nvSpPr>
          <p:cNvPr id="23" name="Rounded Rectangle 22"/>
          <p:cNvSpPr/>
          <p:nvPr/>
        </p:nvSpPr>
        <p:spPr>
          <a:xfrm>
            <a:off x="630936" y="5477256"/>
            <a:ext cx="10927080" cy="438912"/>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 y="5568696"/>
            <a:ext cx="10533888" cy="256032"/>
          </a:xfrm>
          <a:prstGeom prst="rect">
            <a:avLst/>
          </a:prstGeom>
          <a:noFill/>
        </p:spPr>
        <p:txBody>
          <a:bodyPr wrap="square" lIns="13716" rIns="13716" tIns="22860" bIns="22860">
            <a:spAutoFit/>
          </a:bodyPr>
          <a:lstStyle/>
          <a:p>
            <a:pPr algn="ctr">
              <a:lnSpc>
                <a:spcPts val="1680"/>
              </a:lnSpc>
              <a:spcBef>
                <a:spcPts val="0"/>
              </a:spcBef>
              <a:spcAft>
                <a:spcPts val="0"/>
              </a:spcAft>
            </a:pPr>
            <a:r>
              <a:rPr sz="1500" b="1">
                <a:solidFill>
                  <a:srgbClr val="007C83"/>
                </a:solidFill>
                <a:latin typeface="Aptos"/>
              </a:rPr>
              <a:t>Reuse templates, models, permissions and operating tools.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AGENT TEMPLATE STUDIO</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THE VALUE</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Build once. Create, control and reuse.</a:t>
            </a:r>
          </a:p>
        </p:txBody>
      </p:sp>
      <p:sp>
        <p:nvSpPr>
          <p:cNvPr id="6" name="Rectangle 5"/>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SHARED AGENT PLATFORM  /  03 OCT 2026</a:t>
            </a:r>
          </a:p>
        </p:txBody>
      </p:sp>
      <p:sp>
        <p:nvSpPr>
          <p:cNvPr id="8" name="TextBox 7"/>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08</a:t>
            </a:r>
          </a:p>
        </p:txBody>
      </p:sp>
      <p:sp>
        <p:nvSpPr>
          <p:cNvPr id="9" name="Rounded Rectangle 8"/>
          <p:cNvSpPr/>
          <p:nvPr/>
        </p:nvSpPr>
        <p:spPr>
          <a:xfrm>
            <a:off x="630936" y="2660904"/>
            <a:ext cx="10927080" cy="2212848"/>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3044952"/>
            <a:ext cx="3145536" cy="265176"/>
          </a:xfrm>
          <a:prstGeom prst="rect">
            <a:avLst/>
          </a:prstGeom>
          <a:noFill/>
        </p:spPr>
        <p:txBody>
          <a:bodyPr wrap="square" lIns="13716" rIns="13716" tIns="22860" bIns="22860">
            <a:spAutoFit/>
          </a:bodyPr>
          <a:lstStyle/>
          <a:p>
            <a:pPr algn="l">
              <a:lnSpc>
                <a:spcPts val="1456"/>
              </a:lnSpc>
              <a:spcBef>
                <a:spcPts val="0"/>
              </a:spcBef>
              <a:spcAft>
                <a:spcPts val="0"/>
              </a:spcAft>
            </a:pPr>
            <a:r>
              <a:rPr sz="1300" b="1">
                <a:solidFill>
                  <a:srgbClr val="65D5CF"/>
                </a:solidFill>
                <a:latin typeface="Aptos"/>
              </a:rPr>
              <a:t>CREATE FASTER</a:t>
            </a:r>
          </a:p>
        </p:txBody>
      </p:sp>
      <p:sp>
        <p:nvSpPr>
          <p:cNvPr id="11" name="TextBox 10"/>
          <p:cNvSpPr txBox="1"/>
          <p:nvPr/>
        </p:nvSpPr>
        <p:spPr>
          <a:xfrm>
            <a:off x="941832" y="3712463"/>
            <a:ext cx="3145536" cy="868680"/>
          </a:xfrm>
          <a:prstGeom prst="rect">
            <a:avLst/>
          </a:prstGeom>
          <a:noFill/>
        </p:spPr>
        <p:txBody>
          <a:bodyPr wrap="square" lIns="13716" rIns="13716" tIns="22860" bIns="22860">
            <a:spAutoFit/>
          </a:bodyPr>
          <a:lstStyle/>
          <a:p>
            <a:pPr algn="l">
              <a:lnSpc>
                <a:spcPts val="3024"/>
              </a:lnSpc>
              <a:spcBef>
                <a:spcPts val="0"/>
              </a:spcBef>
              <a:spcAft>
                <a:spcPts val="0"/>
              </a:spcAft>
            </a:pPr>
            <a:r>
              <a:rPr sz="2700" b="1">
                <a:solidFill>
                  <a:srgbClr val="FFFFFF"/>
                </a:solidFill>
                <a:latin typeface="Aptos"/>
              </a:rPr>
              <a:t>Template-driven agents</a:t>
            </a:r>
          </a:p>
        </p:txBody>
      </p:sp>
      <p:sp>
        <p:nvSpPr>
          <p:cNvPr id="12" name="TextBox 11"/>
          <p:cNvSpPr txBox="1"/>
          <p:nvPr/>
        </p:nvSpPr>
        <p:spPr>
          <a:xfrm>
            <a:off x="4535424" y="3044952"/>
            <a:ext cx="3145536" cy="265176"/>
          </a:xfrm>
          <a:prstGeom prst="rect">
            <a:avLst/>
          </a:prstGeom>
          <a:noFill/>
        </p:spPr>
        <p:txBody>
          <a:bodyPr wrap="square" lIns="13716" rIns="13716" tIns="22860" bIns="22860">
            <a:spAutoFit/>
          </a:bodyPr>
          <a:lstStyle/>
          <a:p>
            <a:pPr algn="l">
              <a:lnSpc>
                <a:spcPts val="1456"/>
              </a:lnSpc>
              <a:spcBef>
                <a:spcPts val="0"/>
              </a:spcBef>
              <a:spcAft>
                <a:spcPts val="0"/>
              </a:spcAft>
            </a:pPr>
            <a:r>
              <a:rPr sz="1300" b="1">
                <a:solidFill>
                  <a:srgbClr val="65D5CF"/>
                </a:solidFill>
                <a:latin typeface="Aptos"/>
              </a:rPr>
              <a:t>CONTROL DATA</a:t>
            </a:r>
          </a:p>
        </p:txBody>
      </p:sp>
      <p:sp>
        <p:nvSpPr>
          <p:cNvPr id="13" name="TextBox 12"/>
          <p:cNvSpPr txBox="1"/>
          <p:nvPr/>
        </p:nvSpPr>
        <p:spPr>
          <a:xfrm>
            <a:off x="4535424" y="3712463"/>
            <a:ext cx="3145536" cy="868680"/>
          </a:xfrm>
          <a:prstGeom prst="rect">
            <a:avLst/>
          </a:prstGeom>
          <a:noFill/>
        </p:spPr>
        <p:txBody>
          <a:bodyPr wrap="square" lIns="13716" rIns="13716" tIns="22860" bIns="22860">
            <a:spAutoFit/>
          </a:bodyPr>
          <a:lstStyle/>
          <a:p>
            <a:pPr algn="l">
              <a:lnSpc>
                <a:spcPts val="3024"/>
              </a:lnSpc>
              <a:spcBef>
                <a:spcPts val="0"/>
              </a:spcBef>
              <a:spcAft>
                <a:spcPts val="0"/>
              </a:spcAft>
            </a:pPr>
            <a:r>
              <a:rPr sz="2700" b="1">
                <a:solidFill>
                  <a:srgbClr val="FFFFFF"/>
                </a:solidFill>
                <a:latin typeface="Aptos"/>
              </a:rPr>
              <a:t>Access + PII handling</a:t>
            </a:r>
          </a:p>
        </p:txBody>
      </p:sp>
      <p:sp>
        <p:nvSpPr>
          <p:cNvPr id="14" name="TextBox 13"/>
          <p:cNvSpPr txBox="1"/>
          <p:nvPr/>
        </p:nvSpPr>
        <p:spPr>
          <a:xfrm>
            <a:off x="8129016" y="3044952"/>
            <a:ext cx="3145536" cy="265176"/>
          </a:xfrm>
          <a:prstGeom prst="rect">
            <a:avLst/>
          </a:prstGeom>
          <a:noFill/>
        </p:spPr>
        <p:txBody>
          <a:bodyPr wrap="square" lIns="13716" rIns="13716" tIns="22860" bIns="22860">
            <a:spAutoFit/>
          </a:bodyPr>
          <a:lstStyle/>
          <a:p>
            <a:pPr algn="l">
              <a:lnSpc>
                <a:spcPts val="1456"/>
              </a:lnSpc>
              <a:spcBef>
                <a:spcPts val="0"/>
              </a:spcBef>
              <a:spcAft>
                <a:spcPts val="0"/>
              </a:spcAft>
            </a:pPr>
            <a:r>
              <a:rPr sz="1300" b="1">
                <a:solidFill>
                  <a:srgbClr val="65D5CF"/>
                </a:solidFill>
                <a:latin typeface="Aptos"/>
              </a:rPr>
              <a:t>CHOOSE INFERENCE</a:t>
            </a:r>
          </a:p>
        </p:txBody>
      </p:sp>
      <p:sp>
        <p:nvSpPr>
          <p:cNvPr id="15" name="TextBox 14"/>
          <p:cNvSpPr txBox="1"/>
          <p:nvPr/>
        </p:nvSpPr>
        <p:spPr>
          <a:xfrm>
            <a:off x="8129016" y="3712463"/>
            <a:ext cx="3145536" cy="868680"/>
          </a:xfrm>
          <a:prstGeom prst="rect">
            <a:avLst/>
          </a:prstGeom>
          <a:noFill/>
        </p:spPr>
        <p:txBody>
          <a:bodyPr wrap="square" lIns="13716" rIns="13716" tIns="22860" bIns="22860">
            <a:spAutoFit/>
          </a:bodyPr>
          <a:lstStyle/>
          <a:p>
            <a:pPr algn="l">
              <a:lnSpc>
                <a:spcPts val="3024"/>
              </a:lnSpc>
              <a:spcBef>
                <a:spcPts val="0"/>
              </a:spcBef>
              <a:spcAft>
                <a:spcPts val="0"/>
              </a:spcAft>
            </a:pPr>
            <a:r>
              <a:rPr sz="2700" b="1">
                <a:solidFill>
                  <a:srgbClr val="FFFFFF"/>
                </a:solidFill>
                <a:latin typeface="Aptos"/>
              </a:rPr>
              <a:t>Private or managed</a:t>
            </a:r>
          </a:p>
        </p:txBody>
      </p:sp>
      <p:sp>
        <p:nvSpPr>
          <p:cNvPr id="16" name="TextBox 15"/>
          <p:cNvSpPr txBox="1"/>
          <p:nvPr/>
        </p:nvSpPr>
        <p:spPr>
          <a:xfrm>
            <a:off x="841248" y="5376672"/>
            <a:ext cx="10515600" cy="484632"/>
          </a:xfrm>
          <a:prstGeom prst="rect">
            <a:avLst/>
          </a:prstGeom>
          <a:noFill/>
        </p:spPr>
        <p:txBody>
          <a:bodyPr wrap="square" lIns="13716" rIns="13716" tIns="22860" bIns="22860">
            <a:spAutoFit/>
          </a:bodyPr>
          <a:lstStyle/>
          <a:p>
            <a:pPr algn="ctr">
              <a:lnSpc>
                <a:spcPts val="2800"/>
              </a:lnSpc>
              <a:spcBef>
                <a:spcPts val="0"/>
              </a:spcBef>
              <a:spcAft>
                <a:spcPts val="0"/>
              </a:spcAft>
            </a:pPr>
            <a:r>
              <a:rPr sz="2500" b="1">
                <a:solidFill>
                  <a:srgbClr val="122743"/>
                </a:solidFill>
                <a:latin typeface="Aptos"/>
              </a:rPr>
              <a:t>Start with one domain. Reuse the foundation for the next.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6915</Words>
  <Application>WPS Presentation</Application>
  <PresentationFormat>On-screen Show (16:9)</PresentationFormat>
  <Paragraphs>444</Paragraphs>
  <Slides>12</Slides>
  <Notes>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SimSun</vt:lpstr>
      <vt:lpstr>Wingdings</vt:lpstr>
      <vt:lpstr>Aptos</vt:lpstr>
      <vt:lpstr>Segoe UI</vt:lpstr>
      <vt:lpstr>Aptos</vt:lpstr>
      <vt:lpstr>Aptos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TriNet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Template Studio — Platform Brief</dc:title>
  <dc:creator>Agent Template Studio</dc:creator>
  <dc:subject>Template-driven agents, data access, PII controls and private or managed models</dc:subject>
  <cp:lastModifiedBy>Himanshu Gupta</cp:lastModifiedBy>
  <cp:revision>3</cp:revision>
  <dcterms:created xsi:type="dcterms:W3CDTF">2026-09-10T22:16:00Z</dcterms:created>
  <dcterms:modified xsi:type="dcterms:W3CDTF">2026-09-11T05:06:22Z</dcterms:modified>
  <cp:keywords>agent platform, private inference, managed models, data access, PII, templates</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FA1D828F6E6A45A2BE8C1F6AF7BEA5D3_12</vt:lpwstr>
  </property>
</Properties>
</file>