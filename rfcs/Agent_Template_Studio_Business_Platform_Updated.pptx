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5"/>
    <p:sldId id="266" r:id="rId4"/>
    <p:sldId id="267" r:id="rId3"/>
    <p:sldId id="268" r:id="rId19"/>
    <p:sldId id="269" r:id="rId20"/>
    <p:sldId id="270" r:id="rId21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Updated from the original 12-slide Agent Template Studio deck. Preserves its problem-to-platform storyline. Current implementation is a Payroll reference platform, not a claim of enterprise production readiness. Sources: README.md; backend/AGENTS.md; backend/runtime/agent_access.py.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least-privilege assignment, not an automatic default. API grants can come from direct permissions and role/group mappings; grants are additive. Role controls govern service resources and actions, not field-level employee filtering. Agent payroll writes are not implemented. Sources: backend/runtime/agent_access.py and backend/AGENTS.md.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amounts only, not live employee data or an actual LLM response. Prior gross 5000 minus taxes 1000 minus deductions 300 = net 3700. Current gross 4800 minus taxes 960 minus deductions 340 = net 3500. Net change -200 is explained by gross -200, tax reduction +40 and deduction increase -40. Actual UI keeps calculated facts separate from validated LLM prose and flags missing history or reconciliation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deployment runs in local Kind. Managed model routes use configured Hugging Face/OpenRouter credentials; Jev is the decision model. Local Ray Serve/vLLM and SLM deployment configurations exist but GPU-backed local inference remains unverified. Customer-dedicated environments, field-level policies and retention controls are product roadmap items, not proven isolation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value statements are intended benefits, not measured ROI or production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5AA7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7A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STUDIO • PAYROLL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880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TriNet Agent Factory Concept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THE PLATFORM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One platform. Reusable agents. Controlled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Agent Template Studio has evolved from a Payroll concept into a shared foundation for business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356616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53288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569463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81527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Manage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3200400" cy="15544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Create, configure and attach agents to the applications people already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331720"/>
            <a:ext cx="356616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53288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569463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81527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Control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67328"/>
            <a:ext cx="3200400" cy="15544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Define which APIs an agent may use and whose saved context it may read.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331720"/>
            <a:ext cx="356616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19" y="253288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569463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081527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Reuse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767328"/>
            <a:ext cx="3200400" cy="15544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Start with detection, questions and incident reporting instead of a blank build.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Business ambition: shorten onboarding, reduce repeated work and make AI assistance easier to trust.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From an agent factory to a governed workflow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The original idea remains. The platform now connects creation, access, execution and follow-through.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12848"/>
            <a:ext cx="329184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Aptos"/>
              </a:defRPr>
            </a:pPr>
            <a:r>
              <a:t>INITIAL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212848"/>
            <a:ext cx="370332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Aptos"/>
              </a:defRPr>
            </a:pPr>
            <a:r>
              <a:t>ADDITIONS IN THE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212848"/>
            <a:ext cx="29718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88336"/>
            <a:ext cx="111556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07208"/>
            <a:ext cx="329184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Templates +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807208"/>
            <a:ext cx="370332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Agent registry, app attachment and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07208"/>
            <a:ext cx="297180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Repeatable onboarding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111556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02152"/>
            <a:ext cx="329184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Approved tools and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502152"/>
            <a:ext cx="370332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API permissions, roles and agent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02152"/>
            <a:ext cx="297180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More controlled data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78224"/>
            <a:ext cx="111556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329184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Anomaly alert in Payroll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197096"/>
            <a:ext cx="370332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Explicit Review, paycheck comparisons and 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197096"/>
            <a:ext cx="297180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Clearer admin decisions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73168"/>
            <a:ext cx="111556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92040"/>
            <a:ext cx="329184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Individual runtime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892040"/>
            <a:ext cx="370332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Authorized context handoff and incident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92040"/>
            <a:ext cx="2971800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Less manual re-entry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The product is the reusable foundation around agents, not a single chatbot.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Solve the repeated work around every new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Value comes from reusable platform services and a simpler experience for administrators.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35661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Less setup 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21608"/>
            <a:ext cx="3200400" cy="1691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Reuse templates, model choices, app attachment and permissions across use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86000"/>
            <a:ext cx="35661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3580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Faster understanding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21608"/>
            <a:ext cx="3200400" cy="1691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Turn findings into concise explanations, pay comparisons and relevant follow-up questions.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286000"/>
            <a:ext cx="35661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19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03580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Better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721608"/>
            <a:ext cx="3200400" cy="1691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Keep access explicit and preserve evidence when a concern becomes an incident.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Measure these benefits in a pilot; no time-saving or accuracy targets are claimed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PRODUCT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A shared platform with clear business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The platform supplies common capabilities; each domain supplies its data, rules and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0972800" cy="795528"/>
          </a:xfrm>
          <a:prstGeom prst="roundRect">
            <a:avLst>
              <a:gd name="adj" fmla="val 12000"/>
            </a:avLst>
          </a:prstGeom>
          <a:solidFill>
            <a:srgbClr val="24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2743200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BUSINESS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78024"/>
            <a:ext cx="7589520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Payroll today  |  Leaves, Benefits and Insurance as expansion candidates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91840"/>
            <a:ext cx="10972800" cy="795528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01568"/>
            <a:ext cx="2743200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AGENT TEMPLATE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38144"/>
            <a:ext cx="7589520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Templates  +  configuration  +  app attachment  +  permissions  +  agent registry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251960"/>
            <a:ext cx="10972800" cy="795528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61688"/>
            <a:ext cx="2743200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SHARED EXECUTION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398264"/>
            <a:ext cx="7589520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Model routing  +  authorized data access  +  context sharing  +  evidence and run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Platform team owns the foundation. Domain teams own the workflow and business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Create an agent through a guided configuration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Separate where an agent appears from what information it is allowed to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450592"/>
            <a:ext cx="3657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87F8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432304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D4E"/>
                </a:solidFill>
                <a:latin typeface="Aptos"/>
              </a:defRPr>
            </a:pPr>
            <a:r>
              <a:t>Choose a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953512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C55"/>
                </a:solidFill>
                <a:latin typeface="Aptos"/>
              </a:defRPr>
            </a:pPr>
            <a:r>
              <a:t>Start with reusable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860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450592"/>
            <a:ext cx="3657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87F8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432304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D4E"/>
                </a:solidFill>
                <a:latin typeface="Aptos"/>
              </a:defRPr>
            </a:pPr>
            <a:r>
              <a:t>Define its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953512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C55"/>
                </a:solidFill>
                <a:latin typeface="Aptos"/>
              </a:defRPr>
            </a:pPr>
            <a:r>
              <a:t>Name, domain and instructions.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28600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450592"/>
            <a:ext cx="3657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87F8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2432304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D4E"/>
                </a:solidFill>
                <a:latin typeface="Aptos"/>
              </a:defRPr>
            </a:pPr>
            <a:r>
              <a:t>Attach an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2953512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C55"/>
                </a:solidFill>
                <a:latin typeface="Aptos"/>
              </a:defRPr>
            </a:pPr>
            <a:r>
              <a:t>Place it in the relevant workflow.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9476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959352"/>
            <a:ext cx="3657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87F8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941064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D4E"/>
                </a:solidFill>
                <a:latin typeface="Aptos"/>
              </a:defRPr>
            </a:pPr>
            <a:r>
              <a:t>Grant API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4462272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C55"/>
                </a:solidFill>
                <a:latin typeface="Aptos"/>
              </a:defRPr>
            </a:pPr>
            <a:r>
              <a:t>Choose APIs and read/write roles.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9476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3959352"/>
            <a:ext cx="3657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87F8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3941064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D4E"/>
                </a:solidFill>
                <a:latin typeface="Aptos"/>
              </a:defRPr>
            </a:pPr>
            <a:r>
              <a:t>Allow shared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4462272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C55"/>
                </a:solidFill>
                <a:latin typeface="Aptos"/>
              </a:defRPr>
            </a:pPr>
            <a:r>
              <a:t>Choose which agents it can read.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794760"/>
            <a:ext cx="35661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2" y="3959352"/>
            <a:ext cx="3657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87F8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808" y="3941064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D4E"/>
                </a:solidFill>
                <a:latin typeface="Aptos"/>
              </a:defRPr>
            </a:pPr>
            <a:r>
              <a:t>Select model and save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0808" y="4462272"/>
            <a:ext cx="26974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C55"/>
                </a:solidFill>
                <a:latin typeface="Aptos"/>
              </a:defRPr>
            </a:pPr>
            <a:r>
              <a:t>Check connection and run history.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Attaching an agent makes it discoverable; it does not automatically grant access to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OUT-OF-THE-BOX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Three agents support the core Payroll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Reusable patterns give teams a starting point; models and data connections still require configuration.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3566160" cy="3346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44144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47802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9008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Anomaly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75888"/>
            <a:ext cx="3200400" cy="183794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Checks current payrun or employee data against history and rules.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An admin requests the LLM investigation.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40280"/>
            <a:ext cx="3566160" cy="3346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44144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47802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99008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General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675888"/>
            <a:ext cx="3200400" cy="183794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Answers contextual questions from permitted data or shared findings.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Keeps help inside the payroll experience.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240280"/>
            <a:ext cx="3566160" cy="3346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19" y="244144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47802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99008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Incident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675888"/>
            <a:ext cx="3200400" cy="183794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Receives an approved handoff and prepares a report with evidence snapshots.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The admin decides when to create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The catalog also provides Summarizer and Failure Investigation templates for further use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ACCESS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Give each agent the access its job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API permissions and agent-context permissions are distinct controls.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256032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240280"/>
            <a:ext cx="384048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Aptos"/>
              </a:defRPr>
            </a:pPr>
            <a:r>
              <a:t>SERVICE API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240280"/>
            <a:ext cx="38862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Aptos"/>
              </a:defRPr>
            </a:pPr>
            <a:r>
              <a:t>SAVED AGENT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2560320" cy="47548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Anomaly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852928"/>
            <a:ext cx="3840480" cy="47548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Read payrun, history and employee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52928"/>
            <a:ext cx="3886200" cy="47548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No other agent context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74720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2560320" cy="47548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Incident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584448"/>
            <a:ext cx="3840480" cy="47548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Only APIs needed for its reporting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584448"/>
            <a:ext cx="3886200" cy="47548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Read authorized AD findings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06240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15968"/>
            <a:ext cx="2560320" cy="47548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General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315968"/>
            <a:ext cx="3840480" cy="47548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Can answer from authorized context alone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315968"/>
            <a:ext cx="3886200" cy="47548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Read authorized AD and incident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66360"/>
            <a:ext cx="11155680" cy="484632"/>
          </a:xfrm>
          <a:prstGeom prst="roundRect">
            <a:avLst>
              <a:gd name="adj" fmla="val 12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5285232"/>
            <a:ext cx="1078992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87F8C"/>
                </a:solidFill>
                <a:latin typeface="Aptos"/>
              </a:defRPr>
            </a:pPr>
            <a:r>
              <a:t>Role permissions  →  agent group  →  member agents. Direct grants can also apply.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916168"/>
            <a:ext cx="1097280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48A"/>
                </a:solidFill>
                <a:latin typeface="Aptos"/>
              </a:defRPr>
            </a:pPr>
            <a:r>
              <a:t>Example policy. API read/write control is available; payroll writes and field-level controls are not delivered.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AGENT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Share useful context without opening every 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An agent may read another agent’s saved response only when explicitly authorized.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31089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798064"/>
            <a:ext cx="27889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D4E"/>
                </a:solidFill>
                <a:latin typeface="Aptos"/>
              </a:defRPr>
            </a:pPr>
            <a:r>
              <a:t>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300984"/>
            <a:ext cx="2788920" cy="6217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Produces findings and</a:t>
            </a:r>
          </a:p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validated investigation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606040"/>
            <a:ext cx="31089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798064"/>
            <a:ext cx="27889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D4E"/>
                </a:solidFill>
                <a:latin typeface="Aptos"/>
              </a:defRPr>
            </a:pPr>
            <a:r>
              <a:t>Incident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300984"/>
            <a:ext cx="2788920" cy="6217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Creates an evidence-backed</a:t>
            </a:r>
          </a:p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report after admin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606040"/>
            <a:ext cx="31089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798064"/>
            <a:ext cx="27889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D4E"/>
                </a:solidFill>
                <a:latin typeface="Aptos"/>
              </a:defRPr>
            </a:pPr>
            <a:r>
              <a:t>General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300984"/>
            <a:ext cx="2788920" cy="62179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Helps the admin understand</a:t>
            </a:r>
          </a:p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findings and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2999232"/>
            <a:ext cx="594360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87F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2999232"/>
            <a:ext cx="594360" cy="5486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87F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10881360" cy="676656"/>
          </a:xfrm>
          <a:prstGeom prst="roundRect">
            <a:avLst>
              <a:gd name="adj" fmla="val 12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654296"/>
            <a:ext cx="10515600" cy="4114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87F8C"/>
                </a:solidFill>
                <a:latin typeface="Aptos"/>
              </a:defRPr>
            </a:pPr>
            <a:r>
              <a:t>General Query can also read AD context directly when granted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Arrows show permitted context flow. Reverse access is not implied.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345936"/>
            <a:ext cx="1097280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48A"/>
                </a:solidFill>
                <a:latin typeface="Aptos"/>
              </a:defRPr>
            </a:pPr>
            <a:r>
              <a:t>Incident creation is an explicit admin action. Shared communication handles discovery and saved context transfer.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PAYROLL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From fresh data to an informed human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A data change starts a new check. Investigation and incident creation remain deliberate choices.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2084831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688336"/>
            <a:ext cx="91440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87F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3337560"/>
            <a:ext cx="1810512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D4E"/>
                </a:solidFill>
                <a:latin typeface="Aptos"/>
              </a:defRPr>
            </a:pPr>
            <a:r>
              <a:t>Open or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4050791"/>
            <a:ext cx="1810512" cy="7498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53C55"/>
                </a:solidFill>
                <a:latin typeface="Aptos"/>
              </a:defRPr>
            </a:pPr>
            <a:r>
              <a:t>Load the latest payrun</a:t>
            </a:r>
          </a:p>
          <a:p>
            <a:pPr>
              <a:spcAft>
                <a:spcPts val="800"/>
              </a:spcAft>
              <a:defRPr sz="1300" b="0">
                <a:solidFill>
                  <a:srgbClr val="253C55"/>
                </a:solidFill>
                <a:latin typeface="Aptos"/>
              </a:defRPr>
            </a:pPr>
            <a:r>
              <a:t>or employee paycheck.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2468880"/>
            <a:ext cx="2084831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2688336"/>
            <a:ext cx="91440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87F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3337560"/>
            <a:ext cx="1810512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D4E"/>
                </a:solidFill>
                <a:latin typeface="Aptos"/>
              </a:defRPr>
            </a:pPr>
            <a:r>
              <a:t>Detect and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4050791"/>
            <a:ext cx="1810512" cy="7498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53C55"/>
                </a:solidFill>
                <a:latin typeface="Aptos"/>
              </a:defRPr>
            </a:pPr>
            <a:r>
              <a:t>Rules and history +</a:t>
            </a:r>
          </a:p>
          <a:p>
            <a:pPr>
              <a:spcAft>
                <a:spcPts val="800"/>
              </a:spcAft>
              <a:defRPr sz="1300" b="0">
                <a:solidFill>
                  <a:srgbClr val="253C55"/>
                </a:solidFill>
                <a:latin typeface="Aptos"/>
              </a:defRPr>
            </a:pPr>
            <a:r>
              <a:t>Jev decision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2468880"/>
            <a:ext cx="2084831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2688336"/>
            <a:ext cx="91440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87F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3337560"/>
            <a:ext cx="1810512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D4E"/>
                </a:solidFill>
                <a:latin typeface="Aptos"/>
              </a:defRPr>
            </a:pPr>
            <a:r>
              <a:t>Admin selects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4050791"/>
            <a:ext cx="1810512" cy="7498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53C55"/>
                </a:solidFill>
                <a:latin typeface="Aptos"/>
              </a:defRPr>
            </a:pPr>
            <a:r>
              <a:t>Request the LLM</a:t>
            </a:r>
          </a:p>
          <a:p>
            <a:pPr>
              <a:spcAft>
                <a:spcPts val="800"/>
              </a:spcAft>
              <a:defRPr sz="1300" b="0">
                <a:solidFill>
                  <a:srgbClr val="253C55"/>
                </a:solidFill>
                <a:latin typeface="Aptos"/>
              </a:defRPr>
            </a:pPr>
            <a:r>
              <a:t>investigation.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5" y="2468880"/>
            <a:ext cx="2084831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59" y="2688336"/>
            <a:ext cx="91440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87F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3337560"/>
            <a:ext cx="1810512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D4E"/>
                </a:solidFill>
                <a:latin typeface="Aptos"/>
              </a:defRPr>
            </a:pPr>
            <a:r>
              <a:t>Explain the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4050791"/>
            <a:ext cx="1810512" cy="7498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53C55"/>
                </a:solidFill>
                <a:latin typeface="Aptos"/>
              </a:defRPr>
            </a:pPr>
            <a:r>
              <a:t>Compare periods; show</a:t>
            </a:r>
          </a:p>
          <a:p>
            <a:pPr>
              <a:spcAft>
                <a:spcPts val="800"/>
              </a:spcAft>
              <a:defRPr sz="1300" b="0">
                <a:solidFill>
                  <a:srgbClr val="253C55"/>
                </a:solidFill>
                <a:latin typeface="Aptos"/>
              </a:defRPr>
            </a:pPr>
            <a:r>
              <a:t>concise conclusions.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3768" y="2468880"/>
            <a:ext cx="2084831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2688336"/>
            <a:ext cx="91440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87F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3337560"/>
            <a:ext cx="1810512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D4E"/>
                </a:solidFill>
                <a:latin typeface="Aptos"/>
              </a:defRPr>
            </a:pPr>
            <a:r>
              <a:t>Choose the next step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72" y="4050791"/>
            <a:ext cx="1810512" cy="7498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53C55"/>
                </a:solidFill>
                <a:latin typeface="Aptos"/>
              </a:defRPr>
            </a:pPr>
            <a:r>
              <a:t>Ask a question or</a:t>
            </a:r>
          </a:p>
          <a:p>
            <a:pPr>
              <a:spcAft>
                <a:spcPts val="800"/>
              </a:spcAft>
              <a:defRPr sz="1300" b="0">
                <a:solidFill>
                  <a:srgbClr val="253C55"/>
                </a:solidFill>
                <a:latin typeface="Aptos"/>
              </a:defRPr>
            </a:pPr>
            <a:r>
              <a:t>create an incident.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12080"/>
            <a:ext cx="11155680" cy="429768"/>
          </a:xfrm>
          <a:prstGeom prst="roundRect">
            <a:avLst>
              <a:gd name="adj" fmla="val 12000"/>
            </a:avLst>
          </a:prstGeom>
          <a:solidFill>
            <a:srgbClr val="E8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294376"/>
            <a:ext cx="1069848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Aptos"/>
              </a:defRPr>
            </a:pPr>
            <a:r>
              <a:t>New employee data refreshes the check; changing scope clears the previous employee view.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Detection helps prioritize attention. A flag is a review indicator, not proof of a payroll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EXPLAIN, DO NOT OVERWHELM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“Why is this paycheck $200 lower?”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Replace a long finding dump with a period comparison and a short, evidence-based explanation.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429000" cy="2980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523744"/>
            <a:ext cx="306324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Aptos"/>
              </a:defRPr>
            </a:pPr>
            <a:r>
              <a:t>PREVIOUS PAYCHECK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08960"/>
            <a:ext cx="18288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Gross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3108960"/>
            <a:ext cx="11430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700" b="0">
                <a:solidFill>
                  <a:srgbClr val="142D4E"/>
                </a:solidFill>
                <a:latin typeface="Aptos"/>
              </a:defRPr>
            </a:pPr>
            <a:r>
              <a:t>$5,000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57015"/>
            <a:ext cx="18288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Taxes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3557015"/>
            <a:ext cx="11430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700" b="0">
                <a:solidFill>
                  <a:srgbClr val="142D4E"/>
                </a:solidFill>
                <a:latin typeface="Aptos"/>
              </a:defRPr>
            </a:pPr>
            <a:r>
              <a:t>−$1,000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005072"/>
            <a:ext cx="18288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Deductions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4005072"/>
            <a:ext cx="11430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700" b="0">
                <a:solidFill>
                  <a:srgbClr val="142D4E"/>
                </a:solidFill>
                <a:latin typeface="Aptos"/>
              </a:defRPr>
            </a:pPr>
            <a:r>
              <a:t>−$300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453128"/>
            <a:ext cx="18288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3C55"/>
                </a:solidFill>
                <a:latin typeface="Aptos"/>
              </a:defRPr>
            </a:pPr>
            <a:r>
              <a:t>Take-home 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4453128"/>
            <a:ext cx="11430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$3,700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286000"/>
            <a:ext cx="3429000" cy="2980944"/>
          </a:xfrm>
          <a:prstGeom prst="roundRect">
            <a:avLst>
              <a:gd name="adj" fmla="val 12000"/>
            </a:avLst>
          </a:prstGeom>
          <a:solidFill>
            <a:srgbClr val="E8F3F3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523744"/>
            <a:ext cx="306324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C"/>
                </a:solidFill>
                <a:latin typeface="Aptos"/>
              </a:defRPr>
            </a:pPr>
            <a:r>
              <a:t>CURRENT PAYCHECK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18288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Gross pay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108960"/>
            <a:ext cx="11430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700" b="0">
                <a:solidFill>
                  <a:srgbClr val="142D4E"/>
                </a:solidFill>
                <a:latin typeface="Aptos"/>
              </a:defRPr>
            </a:pPr>
            <a:r>
              <a:t>$4,800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57015"/>
            <a:ext cx="18288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Taxes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557015"/>
            <a:ext cx="11430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700" b="0">
                <a:solidFill>
                  <a:srgbClr val="142D4E"/>
                </a:solidFill>
                <a:latin typeface="Aptos"/>
              </a:defRPr>
            </a:pPr>
            <a:r>
              <a:t>−$960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05072"/>
            <a:ext cx="18288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C55"/>
                </a:solidFill>
                <a:latin typeface="Aptos"/>
              </a:defRPr>
            </a:pPr>
            <a:r>
              <a:t>Deductions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005072"/>
            <a:ext cx="11430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700" b="0">
                <a:solidFill>
                  <a:srgbClr val="142D4E"/>
                </a:solidFill>
                <a:latin typeface="Aptos"/>
              </a:defRPr>
            </a:pPr>
            <a:r>
              <a:t>−$340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53128"/>
            <a:ext cx="18288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3C55"/>
                </a:solidFill>
                <a:latin typeface="Aptos"/>
              </a:defRPr>
            </a:pPr>
            <a:r>
              <a:t>Take-home pay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453128"/>
            <a:ext cx="114300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$3,500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441448"/>
            <a:ext cx="3383280" cy="4114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D4E"/>
                </a:solidFill>
                <a:latin typeface="Aptos"/>
              </a:defRPr>
            </a:pPr>
            <a:r>
              <a:t>A clearer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3108960"/>
            <a:ext cx="3246120" cy="187451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53C55"/>
                </a:solidFill>
                <a:latin typeface="Aptos"/>
              </a:defRPr>
            </a:pPr>
            <a:r>
              <a:t>Gross pay fell $200.</a:t>
            </a:r>
          </a:p>
          <a:p>
            <a:pPr>
              <a:spcAft>
                <a:spcPts val="800"/>
              </a:spcAft>
              <a:defRPr sz="1800" b="0">
                <a:solidFill>
                  <a:srgbClr val="253C55"/>
                </a:solidFill>
                <a:latin typeface="Aptos"/>
              </a:defRPr>
            </a:pPr>
            <a:r>
              <a:t>Taxes fell $40, while deductions rose $40.</a:t>
            </a:r>
          </a:p>
          <a:p>
            <a:pPr>
              <a:spcAft>
                <a:spcPts val="800"/>
              </a:spcAft>
              <a:defRPr sz="1800" b="0">
                <a:solidFill>
                  <a:srgbClr val="253C55"/>
                </a:solidFill>
                <a:latin typeface="Aptos"/>
              </a:defRPr>
            </a:pPr>
            <a:r>
              <a:t>Together, these explain the $200 lower take-home pay.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The admin sees what changed, how the amounts connect and what still needs verification.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345936"/>
            <a:ext cx="1097280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48A"/>
                </a:solidFill>
                <a:latin typeface="Aptos"/>
              </a:defRPr>
            </a:pPr>
            <a:r>
              <a:t>Illustrative example only. Current product uses actual saved records and does not invent missing causes.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FROM INSIGHT TO FOLLOW-THROUGH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Create an incident with the evidence already attached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The admin selects “Create incident report”; the receiving agent uses the authorized investigation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333756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8"/>
            <a:ext cx="29718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Carry context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21608"/>
            <a:ext cx="2971800" cy="1737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Transfer the saved response through the shared agent communication service.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0791" y="2286000"/>
            <a:ext cx="333756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33672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3035808"/>
            <a:ext cx="29718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Capture the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721608"/>
            <a:ext cx="2971800" cy="1737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Reconstruct the affected view, capture snapshots and store the report bundle.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2286000"/>
            <a:ext cx="4059936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81544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4" y="3035808"/>
            <a:ext cx="3694176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Make the report usable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1544" y="3721608"/>
            <a:ext cx="3694176" cy="1737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Short issue title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Expected system behavior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Impacted service and employee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Evidence and next steps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Intended value: less copying, fewer lost details and a clearer starting point for resolution.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MANAGE THE AGENT 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Give administrators visibility after an agent is created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A reusable platform needs operational controls as well as a template catalog.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356616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Manage the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21608"/>
            <a:ext cx="3200400" cy="1828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See agents attached to services.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Update configuration, roles and groups.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Select and delete agents in bulk.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86000"/>
            <a:ext cx="356616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3580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Understand each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21608"/>
            <a:ext cx="3200400" cy="1828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Inspect model pipelines and multiple runs.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Distinguish detection from investigation.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Review model and validation failures.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286000"/>
            <a:ext cx="356616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19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03580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Operate with clarity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721608"/>
            <a:ext cx="3200400" cy="1828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Check agent connection health.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Retain calculated findings if AI fails.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Record admin confirmation or dismissal.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Connection health, permission to read data and answer quality are separate checks.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DEPLOYMENT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Offer model choice within a controlled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Applications use the same agent foundation while model routing remains a backend responsibility.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67712"/>
            <a:ext cx="676656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87168"/>
            <a:ext cx="6126480" cy="4114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87F8C"/>
                </a:solidFill>
                <a:latin typeface="Aptos"/>
              </a:defRPr>
            </a:pPr>
            <a:r>
              <a:t>PLATFORM / KUBERNETES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54680"/>
            <a:ext cx="6172200" cy="1645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D4E"/>
                </a:solidFill>
                <a:latin typeface="Aptos"/>
              </a:defRPr>
            </a:pPr>
            <a:r>
              <a:t>Agent Studio + Payroll experience</a:t>
            </a:r>
          </a:p>
          <a:p>
            <a:pPr>
              <a:spcAft>
                <a:spcPts val="800"/>
              </a:spcAft>
              <a:defRPr sz="2100" b="1">
                <a:solidFill>
                  <a:srgbClr val="142D4E"/>
                </a:solidFill>
                <a:latin typeface="Aptos"/>
              </a:defRPr>
            </a:pPr>
            <a:r>
              <a:t>Agent execution + access checks</a:t>
            </a:r>
          </a:p>
          <a:p>
            <a:pPr>
              <a:spcAft>
                <a:spcPts val="800"/>
              </a:spcAft>
              <a:defRPr sz="2100" b="1">
                <a:solidFill>
                  <a:srgbClr val="142D4E"/>
                </a:solidFill>
                <a:latin typeface="Aptos"/>
              </a:defRPr>
            </a:pPr>
            <a:r>
              <a:t>Saved context, evidence and run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267712"/>
            <a:ext cx="4069080" cy="1508760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487168"/>
            <a:ext cx="361188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Managed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008376"/>
            <a:ext cx="361188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Hugging Face / OpenRouter</a:t>
            </a:r>
          </a:p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Configured models, including Jev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005072"/>
            <a:ext cx="4069080" cy="1508760"/>
          </a:xfrm>
          <a:prstGeom prst="roundRect">
            <a:avLst>
              <a:gd name="adj" fmla="val 12000"/>
            </a:avLst>
          </a:prstGeom>
          <a:solidFill>
            <a:srgbClr val="E8F3F3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224528"/>
            <a:ext cx="361188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C"/>
                </a:solidFill>
                <a:latin typeface="Aptos"/>
              </a:defRPr>
            </a:pPr>
            <a:r>
              <a:t>Local SLM option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700016"/>
            <a:ext cx="361188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C55"/>
                </a:solidFill>
                <a:latin typeface="Aptos"/>
              </a:defRPr>
            </a:pPr>
            <a:r>
              <a:t>Ray Serve + vLLM on Kubernetes</a:t>
            </a:r>
          </a:p>
          <a:p>
            <a:pPr>
              <a:spcAft>
                <a:spcPts val="800"/>
              </a:spcAft>
              <a:defRPr sz="1400" b="0">
                <a:solidFill>
                  <a:srgbClr val="253C55"/>
                </a:solidFill>
                <a:latin typeface="Aptos"/>
              </a:defRPr>
            </a:pPr>
            <a:r>
              <a:t>Optional; local inference not yet verified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Model choice supports deployment flexibility. It does not by itself establish customer data isolation.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SCALE ACROSS DOMAINS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Reuse the skeleton; add the domain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Payroll is the reference implementation. Other domains bring their own data, rules and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95728"/>
            <a:ext cx="2624328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633472"/>
            <a:ext cx="2295144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PAYROLL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218688"/>
            <a:ext cx="2295144" cy="9875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Payrun changes</a:t>
            </a:r>
          </a:p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Paycheck questions</a:t>
            </a:r>
          </a:p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Investigation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2395728"/>
            <a:ext cx="2624328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2633472"/>
            <a:ext cx="2295144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LEAVES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3218688"/>
            <a:ext cx="2295144" cy="9875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Balance changes</a:t>
            </a:r>
          </a:p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Eligibility questions</a:t>
            </a:r>
          </a:p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Exception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395728"/>
            <a:ext cx="2624328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2633472"/>
            <a:ext cx="2295144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3218688"/>
            <a:ext cx="2295144" cy="9875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Enrollment changes</a:t>
            </a:r>
          </a:p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Deduction questions</a:t>
            </a:r>
          </a:p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Coverage exceptions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4272" y="2395728"/>
            <a:ext cx="2624328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2633472"/>
            <a:ext cx="2295144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87F8C"/>
                </a:solidFill>
                <a:latin typeface="Aptos"/>
              </a:defRPr>
            </a:pPr>
            <a:r>
              <a:t>INSURANCE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3218688"/>
            <a:ext cx="2295144" cy="9875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Claim exceptions</a:t>
            </a:r>
          </a:p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Policy questions</a:t>
            </a:r>
          </a:p>
          <a:p>
            <a:pPr>
              <a:spcAft>
                <a:spcPts val="800"/>
              </a:spcAft>
              <a:defRPr sz="1700" b="0">
                <a:solidFill>
                  <a:srgbClr val="253C55"/>
                </a:solidFill>
                <a:latin typeface="Aptos"/>
              </a:defRPr>
            </a:pPr>
            <a:r>
              <a:t>Evidence collection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18304"/>
            <a:ext cx="11155680" cy="713232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910328"/>
            <a:ext cx="10698480" cy="42976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Reuse templates, access controls, model routing, context handoffs and the admin experience.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5833872"/>
            <a:ext cx="1097280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48A"/>
                </a:solidFill>
                <a:latin typeface="Aptos"/>
              </a:defRPr>
            </a:pPr>
            <a:r>
              <a:t>Leaves, Benefits and Insurance are expansion candidates, not delivered domain integrations.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PRODUCT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Be precise about what exists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A credible business proposition separates a working foundation from production commitments.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67712"/>
            <a:ext cx="356616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468880"/>
            <a:ext cx="777240" cy="356616"/>
          </a:xfrm>
          <a:prstGeom prst="roundRect">
            <a:avLst>
              <a:gd name="adj" fmla="val 12000"/>
            </a:avLst>
          </a:prstGeom>
          <a:solidFill>
            <a:srgbClr val="1B7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505456"/>
            <a:ext cx="740664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Working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3200400" cy="20116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Payroll reference workflow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Agent templates and registry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API roles and context access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Review, chat and incident evidence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Kind deployment and run visibility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67712"/>
            <a:ext cx="356616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468880"/>
            <a:ext cx="777240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505456"/>
            <a:ext cx="740664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17520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Validate in pilots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03320"/>
            <a:ext cx="3200400" cy="20116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Access policy coverage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False-positive and answer quality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Latency, cost and failure recovery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Local SLM feasibility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Domain onboarding effort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267712"/>
            <a:ext cx="356616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19" y="2468880"/>
            <a:ext cx="777240" cy="356616"/>
          </a:xfrm>
          <a:prstGeom prst="roundRect">
            <a:avLst>
              <a:gd name="adj" fmla="val 12000"/>
            </a:avLst>
          </a:prstGeom>
          <a:solidFill>
            <a:srgbClr val="A76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505456"/>
            <a:ext cx="740664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017520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Enterprise hardening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703320"/>
            <a:ext cx="3200400" cy="20116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Verifiable tenant isolation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Field-level data policies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Retention and residency controls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SSO and audit export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Operational SLAs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053328"/>
            <a:ext cx="10972800" cy="2103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48A"/>
                </a:solidFill>
                <a:latin typeface="Aptos"/>
              </a:defRPr>
            </a:pPr>
            <a:r>
              <a:t>Roadmap items require design, implementation and validation; they are not current guarantees.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C"/>
                </a:solidFill>
                <a:latin typeface="Aptos"/>
              </a:defRPr>
            </a:pPr>
            <a:r>
              <a:t>BUSINESS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22376"/>
            <a:ext cx="11155680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D4E"/>
                </a:solidFill>
                <a:latin typeface="Aptos"/>
              </a:defRPr>
            </a:pPr>
            <a:r>
              <a:t>Prove value with one controlled workflow, then expand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09960" cy="603504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0748A"/>
                </a:solidFill>
                <a:latin typeface="Aptos"/>
              </a:defRPr>
            </a:pPr>
            <a:r>
              <a:t>Start with Payroll review and track both business usefulness and control effectiveness.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914400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0748A"/>
                </a:solidFill>
                <a:latin typeface="Aptos"/>
              </a:defRPr>
            </a:pPr>
            <a:r>
              <a:t>AGENT TEMPLATE STUDIO  |  BUSINESS PLATFORM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60748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356616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Agree the pilot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21608"/>
            <a:ext cx="3200400" cy="19202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Choose users, agent templates and approved data.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Define success and escalation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86000"/>
            <a:ext cx="356616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3580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Measure the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21608"/>
            <a:ext cx="3200400" cy="19202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Time to onboard an agent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Time to understand a finding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Useful / false-positive findings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Report preparation effort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Access denials, latency and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286000"/>
            <a:ext cx="356616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19" y="2487168"/>
            <a:ext cx="393192" cy="35661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523744"/>
            <a:ext cx="356616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035808"/>
            <a:ext cx="32004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2D4E"/>
                </a:solidFill>
                <a:latin typeface="Aptos"/>
              </a:defRPr>
            </a:pPr>
            <a:r>
              <a:t>Expand with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721608"/>
            <a:ext cx="3200400" cy="19202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Refine templates and permissions.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Validate another use case.</a:t>
            </a:r>
          </a:p>
          <a:p>
            <a:pPr>
              <a:spcAft>
                <a:spcPts val="800"/>
              </a:spcAft>
              <a:defRPr sz="1600" b="0">
                <a:solidFill>
                  <a:srgbClr val="253C55"/>
                </a:solidFill>
                <a:latin typeface="Aptos"/>
              </a:defRPr>
            </a:pPr>
            <a:r>
              <a:t>Reuse the platform; add domain-specific data and rules.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06440"/>
            <a:ext cx="11155680" cy="466344"/>
          </a:xfrm>
          <a:prstGeom prst="roundRect">
            <a:avLst>
              <a:gd name="adj" fmla="val 12000"/>
            </a:avLst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916168"/>
            <a:ext cx="10698480" cy="29260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Business value: reusable agents, controlled information access and clearer help at the point of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6915</Words>
  <Application>WPS Presentation</Application>
  <PresentationFormat>On-screen Show (16:9)</PresentationFormat>
  <Paragraphs>444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Aptos</vt:lpstr>
      <vt:lpstr>Segoe UI</vt:lpstr>
      <vt:lpstr>Aptos</vt:lpstr>
      <vt:lpstr>Aptos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TriNet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Template Studio | Business Platform Update</dc:title>
  <dc:creator>Agent Template Studio</dc:creator>
  <dc:subject>Business value, reusable agents, API access governance and Payroll reference capabilities</dc:subject>
  <cp:lastModifiedBy>Himanshu Gupta</cp:lastModifiedBy>
  <cp:revision>3</cp:revision>
  <dcterms:created xsi:type="dcterms:W3CDTF">2026-09-10T22:16:00Z</dcterms:created>
  <dcterms:modified xsi:type="dcterms:W3CDTF">2026-09-11T05:06:22Z</dcterms:modified>
  <cp:keywords>Business platform, agent templates, access control, payroll, investigation, agent communication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FA1D828F6E6A45A2BE8C1F6AF7BEA5D3_12</vt:lpwstr>
  </property>
</Properties>
</file>