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8"/>
  </p:notesMasterIdLst>
  <p:sldIdLst>
    <p:sldId id="262" r:id="rId3"/>
    <p:sldId id="263" r:id="rId4"/>
    <p:sldId id="265" r:id="rId5"/>
    <p:sldId id="264" r:id="rId6"/>
    <p:sldId id="256" r:id="rId7"/>
    <p:sldId id="257" r:id="rId9"/>
    <p:sldId id="258" r:id="rId10"/>
    <p:sldId id="259" r:id="rId11"/>
    <p:sldId id="260" r:id="rId12"/>
    <p:sldId id="266" r:id="rId13"/>
    <p:sldId id="267" r:id="rId14"/>
    <p:sldId id="261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5AA7"/>
          </a:solidFill>
          <a:ln w="12700">
            <a:solidFill>
              <a:srgbClr val="0E5A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365760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kern="0" spc="120" dirty="0">
                <a:solidFill>
                  <a:srgbClr val="7A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STUDIO • PAYROLL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778240" y="6510528"/>
            <a:ext cx="288036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A84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TriNet Agent Factory Concept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7A849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7A849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743"/>
                </a:solidFill>
              </a:rPr>
              <a:t>Business View | 1. Frame the Problem</a:t>
            </a:r>
            <a:endParaRPr sz="2700" b="1">
              <a:solidFill>
                <a:srgbClr val="12274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E6A78"/>
                </a:solidFill>
              </a:rPr>
              <a:t>Payroll has multiple high-value AI use cases, but each agent can become a separate engineering effort.</a:t>
            </a:r>
            <a:endParaRPr sz="1400">
              <a:solidFill>
                <a:srgbClr val="5E6A78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474720" cy="315468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73152" cy="3154680"/>
          </a:xfrm>
          <a:prstGeom prst="rect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105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743"/>
                </a:solidFill>
              </a:rPr>
              <a:t>Repeated Build Effort</a:t>
            </a:r>
            <a:endParaRPr sz="1700" b="1">
              <a:solidFill>
                <a:srgbClr val="12274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30632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• Every use case needs agent setup, model configuration, tools and service integration.</a:t>
            </a:r>
          </a:p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• Summarizer, General Query and Anomaly Detection repeat the same foundational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645920"/>
            <a:ext cx="3474720" cy="315468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1688" y="1645920"/>
            <a:ext cx="73152" cy="3154680"/>
          </a:xfrm>
          <a:prstGeom prst="rect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8105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743"/>
                </a:solidFill>
              </a:rPr>
              <a:t>Hard to Scale Across Payroll</a:t>
            </a:r>
            <a:endParaRPr sz="1700" b="1">
              <a:solidFill>
                <a:srgbClr val="122743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90288" y="2331720"/>
            <a:ext cx="30632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• Agents need to be wired into Payrun pages and backend flows.</a:t>
            </a:r>
          </a:p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• One-off implementations create inconsistent deployment, ownership and maintenance.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74152" y="1645920"/>
            <a:ext cx="3474720" cy="315468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4152" y="1645920"/>
            <a:ext cx="73152" cy="3154680"/>
          </a:xfrm>
          <a:prstGeom prst="rect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02752" y="1810512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743"/>
                </a:solidFill>
              </a:rPr>
              <a:t>Trust &amp; Governance Matter</a:t>
            </a:r>
            <a:endParaRPr sz="1700" b="1">
              <a:solidFill>
                <a:srgbClr val="122743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02752" y="2331720"/>
            <a:ext cx="30632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• Payroll decisions depend on sensitive, high-trust data.</a:t>
            </a:r>
          </a:p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• Agents must use approved models, domain tools and controlled access—not ad-hoc integrations.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212080"/>
            <a:ext cx="9921240" cy="822960"/>
          </a:xfrm>
          <a:prstGeom prst="roundRect">
            <a:avLst/>
          </a:prstGeom>
          <a:solidFill>
            <a:srgbClr val="12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5376672"/>
            <a:ext cx="93726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</a:rPr>
              <a:t>Business need: Create once, configure safely, and attach reusable agents to Payroll experiences.</a:t>
            </a:r>
            <a:endParaRPr sz="17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743"/>
                </a:solidFill>
              </a:rPr>
              <a:t>Business View | 2. Show the Idea</a:t>
            </a:r>
            <a:endParaRPr sz="2700" b="1">
              <a:solidFill>
                <a:srgbClr val="12274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987552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E6A78"/>
                </a:solidFill>
              </a:rPr>
              <a:t>Agent Template Studio + Agent Factory turns agent creation into a reusable platform capability for Payroll.</a:t>
            </a:r>
            <a:endParaRPr sz="1400">
              <a:solidFill>
                <a:srgbClr val="5E6A78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411480" y="1874519"/>
            <a:ext cx="2121408" cy="1965960"/>
          </a:xfrm>
          <a:prstGeom prst="roundRect">
            <a:avLst/>
          </a:prstGeom>
          <a:solidFill>
            <a:srgbClr val="E8F2FA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2144" y="1536192"/>
            <a:ext cx="640080" cy="640080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163677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1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18470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22743"/>
                </a:solidFill>
              </a:rPr>
              <a:t>CREATE</a:t>
            </a:r>
            <a:endParaRPr sz="1400" b="1">
              <a:solidFill>
                <a:srgbClr val="122743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633472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262F3A"/>
                </a:solidFill>
              </a:rPr>
              <a:t>Start from an
Agent Template</a:t>
            </a:r>
            <a:endParaRPr sz="1150">
              <a:solidFill>
                <a:srgbClr val="262F3A"/>
              </a:solidFill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2569464" y="2596896"/>
            <a:ext cx="320040" cy="384048"/>
          </a:xfrm>
          <a:prstGeom prst="rightArrow">
            <a:avLst/>
          </a:prstGeom>
          <a:solidFill>
            <a:srgbClr val="9B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1874519"/>
            <a:ext cx="2121408" cy="1965960"/>
          </a:xfrm>
          <a:prstGeom prst="roundRect">
            <a:avLst/>
          </a:prstGeom>
          <a:solidFill>
            <a:srgbClr val="E8F2FA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483864" y="1536192"/>
            <a:ext cx="640080" cy="640080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163677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880360" y="2148840"/>
            <a:ext cx="18470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22743"/>
                </a:solidFill>
              </a:rPr>
              <a:t>CONFIGURE</a:t>
            </a:r>
            <a:endParaRPr sz="1400" b="1">
              <a:solidFill>
                <a:srgbClr val="122743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880360" y="2633472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262F3A"/>
                </a:solidFill>
              </a:rPr>
              <a:t>Description • Model
Domain • Page</a:t>
            </a:r>
            <a:endParaRPr sz="1150">
              <a:solidFill>
                <a:srgbClr val="262F3A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4901184" y="2596896"/>
            <a:ext cx="320040" cy="384048"/>
          </a:xfrm>
          <a:prstGeom prst="rightArrow">
            <a:avLst/>
          </a:prstGeom>
          <a:solidFill>
            <a:srgbClr val="9B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74920" y="1874519"/>
            <a:ext cx="2121408" cy="1965960"/>
          </a:xfrm>
          <a:prstGeom prst="roundRect">
            <a:avLst/>
          </a:prstGeom>
          <a:solidFill>
            <a:srgbClr val="E8F2FA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15583" y="1536192"/>
            <a:ext cx="640080" cy="640080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15583" y="163677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12080" y="2148840"/>
            <a:ext cx="18470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22743"/>
                </a:solidFill>
              </a:rPr>
              <a:t>ATTACH TOOLS</a:t>
            </a:r>
            <a:endParaRPr sz="1400" b="1">
              <a:solidFill>
                <a:srgbClr val="122743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12080" y="2633472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262F3A"/>
                </a:solidFill>
              </a:rPr>
              <a:t>Approved Payroll APIs
&amp; domain tools</a:t>
            </a:r>
            <a:endParaRPr sz="1150">
              <a:solidFill>
                <a:srgbClr val="262F3A"/>
              </a:solidFill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7232903" y="2596896"/>
            <a:ext cx="320040" cy="384048"/>
          </a:xfrm>
          <a:prstGeom prst="rightArrow">
            <a:avLst/>
          </a:prstGeom>
          <a:solidFill>
            <a:srgbClr val="9B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06640" y="1874519"/>
            <a:ext cx="2121408" cy="1965960"/>
          </a:xfrm>
          <a:prstGeom prst="roundRect">
            <a:avLst/>
          </a:prstGeom>
          <a:solidFill>
            <a:srgbClr val="E8F2FA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47304" y="1536192"/>
            <a:ext cx="640080" cy="640080"/>
          </a:xfrm>
          <a:prstGeom prst="ellipse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47304" y="163677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43800" y="2148840"/>
            <a:ext cx="18470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22743"/>
                </a:solidFill>
              </a:rPr>
              <a:t>PUBLISH</a:t>
            </a:r>
            <a:endParaRPr sz="1400" b="1">
              <a:solidFill>
                <a:srgbClr val="122743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43800" y="2633472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262F3A"/>
                </a:solidFill>
              </a:rPr>
              <a:t>Agent Factory creates
&amp; registers agent</a:t>
            </a:r>
            <a:endParaRPr sz="1150">
              <a:solidFill>
                <a:srgbClr val="262F3A"/>
              </a:solidFill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9564624" y="2596896"/>
            <a:ext cx="320040" cy="384048"/>
          </a:xfrm>
          <a:prstGeom prst="rightArrow">
            <a:avLst/>
          </a:prstGeom>
          <a:solidFill>
            <a:srgbClr val="9BA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38359" y="1874519"/>
            <a:ext cx="2121408" cy="1965960"/>
          </a:xfrm>
          <a:prstGeom prst="roundRect">
            <a:avLst/>
          </a:prstGeom>
          <a:solidFill>
            <a:srgbClr val="E7F5ED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479024" y="1536192"/>
            <a:ext cx="640080" cy="640080"/>
          </a:xfrm>
          <a:prstGeom prst="ellipse">
            <a:avLst/>
          </a:prstGeom>
          <a:solidFill>
            <a:srgbClr val="2C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79024" y="1636776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  <a:endParaRPr sz="1500" b="1">
              <a:solidFill>
                <a:srgbClr val="FFFFFF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875519" y="2148840"/>
            <a:ext cx="18470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122743"/>
                </a:solidFill>
              </a:rPr>
              <a:t>USE IN PAYRUN</a:t>
            </a:r>
            <a:endParaRPr sz="1400" b="1">
              <a:solidFill>
                <a:srgbClr val="122743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875519" y="2633472"/>
            <a:ext cx="1847088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50">
                <a:solidFill>
                  <a:srgbClr val="262F3A"/>
                </a:solidFill>
              </a:rPr>
              <a:t>Agent Window in
Payroll experience</a:t>
            </a:r>
            <a:endParaRPr sz="1150">
              <a:solidFill>
                <a:srgbClr val="262F3A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40080" y="431596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743"/>
                </a:solidFill>
              </a:rPr>
              <a:t>Business Value</a:t>
            </a:r>
            <a:endParaRPr sz="1800" b="1">
              <a:solidFill>
                <a:srgbClr val="122743"/>
              </a:solidFill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640080" y="4736592"/>
            <a:ext cx="3566160" cy="123444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4736592"/>
            <a:ext cx="73152" cy="1234440"/>
          </a:xfrm>
          <a:prstGeom prst="rect">
            <a:avLst/>
          </a:prstGeom>
          <a:solidFill>
            <a:srgbClr val="2C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4901183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743"/>
                </a:solidFill>
              </a:rPr>
              <a:t>Faster Time-to-Value</a:t>
            </a:r>
            <a:endParaRPr sz="1700" b="1">
              <a:solidFill>
                <a:srgbClr val="122743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68680" y="5422392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Reusable templates reduce effort to launch new Payroll agents.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43400" y="4736592"/>
            <a:ext cx="3566160" cy="123444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43400" y="4736592"/>
            <a:ext cx="73152" cy="1234440"/>
          </a:xfrm>
          <a:prstGeom prst="rect">
            <a:avLst/>
          </a:prstGeom>
          <a:solidFill>
            <a:srgbClr val="2C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0" y="4901183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743"/>
                </a:solidFill>
              </a:rPr>
              <a:t>Governed AI</a:t>
            </a:r>
            <a:endParaRPr sz="1700" b="1">
              <a:solidFill>
                <a:srgbClr val="122743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572000" y="5422392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Models, tools and domains are controlled through a common configuration path.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46720" y="4736592"/>
            <a:ext cx="3566160" cy="1234440"/>
          </a:xfrm>
          <a:prstGeom prst="roundRect">
            <a:avLst/>
          </a:prstGeom>
          <a:solidFill>
            <a:srgbClr val="F6F8FB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20" y="4736592"/>
            <a:ext cx="73152" cy="1234440"/>
          </a:xfrm>
          <a:prstGeom prst="rect">
            <a:avLst/>
          </a:prstGeom>
          <a:solidFill>
            <a:srgbClr val="2C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4901183"/>
            <a:ext cx="31546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22743"/>
                </a:solidFill>
              </a:rPr>
              <a:t>Scale Across Use Cases</a:t>
            </a:r>
            <a:endParaRPr sz="1700" b="1">
              <a:solidFill>
                <a:srgbClr val="122743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75320" y="5422392"/>
            <a:ext cx="31546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62F3A"/>
                </a:solidFill>
              </a:defRPr>
            </a:pPr>
            <a:r>
              <a:t>One platform supports Summarizer, General Query, Anomaly Detection and future agents.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743"/>
                </a:solidFill>
              </a:rPr>
              <a:t>Think Big — One Foundation, Many Domains</a:t>
            </a:r>
            <a:endParaRPr sz="2700" b="1">
              <a:solidFill>
                <a:srgbClr val="12274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5E6A78"/>
                </a:solidFill>
              </a:rPr>
              <a:t>Payrun is a reference implementation. The platform is designed from day one to support enterprise-wide agent creation.</a:t>
            </a:r>
            <a:endParaRPr sz="1350">
              <a:solidFill>
                <a:srgbClr val="5E6A78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794760" y="1600200"/>
            <a:ext cx="4572000" cy="2971800"/>
          </a:xfrm>
          <a:prstGeom prst="roundRect">
            <a:avLst/>
          </a:prstGeom>
          <a:solidFill>
            <a:srgbClr val="122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60520" y="1874519"/>
            <a:ext cx="3840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</a:rPr>
              <a:t>AGENT TEMPLATE STUDIO</a:t>
            </a:r>
            <a:endParaRPr sz="21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60520" y="2514600"/>
            <a:ext cx="3840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1350">
                <a:solidFill>
                  <a:srgbClr val="FFFFFF"/>
                </a:solidFill>
              </a:defRPr>
            </a:pPr>
            <a:r>
              <a:t>Reusable Agent Templates</a:t>
            </a:r>
          </a:p>
          <a:p>
            <a:pPr algn="ctr">
              <a:spcAft>
                <a:spcPts val="800"/>
              </a:spcAft>
              <a:defRPr sz="1350">
                <a:solidFill>
                  <a:srgbClr val="FFFFFF"/>
                </a:solidFill>
              </a:defRPr>
            </a:pPr>
            <a:r>
              <a:t>Agent Factory</a:t>
            </a:r>
          </a:p>
          <a:p>
            <a:pPr algn="ctr">
              <a:spcAft>
                <a:spcPts val="800"/>
              </a:spcAft>
              <a:defRPr sz="1350">
                <a:solidFill>
                  <a:srgbClr val="FFFFFF"/>
                </a:solidFill>
              </a:defRPr>
            </a:pPr>
            <a:r>
              <a:t>Model + Tool Catalog</a:t>
            </a:r>
          </a:p>
          <a:p>
            <a:pPr algn="ctr">
              <a:spcAft>
                <a:spcPts val="800"/>
              </a:spcAft>
              <a:defRPr sz="1350">
                <a:solidFill>
                  <a:srgbClr val="FFFFFF"/>
                </a:solidFill>
              </a:defRPr>
            </a:pPr>
            <a:r>
              <a:t>Guardrails • Evaluation • Observability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892040"/>
            <a:ext cx="2148840" cy="1097280"/>
          </a:xfrm>
          <a:prstGeom prst="roundRect">
            <a:avLst/>
          </a:prstGeom>
          <a:solidFill>
            <a:srgbClr val="F6F8FB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5029200"/>
            <a:ext cx="19293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22743"/>
                </a:solidFill>
              </a:rPr>
              <a:t>PAYROLL</a:t>
            </a:r>
            <a:endParaRPr sz="1300" b="1">
              <a:solidFill>
                <a:srgbClr val="122743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2648" y="5367527"/>
            <a:ext cx="19293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262F3A"/>
                </a:solidFill>
              </a:rPr>
              <a:t>Payrun is the first
reference use case</a:t>
            </a:r>
            <a:endParaRPr sz="950">
              <a:solidFill>
                <a:srgbClr val="262F3A"/>
              </a:solidFill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880360" y="4892040"/>
            <a:ext cx="2148840" cy="1097280"/>
          </a:xfrm>
          <a:prstGeom prst="roundRect">
            <a:avLst/>
          </a:prstGeom>
          <a:solidFill>
            <a:srgbClr val="F6F8FB"/>
          </a:solidFill>
          <a:ln>
            <a:solidFill>
              <a:srgbClr val="6C4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5029200"/>
            <a:ext cx="19293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22743"/>
                </a:solidFill>
              </a:rPr>
              <a:t>HR</a:t>
            </a:r>
            <a:endParaRPr sz="1300" b="1">
              <a:solidFill>
                <a:srgbClr val="122743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990088" y="5367527"/>
            <a:ext cx="19293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262F3A"/>
                </a:solidFill>
              </a:rPr>
              <a:t>Configure templates
for HR workflows</a:t>
            </a:r>
            <a:endParaRPr sz="950">
              <a:solidFill>
                <a:srgbClr val="262F3A"/>
              </a:solidFill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257800" y="4892040"/>
            <a:ext cx="2148840" cy="1097280"/>
          </a:xfrm>
          <a:prstGeom prst="roundRect">
            <a:avLst/>
          </a:prstGeom>
          <a:solidFill>
            <a:srgbClr val="F6F8FB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7528" y="5029200"/>
            <a:ext cx="19293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22743"/>
                </a:solidFill>
              </a:rPr>
              <a:t>BENEFITS</a:t>
            </a:r>
            <a:endParaRPr sz="1300" b="1">
              <a:solidFill>
                <a:srgbClr val="122743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367528" y="5367527"/>
            <a:ext cx="19293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262F3A"/>
                </a:solidFill>
              </a:rPr>
              <a:t>Reuse foundation for
benefit experiences</a:t>
            </a:r>
            <a:endParaRPr sz="950">
              <a:solidFill>
                <a:srgbClr val="262F3A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635240" y="4892040"/>
            <a:ext cx="2148840" cy="1097280"/>
          </a:xfrm>
          <a:prstGeom prst="roundRect">
            <a:avLst/>
          </a:prstGeom>
          <a:solidFill>
            <a:srgbClr val="F6F8FB"/>
          </a:solidFill>
          <a:ln>
            <a:solidFill>
              <a:srgbClr val="D6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44967" y="5029200"/>
            <a:ext cx="19293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22743"/>
                </a:solidFill>
              </a:rPr>
              <a:t>COMPLIANCE</a:t>
            </a:r>
            <a:endParaRPr sz="1300" b="1">
              <a:solidFill>
                <a:srgbClr val="122743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44967" y="5367527"/>
            <a:ext cx="19293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262F3A"/>
                </a:solidFill>
              </a:rPr>
              <a:t>Domain tools +
controlled workflows</a:t>
            </a:r>
            <a:endParaRPr sz="950">
              <a:solidFill>
                <a:srgbClr val="262F3A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0012680" y="4892040"/>
            <a:ext cx="1691640" cy="1097280"/>
          </a:xfrm>
          <a:prstGeom prst="roundRect">
            <a:avLst/>
          </a:prstGeom>
          <a:solidFill>
            <a:srgbClr val="F6F8FB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22407" y="5029200"/>
            <a:ext cx="1472184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122743"/>
                </a:solidFill>
              </a:rPr>
              <a:t>FUTURE</a:t>
            </a:r>
            <a:endParaRPr sz="1300" b="1">
              <a:solidFill>
                <a:srgbClr val="122743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122407" y="5367527"/>
            <a:ext cx="147218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>
                <a:solidFill>
                  <a:srgbClr val="262F3A"/>
                </a:solidFill>
              </a:rPr>
              <a:t>New domains
without new platform</a:t>
            </a:r>
            <a:endParaRPr sz="950">
              <a:solidFill>
                <a:srgbClr val="262F3A"/>
              </a:solidFill>
            </a:endParaRPr>
          </a:p>
        </p:txBody>
      </p:sp>
      <p:sp>
        <p:nvSpPr>
          <p:cNvPr id="22" name="Down Arrow 21"/>
          <p:cNvSpPr/>
          <p:nvPr/>
        </p:nvSpPr>
        <p:spPr>
          <a:xfrm>
            <a:off x="1554480" y="4315968"/>
            <a:ext cx="320040" cy="438912"/>
          </a:xfrm>
          <a:prstGeom prst="downArrow">
            <a:avLst/>
          </a:prstGeom>
          <a:solidFill>
            <a:srgbClr val="5E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3931920" y="4315968"/>
            <a:ext cx="320040" cy="438912"/>
          </a:xfrm>
          <a:prstGeom prst="downArrow">
            <a:avLst/>
          </a:prstGeom>
          <a:solidFill>
            <a:srgbClr val="5E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6309360" y="4315968"/>
            <a:ext cx="320040" cy="438912"/>
          </a:xfrm>
          <a:prstGeom prst="downArrow">
            <a:avLst/>
          </a:prstGeom>
          <a:solidFill>
            <a:srgbClr val="5E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8686800" y="4315968"/>
            <a:ext cx="320040" cy="438912"/>
          </a:xfrm>
          <a:prstGeom prst="downArrow">
            <a:avLst/>
          </a:prstGeom>
          <a:solidFill>
            <a:srgbClr val="5E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10835640" y="4315968"/>
            <a:ext cx="320040" cy="438912"/>
          </a:xfrm>
          <a:prstGeom prst="downArrow">
            <a:avLst/>
          </a:prstGeom>
          <a:solidFill>
            <a:srgbClr val="5E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6144768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22743"/>
                </a:solidFill>
              </a:rPr>
              <a:t>Build templates once → configure by domain → generate many purpose-built agents without rebuilding the foundation.</a:t>
            </a:r>
            <a:endParaRPr sz="1500" b="1">
              <a:solidFill>
                <a:srgbClr val="12274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700" b="1">
                <a:solidFill>
                  <a:srgbClr val="122743"/>
                </a:solidFill>
              </a:rPr>
              <a:t>Agent Template Studio — Foundational Agent Platform</a:t>
            </a:r>
            <a:endParaRPr sz="2700" b="1">
              <a:solidFill>
                <a:srgbClr val="122743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108813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50">
                <a:solidFill>
                  <a:srgbClr val="5E6A78"/>
                </a:solidFill>
              </a:rPr>
              <a:t>A shared enterprise capability for building domain-specific agents from reusable templates, configurations, models and tools.</a:t>
            </a:r>
            <a:endParaRPr sz="1350">
              <a:solidFill>
                <a:srgbClr val="5E6A78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02920" y="1600200"/>
            <a:ext cx="2560320" cy="4251960"/>
          </a:xfrm>
          <a:prstGeom prst="roundRect">
            <a:avLst/>
          </a:prstGeom>
          <a:solidFill>
            <a:srgbClr val="F6F3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64008" cy="4251960"/>
          </a:xfrm>
          <a:prstGeom prst="rect">
            <a:avLst/>
          </a:prstGeom>
          <a:solidFill>
            <a:srgbClr val="6C4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7373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743"/>
                </a:solidFill>
              </a:rPr>
              <a:t>1  TEMPLATE CATALOG</a:t>
            </a:r>
            <a:endParaRPr sz="1500" b="1">
              <a:solidFill>
                <a:srgbClr val="12274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4088" y="2176272"/>
            <a:ext cx="219456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Reusable agent patterns: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Anomaly Detection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Summarizer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General Query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Failure Investigation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Future enterprise templates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1600200"/>
            <a:ext cx="2514600" cy="4251960"/>
          </a:xfrm>
          <a:prstGeom prst="roundRect">
            <a:avLst/>
          </a:prstGeom>
          <a:solidFill>
            <a:srgbClr val="E8F2FA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10128" y="1600200"/>
            <a:ext cx="64008" cy="4251960"/>
          </a:xfrm>
          <a:prstGeom prst="rect">
            <a:avLst/>
          </a:prstGeom>
          <a:solidFill>
            <a:srgbClr val="256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1296" y="1737360"/>
            <a:ext cx="2148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743"/>
                </a:solidFill>
              </a:rPr>
              <a:t>2  DOMAIN CONFIGURATION</a:t>
            </a:r>
            <a:endParaRPr sz="1500" b="1">
              <a:solidFill>
                <a:srgbClr val="122743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11296" y="2176272"/>
            <a:ext cx="214884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Each domain configures: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Agent purpose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Domain / service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Model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Instructions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Approved tools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UI / workflow attachment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1600200"/>
            <a:ext cx="2423160" cy="4251960"/>
          </a:xfrm>
          <a:prstGeom prst="roundRect">
            <a:avLst/>
          </a:prstGeom>
          <a:solidFill>
            <a:srgbClr val="FCF6EE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80760" y="1600200"/>
            <a:ext cx="64008" cy="4251960"/>
          </a:xfrm>
          <a:prstGeom prst="rect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73736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743"/>
                </a:solidFill>
              </a:rPr>
              <a:t>3  AGENT FACTORY</a:t>
            </a:r>
            <a:endParaRPr sz="1500" b="1">
              <a:solidFill>
                <a:srgbClr val="122743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81928" y="2176272"/>
            <a:ext cx="205740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Shared backend foundation: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Loads template + config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Selects model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Binds tools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Applies guardrails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Creates / registers agent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59952" y="1600200"/>
            <a:ext cx="2880360" cy="4251960"/>
          </a:xfrm>
          <a:prstGeom prst="roundRect">
            <a:avLst/>
          </a:prstGeom>
          <a:solidFill>
            <a:srgbClr val="EBF7F0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59952" y="1600200"/>
            <a:ext cx="64008" cy="4251960"/>
          </a:xfrm>
          <a:prstGeom prst="rect">
            <a:avLst/>
          </a:prstGeom>
          <a:solidFill>
            <a:srgbClr val="2C7A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0" y="1737360"/>
            <a:ext cx="2514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22743"/>
                </a:solidFill>
              </a:rPr>
              <a:t>4  DOMAIN AGENTS</a:t>
            </a:r>
            <a:endParaRPr sz="1500" b="1">
              <a:solidFill>
                <a:srgbClr val="12274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961120" y="2176272"/>
            <a:ext cx="251460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Purpose-built instances: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Payroll / Payrun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HR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Benefits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Compliance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• Other enterprise domains</a:t>
            </a: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</a:p>
          <a:p>
            <a:pPr>
              <a:spcAft>
                <a:spcPts val="500"/>
              </a:spcAft>
              <a:defRPr sz="1150">
                <a:solidFill>
                  <a:srgbClr val="262F3A"/>
                </a:solidFill>
              </a:defRPr>
            </a:pPr>
            <a:r>
              <a:t>Same foundation. Different domain context.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3090672" y="3337560"/>
            <a:ext cx="182880" cy="384048"/>
          </a:xfrm>
          <a:prstGeom prst="rightArrow">
            <a:avLst/>
          </a:prstGeom>
          <a:solidFill>
            <a:srgbClr val="5E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5852160" y="3337560"/>
            <a:ext cx="182880" cy="384048"/>
          </a:xfrm>
          <a:prstGeom prst="rightArrow">
            <a:avLst/>
          </a:prstGeom>
          <a:solidFill>
            <a:srgbClr val="5E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8531352" y="3337560"/>
            <a:ext cx="182880" cy="384048"/>
          </a:xfrm>
          <a:prstGeom prst="rightArrow">
            <a:avLst/>
          </a:prstGeom>
          <a:solidFill>
            <a:srgbClr val="5E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035040"/>
            <a:ext cx="10332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50" b="1">
                <a:solidFill>
                  <a:srgbClr val="122743"/>
                </a:solidFill>
              </a:rPr>
              <a:t>Platform owns the reusable foundation. Domains own their configuration, tools and business use cases.</a:t>
            </a:r>
            <a:endParaRPr sz="1550" b="1">
              <a:solidFill>
                <a:srgbClr val="122743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BFD"/>
          </a:solidFill>
          <a:ln>
            <a:solidFill>
              <a:srgbClr val="F9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52144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300" b="1">
                <a:solidFill>
                  <a:srgbClr val="102B4E"/>
                </a:solidFill>
                <a:latin typeface="Aptos"/>
              </a:rPr>
              <a:t>Agent Template Studio — From Reusable Template to Domain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594360"/>
            <a:ext cx="11247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80" b="0">
                <a:solidFill>
                  <a:srgbClr val="5B6C85"/>
                </a:solidFill>
                <a:latin typeface="Aptos"/>
              </a:rPr>
              <a:t>Templates provide out-of-the-box capabilities. Domains extend them with their own tools and APIs, then discover and connect the agents available to their service.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514600" cy="4160520"/>
          </a:xfrm>
          <a:prstGeom prst="roundRect">
            <a:avLst/>
          </a:prstGeom>
          <a:solidFill>
            <a:srgbClr val="F8F4FF"/>
          </a:solidFill>
          <a:ln>
            <a:solidFill>
              <a:srgbClr val="6A4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429000" y="1417320"/>
            <a:ext cx="3657600" cy="4160520"/>
          </a:xfrm>
          <a:prstGeom prst="roundRect">
            <a:avLst/>
          </a:prstGeom>
          <a:solidFill>
            <a:srgbClr val="EFF7FF"/>
          </a:solidFill>
          <a:ln>
            <a:solidFill>
              <a:srgbClr val="14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498079" y="1417320"/>
            <a:ext cx="4160520" cy="4160520"/>
          </a:xfrm>
          <a:prstGeom prst="roundRect">
            <a:avLst/>
          </a:prstGeom>
          <a:solidFill>
            <a:srgbClr val="EFFAF5"/>
          </a:solidFill>
          <a:ln>
            <a:solidFill>
              <a:srgbClr val="0C9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91640"/>
            <a:ext cx="1920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6A40BE"/>
                </a:solidFill>
                <a:latin typeface="Aptos"/>
              </a:rPr>
              <a:t>1  CREATE AGENT
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192024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102B4E"/>
                </a:solidFill>
                <a:latin typeface="Aptos"/>
              </a:rPr>
              <a:t>Reusable capabilities out of the 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187451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1F3049"/>
                </a:solidFill>
                <a:latin typeface="Aptos"/>
              </a:rPr>
              <a:t>• Agent behavior / instructions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82112"/>
            <a:ext cx="187451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1F3049"/>
                </a:solidFill>
                <a:latin typeface="Aptos"/>
              </a:rPr>
              <a:t>• Model configuration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21024"/>
            <a:ext cx="187451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1F3049"/>
                </a:solidFill>
                <a:latin typeface="Aptos"/>
              </a:rPr>
              <a:t>• Common utilities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59935"/>
            <a:ext cx="187451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1F3049"/>
                </a:solidFill>
                <a:latin typeface="Aptos"/>
              </a:rPr>
              <a:t>• Base guardrails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498848"/>
            <a:ext cx="187451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1F3049"/>
                </a:solidFill>
                <a:latin typeface="Aptos"/>
              </a:rPr>
              <a:t>• Evaluation / observability hooks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983480"/>
            <a:ext cx="19202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1F3049"/>
                </a:solidFill>
                <a:latin typeface="Aptos"/>
              </a:rPr>
              <a:t>Examples: Summarizer • Anomaly Detection • General Query • Investigation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1691640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1469DC"/>
                </a:solidFill>
                <a:latin typeface="Aptos"/>
              </a:rPr>
              <a:t>2  CONFIGURE FOR A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2148840"/>
            <a:ext cx="283464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102B4E"/>
                </a:solidFill>
                <a:latin typeface="Aptos"/>
              </a:rPr>
              <a:t>Example: Payroll Service selects a template and extends it with domain context.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2743200"/>
            <a:ext cx="2743200" cy="960120"/>
          </a:xfrm>
          <a:prstGeom prst="roundRect">
            <a:avLst/>
          </a:prstGeom>
          <a:solidFill>
            <a:srgbClr val="102B4E"/>
          </a:solidFill>
          <a:ln>
            <a:solidFill>
              <a:srgbClr val="10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200" y="2999232"/>
            <a:ext cx="27432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AGENT FACTORY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3310128"/>
            <a:ext cx="27432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Template + Config + Tools →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8" y="3977639"/>
            <a:ext cx="283464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102B4E"/>
                </a:solidFill>
                <a:latin typeface="Aptos"/>
              </a:rPr>
              <a:t>Domain adds: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343400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40" b="0">
                <a:solidFill>
                  <a:srgbClr val="1F3049"/>
                </a:solidFill>
                <a:latin typeface="Aptos"/>
              </a:rPr>
              <a:t>• Payroll APIs / service endpoints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77316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40" b="0">
                <a:solidFill>
                  <a:srgbClr val="1F3049"/>
                </a:solidFill>
                <a:latin typeface="Aptos"/>
              </a:rPr>
              <a:t>• Payroll-specific 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5202936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40" b="0">
                <a:solidFill>
                  <a:srgbClr val="1F3049"/>
                </a:solidFill>
                <a:latin typeface="Aptos"/>
              </a:rPr>
              <a:t>• Domain instructions &amp; permissions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5552" y="1691640"/>
            <a:ext cx="32918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0C9658"/>
                </a:solidFill>
                <a:latin typeface="Aptos"/>
              </a:rPr>
              <a:t>3  DISCOVER &amp; CONNECT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2148840"/>
            <a:ext cx="324612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102B4E"/>
                </a:solidFill>
                <a:latin typeface="Aptos"/>
              </a:rPr>
              <a:t>The service needs a standard way to know which agents are available to it.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09560" y="2743200"/>
            <a:ext cx="3200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0C9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9560" y="2971800"/>
            <a:ext cx="32004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102B4E"/>
                </a:solidFill>
                <a:latin typeface="Aptos"/>
              </a:rPr>
              <a:t>AGENT REGISTRY /
CATALOG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9560" y="3401568"/>
            <a:ext cx="32004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80" b="0">
                <a:solidFill>
                  <a:srgbClr val="5B6C85"/>
                </a:solidFill>
                <a:latin typeface="Aptos"/>
              </a:rPr>
              <a:t>service → available 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4069080"/>
            <a:ext cx="3108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102B4E"/>
                </a:solidFill>
                <a:latin typeface="Aptos"/>
              </a:rPr>
              <a:t>Payroll Service can: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434840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30" b="0">
                <a:solidFill>
                  <a:srgbClr val="1F3049"/>
                </a:solidFill>
                <a:latin typeface="Aptos"/>
              </a:rPr>
              <a:t>• GET /agents?domain=payroll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4846320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30" b="0">
                <a:solidFill>
                  <a:srgbClr val="1F3049"/>
                </a:solidFill>
                <a:latin typeface="Aptos"/>
              </a:rPr>
              <a:t>• List eligible / enabled agents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5257800"/>
            <a:ext cx="29718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30" b="0">
                <a:solidFill>
                  <a:srgbClr val="1F3049"/>
                </a:solidFill>
                <a:latin typeface="Aptos"/>
              </a:rPr>
              <a:t>• Connect agent to page or workflow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063240" y="3154680"/>
            <a:ext cx="301752" cy="0"/>
          </a:xfrm>
          <a:prstGeom prst="line">
            <a:avLst/>
          </a:prstGeom>
          <a:ln w="38100">
            <a:solidFill>
              <a:srgbClr val="EB7E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114032" y="3154680"/>
            <a:ext cx="310895" cy="0"/>
          </a:xfrm>
          <a:prstGeom prst="line">
            <a:avLst/>
          </a:prstGeom>
          <a:ln w="38100">
            <a:solidFill>
              <a:srgbClr val="EB7E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822960" y="5806440"/>
            <a:ext cx="10515600" cy="566928"/>
          </a:xfrm>
          <a:prstGeom prst="roundRect">
            <a:avLst/>
          </a:prstGeom>
          <a:solidFill>
            <a:srgbClr val="102B4E"/>
          </a:solidFill>
          <a:ln>
            <a:solidFill>
              <a:srgbClr val="10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5961888"/>
            <a:ext cx="10241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Aptos"/>
              </a:rPr>
              <a:t>Runtime example: Payroll Service → discover available agents → select Payrun Summarizer / Anomaly Agent → invoke through a common Agent Runtime API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1155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22743"/>
                </a:solidFill>
              </a:rPr>
              <a:t>Agent Template Studio — Template Marketplace</a:t>
            </a:r>
            <a:endParaRPr sz="2400" b="1">
              <a:solidFill>
                <a:srgbClr val="1227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5488" y="6583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80" b="0">
                <a:solidFill>
                  <a:srgbClr val="5E6A78"/>
                </a:solidFill>
              </a:rPr>
              <a:t>Select a reusable template, review its built-in capabilities and runtime pattern, then configure it for your domain.</a:t>
            </a:r>
            <a:endParaRPr sz="1180" b="0">
              <a:solidFill>
                <a:srgbClr val="5E6A7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11480" y="1097280"/>
            <a:ext cx="11384280" cy="534924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1874519" cy="5349240"/>
          </a:xfrm>
          <a:prstGeom prst="rect">
            <a:avLst/>
          </a:prstGeom>
          <a:solidFill>
            <a:srgbClr val="182B44"/>
          </a:solidFill>
          <a:ln>
            <a:solidFill>
              <a:srgbClr val="182B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71600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AGENT STUDIO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1874519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Templates</a:t>
            </a:r>
            <a:endParaRPr sz="1100" b="1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" y="226771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ECAD8"/>
                </a:solidFill>
              </a:rPr>
              <a:t>My Agents</a:t>
            </a:r>
            <a:endParaRPr sz="1050" b="0">
              <a:solidFill>
                <a:srgbClr val="BECAD8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58368" y="263347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ECAD8"/>
                </a:solidFill>
              </a:rPr>
              <a:t>Tools &amp; APIs</a:t>
            </a:r>
            <a:endParaRPr sz="1050" b="0">
              <a:solidFill>
                <a:srgbClr val="BECAD8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" y="299923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ECAD8"/>
                </a:solidFill>
              </a:rPr>
              <a:t>Models</a:t>
            </a:r>
            <a:endParaRPr sz="1050" b="0">
              <a:solidFill>
                <a:srgbClr val="BECAD8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" y="336499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ECAD8"/>
                </a:solidFill>
              </a:rPr>
              <a:t>Agent Registry</a:t>
            </a:r>
            <a:endParaRPr sz="1050" b="0">
              <a:solidFill>
                <a:srgbClr val="BECAD8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3730752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BECAD8"/>
                </a:solidFill>
              </a:rPr>
              <a:t>Evaluation</a:t>
            </a:r>
            <a:endParaRPr sz="1050" b="0">
              <a:solidFill>
                <a:srgbClr val="BECAD8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606040" y="1353312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2743"/>
                </a:solidFill>
              </a:rPr>
              <a:t>Create Agent from Template</a:t>
            </a:r>
            <a:endParaRPr sz="1600" b="1">
              <a:solidFill>
                <a:srgbClr val="122743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06040" y="1700784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E6A78"/>
                </a:solidFill>
              </a:rPr>
              <a:t>Choose a template that matches the runtime behavior you need.</a:t>
            </a:r>
            <a:endParaRPr sz="1050" b="0">
              <a:solidFill>
                <a:srgbClr val="5E6A78"/>
              </a:solidFill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412480" y="1353312"/>
            <a:ext cx="283464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1472184"/>
            <a:ext cx="23317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80" b="0">
                <a:solidFill>
                  <a:srgbClr val="5E6A78"/>
                </a:solidFill>
              </a:rPr>
              <a:t>Search templates…</a:t>
            </a:r>
            <a:endParaRPr sz="980" b="0">
              <a:solidFill>
                <a:srgbClr val="5E6A78"/>
              </a:solidFill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2606040" y="2148840"/>
            <a:ext cx="1993392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752344" y="2313432"/>
            <a:ext cx="420624" cy="420624"/>
          </a:xfrm>
          <a:prstGeom prst="roundRect">
            <a:avLst/>
          </a:prstGeom>
          <a:solidFill>
            <a:srgbClr val="FDF7EF"/>
          </a:solidFill>
          <a:ln>
            <a:solidFill>
              <a:srgbClr val="D6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64408" y="23042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22743"/>
                </a:solidFill>
              </a:rPr>
              <a:t>Anomaly Detection</a:t>
            </a:r>
            <a:endParaRPr sz="1130" b="1">
              <a:solidFill>
                <a:srgbClr val="122743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264408" y="262432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D67E2D"/>
                </a:solidFill>
              </a:rPr>
              <a:t>REAL-TIME</a:t>
            </a:r>
            <a:endParaRPr sz="880" b="1">
              <a:solidFill>
                <a:srgbClr val="D67E2D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752344" y="2953512"/>
            <a:ext cx="1700784" cy="10972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70632" y="310896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Streaming / event input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70632" y="342900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History + rules utilities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70632" y="374904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Detect • score • alert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2770632" y="3995928"/>
            <a:ext cx="1664208" cy="274320"/>
          </a:xfrm>
          <a:prstGeom prst="roundRect">
            <a:avLst/>
          </a:prstGeom>
          <a:solidFill>
            <a:srgbClr val="FDF7EF"/>
          </a:solidFill>
          <a:ln>
            <a:solidFill>
              <a:srgbClr val="D6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70632" y="4046220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" b="1">
                <a:solidFill>
                  <a:srgbClr val="D67E2D"/>
                </a:solidFill>
              </a:rPr>
              <a:t>Use Template</a:t>
            </a:r>
            <a:endParaRPr sz="920" b="1">
              <a:solidFill>
                <a:srgbClr val="D67E2D"/>
              </a:solidFill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773168" y="2148840"/>
            <a:ext cx="1993392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919472" y="2313432"/>
            <a:ext cx="420624" cy="420624"/>
          </a:xfrm>
          <a:prstGeom prst="roundRect">
            <a:avLst/>
          </a:prstGeom>
          <a:solidFill>
            <a:srgbClr val="EEF8F2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31536" y="23042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22743"/>
                </a:solidFill>
              </a:rPr>
              <a:t>Summarizer</a:t>
            </a:r>
            <a:endParaRPr sz="1130" b="1">
              <a:solidFill>
                <a:srgbClr val="122743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431536" y="262432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2C7A56"/>
                </a:solidFill>
              </a:rPr>
              <a:t>OFFLINE</a:t>
            </a:r>
            <a:endParaRPr sz="880" b="1">
              <a:solidFill>
                <a:srgbClr val="2C7A56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4919472" y="2953512"/>
            <a:ext cx="1700784" cy="10972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59" y="310896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On-demand / scheduled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37759" y="342900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Context retrieval utilities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937759" y="374904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Summarize • structure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937759" y="3995928"/>
            <a:ext cx="1664208" cy="274320"/>
          </a:xfrm>
          <a:prstGeom prst="roundRect">
            <a:avLst/>
          </a:prstGeom>
          <a:solidFill>
            <a:srgbClr val="EEF8F2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59" y="4046220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" b="1">
                <a:solidFill>
                  <a:srgbClr val="2C7A56"/>
                </a:solidFill>
              </a:rPr>
              <a:t>Use Template</a:t>
            </a:r>
            <a:endParaRPr sz="920" b="1">
              <a:solidFill>
                <a:srgbClr val="2C7A56"/>
              </a:solidFill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6940296" y="2148840"/>
            <a:ext cx="1993392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086600" y="2313432"/>
            <a:ext cx="420624" cy="420624"/>
          </a:xfrm>
          <a:prstGeom prst="roundRect">
            <a:avLst/>
          </a:prstGeom>
          <a:solidFill>
            <a:srgbClr val="ECF5FC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98664" y="23042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22743"/>
                </a:solidFill>
              </a:rPr>
              <a:t>General Query</a:t>
            </a:r>
            <a:endParaRPr sz="1130" b="1">
              <a:solidFill>
                <a:srgbClr val="122743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598664" y="262432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2563A0"/>
                </a:solidFill>
              </a:rPr>
              <a:t>INTERACTIVE</a:t>
            </a:r>
            <a:endParaRPr sz="880" b="1">
              <a:solidFill>
                <a:srgbClr val="2563A0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086600" y="2953512"/>
            <a:ext cx="1700784" cy="10972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04888" y="310896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Question + context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104888" y="342900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Tool-calling pattern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104888" y="374904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Reason • answer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7104888" y="3995928"/>
            <a:ext cx="1664208" cy="274320"/>
          </a:xfrm>
          <a:prstGeom prst="roundRect">
            <a:avLst/>
          </a:prstGeom>
          <a:solidFill>
            <a:srgbClr val="ECF5FC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04888" y="4046220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" b="1">
                <a:solidFill>
                  <a:srgbClr val="2563A0"/>
                </a:solidFill>
              </a:rPr>
              <a:t>Use Template</a:t>
            </a:r>
            <a:endParaRPr sz="920" b="1">
              <a:solidFill>
                <a:srgbClr val="2563A0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9107424" y="2148840"/>
            <a:ext cx="1993392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253728" y="2313432"/>
            <a:ext cx="420624" cy="420624"/>
          </a:xfrm>
          <a:prstGeom prst="roundRect">
            <a:avLst/>
          </a:prstGeom>
          <a:solidFill>
            <a:srgbClr val="F7F3FB"/>
          </a:solidFill>
          <a:ln>
            <a:solidFill>
              <a:srgbClr val="6C4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765792" y="230428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30" b="1">
                <a:solidFill>
                  <a:srgbClr val="122743"/>
                </a:solidFill>
              </a:rPr>
              <a:t>Incident Generator</a:t>
            </a:r>
            <a:endParaRPr sz="1130" b="1">
              <a:solidFill>
                <a:srgbClr val="122743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765792" y="262432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>
                <a:solidFill>
                  <a:srgbClr val="6C4C9B"/>
                </a:solidFill>
              </a:rPr>
              <a:t>EVENT-DRIVEN</a:t>
            </a:r>
            <a:endParaRPr sz="880" b="1">
              <a:solidFill>
                <a:srgbClr val="6C4C9B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9253728" y="2953512"/>
            <a:ext cx="1700784" cy="10972"/>
          </a:xfrm>
          <a:prstGeom prst="rect">
            <a:avLst/>
          </a:prstGeom>
          <a:solidFill>
            <a:srgbClr val="DAE0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72016" y="310896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Failure / alert signal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272016" y="342900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Evidence utilities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9272016" y="3749040"/>
            <a:ext cx="16642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20" b="0">
                <a:solidFill>
                  <a:srgbClr val="262F3A"/>
                </a:solidFill>
              </a:rPr>
              <a:t>• Create • enrich • route</a:t>
            </a:r>
            <a:endParaRPr sz="920" b="0">
              <a:solidFill>
                <a:srgbClr val="262F3A"/>
              </a:solidFill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9272016" y="3995928"/>
            <a:ext cx="1664208" cy="274320"/>
          </a:xfrm>
          <a:prstGeom prst="roundRect">
            <a:avLst/>
          </a:prstGeom>
          <a:solidFill>
            <a:srgbClr val="F7F3FB"/>
          </a:solidFill>
          <a:ln>
            <a:solidFill>
              <a:srgbClr val="6C4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72016" y="4046220"/>
            <a:ext cx="16642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20" b="1">
                <a:solidFill>
                  <a:srgbClr val="6C4C9B"/>
                </a:solidFill>
              </a:rPr>
              <a:t>Use Template</a:t>
            </a:r>
            <a:endParaRPr sz="920" b="1">
              <a:solidFill>
                <a:srgbClr val="6C4C9B"/>
              </a:solidFill>
            </a:endParaRPr>
          </a:p>
        </p:txBody>
      </p:sp>
      <p:sp>
        <p:nvSpPr>
          <p:cNvPr id="58" name="Rounded Rectangle 57"/>
          <p:cNvSpPr/>
          <p:nvPr/>
        </p:nvSpPr>
        <p:spPr>
          <a:xfrm>
            <a:off x="2606040" y="4645152"/>
            <a:ext cx="8494776" cy="1444752"/>
          </a:xfrm>
          <a:prstGeom prst="roundRect">
            <a:avLst/>
          </a:prstGeom>
          <a:solidFill>
            <a:srgbClr val="FAFBFD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788920" y="480060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20" b="1">
                <a:solidFill>
                  <a:srgbClr val="D67E2D"/>
                </a:solidFill>
              </a:rPr>
              <a:t>Example: Configure Anomaly Detection</a:t>
            </a:r>
            <a:endParaRPr sz="1220" b="1">
              <a:solidFill>
                <a:srgbClr val="D67E2D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788920" y="51480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E6A78"/>
                </a:solidFill>
              </a:rPr>
              <a:t>Domain</a:t>
            </a:r>
            <a:endParaRPr sz="900" b="1">
              <a:solidFill>
                <a:srgbClr val="5E6A78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2788920" y="53675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20" b="1">
                <a:solidFill>
                  <a:srgbClr val="122743"/>
                </a:solidFill>
              </a:rPr>
              <a:t>Payroll / Payrun</a:t>
            </a:r>
            <a:endParaRPr sz="1020" b="1">
              <a:solidFill>
                <a:srgbClr val="122743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4572000" y="51480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E6A78"/>
                </a:solidFill>
              </a:rPr>
              <a:t>Runtime</a:t>
            </a:r>
            <a:endParaRPr sz="900" b="1">
              <a:solidFill>
                <a:srgbClr val="5E6A78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572000" y="53675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20" b="1">
                <a:solidFill>
                  <a:srgbClr val="122743"/>
                </a:solidFill>
              </a:rPr>
              <a:t>Real-time / long-running</a:t>
            </a:r>
            <a:endParaRPr sz="1020" b="1">
              <a:solidFill>
                <a:srgbClr val="122743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537960" y="514807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5E6A78"/>
                </a:solidFill>
              </a:rPr>
              <a:t>Add Tools / APIs</a:t>
            </a:r>
            <a:endParaRPr sz="900" b="1">
              <a:solidFill>
                <a:srgbClr val="5E6A78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537960" y="5367528"/>
            <a:ext cx="2148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20" b="1">
                <a:solidFill>
                  <a:srgbClr val="122743"/>
                </a:solidFill>
              </a:rPr>
              <a:t>History • Rules • Alert API</a:t>
            </a:r>
            <a:endParaRPr sz="1020" b="1">
              <a:solidFill>
                <a:srgbClr val="122743"/>
              </a:solidFill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9326880" y="5148072"/>
            <a:ext cx="1508760" cy="420624"/>
          </a:xfrm>
          <a:prstGeom prst="roundRect">
            <a:avLst/>
          </a:prstGeom>
          <a:solidFill>
            <a:srgbClr val="122743"/>
          </a:solidFill>
          <a:ln>
            <a:solidFill>
              <a:srgbClr val="12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26880" y="5257800"/>
            <a:ext cx="1508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Configure →</a:t>
            </a:r>
            <a:endParaRPr sz="1000" b="1">
              <a:solidFill>
                <a:srgbClr val="FFFFFF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2606040" y="6190488"/>
            <a:ext cx="8458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5E6A78"/>
                </a:solidFill>
              </a:rPr>
              <a:t>UI concept: templates feel like reusable products in a catalog; selecting one opens domain-specific configuration before the Agent Factory creates the agent.</a:t>
            </a:r>
            <a:endParaRPr sz="950" b="0">
              <a:solidFill>
                <a:srgbClr val="5E6A78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536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300" b="1">
                <a:solidFill>
                  <a:srgbClr val="122743"/>
                </a:solidFill>
              </a:rPr>
              <a:t>Agent Factory APIs &amp; Service Agent Discovery</a:t>
            </a:r>
            <a:endParaRPr sz="2300" b="1">
              <a:solidFill>
                <a:srgbClr val="1227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731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60" b="0">
                <a:solidFill>
                  <a:srgbClr val="5E6A78"/>
                </a:solidFill>
              </a:rPr>
              <a:t>Agent Factory manages reusable templates. Domain services discover the agents created for them and invoke those agents through service-level APIs.</a:t>
            </a:r>
            <a:endParaRPr sz="1160" b="0">
              <a:solidFill>
                <a:srgbClr val="5E6A7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1737360" cy="1170432"/>
          </a:xfrm>
          <a:prstGeom prst="roundRect">
            <a:avLst/>
          </a:prstGeom>
          <a:solidFill>
            <a:srgbClr val="E9F3FB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399032"/>
            <a:ext cx="148132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30" b="1">
                <a:solidFill>
                  <a:srgbClr val="122743"/>
                </a:solidFill>
              </a:rPr>
              <a:t>Agent Studio</a:t>
            </a:r>
            <a:endParaRPr sz="1230" b="1">
              <a:solidFill>
                <a:srgbClr val="12274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0936" y="1746504"/>
            <a:ext cx="148132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62F3A"/>
                </a:solidFill>
              </a:rPr>
              <a:t>Create / update
agent templates</a:t>
            </a:r>
            <a:endParaRPr sz="940" b="0">
              <a:solidFill>
                <a:srgbClr val="262F3A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542032" y="1234440"/>
            <a:ext cx="1828800" cy="1170432"/>
          </a:xfrm>
          <a:prstGeom prst="roundRect">
            <a:avLst/>
          </a:prstGeom>
          <a:solidFill>
            <a:srgbClr val="F7F3FB"/>
          </a:solidFill>
          <a:ln>
            <a:solidFill>
              <a:srgbClr val="6C4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70048" y="1399032"/>
            <a:ext cx="157276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30" b="1">
                <a:solidFill>
                  <a:srgbClr val="122743"/>
                </a:solidFill>
              </a:rPr>
              <a:t>Templates</a:t>
            </a:r>
            <a:endParaRPr sz="1230" b="1">
              <a:solidFill>
                <a:srgbClr val="122743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670048" y="1746504"/>
            <a:ext cx="157276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62F3A"/>
                </a:solidFill>
              </a:rPr>
              <a:t>Anomaly Detection
Summarizer
General Query</a:t>
            </a:r>
            <a:endParaRPr sz="940" b="0">
              <a:solidFill>
                <a:srgbClr val="262F3A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681728" y="1234440"/>
            <a:ext cx="1874519" cy="1170432"/>
          </a:xfrm>
          <a:prstGeom prst="roundRect">
            <a:avLst/>
          </a:prstGeom>
          <a:solidFill>
            <a:srgbClr val="122743"/>
          </a:solidFill>
          <a:ln>
            <a:solidFill>
              <a:srgbClr val="12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9744" y="1399032"/>
            <a:ext cx="1618487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30" b="1">
                <a:solidFill>
                  <a:srgbClr val="FFFFFF"/>
                </a:solidFill>
              </a:rPr>
              <a:t>Agent Factory</a:t>
            </a:r>
            <a:endParaRPr sz="1230" b="1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09744" y="1746504"/>
            <a:ext cx="1618487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FFFFFF"/>
                </a:solidFill>
              </a:rPr>
              <a:t>Builds agent using
template config</a:t>
            </a:r>
            <a:endParaRPr sz="940" b="0">
              <a:solidFill>
                <a:srgbClr val="FFFFFF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876288" y="1234440"/>
            <a:ext cx="1920240" cy="1170432"/>
          </a:xfrm>
          <a:prstGeom prst="roundRect">
            <a:avLst/>
          </a:prstGeom>
          <a:solidFill>
            <a:srgbClr val="EBF7F0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04303" y="1399032"/>
            <a:ext cx="166420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30" b="1">
                <a:solidFill>
                  <a:srgbClr val="122743"/>
                </a:solidFill>
              </a:rPr>
              <a:t>Agent Registry</a:t>
            </a:r>
            <a:endParaRPr sz="1230" b="1">
              <a:solidFill>
                <a:srgbClr val="12274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04303" y="1746504"/>
            <a:ext cx="166420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62F3A"/>
                </a:solidFill>
              </a:rPr>
              <a:t>Agents created
for each service</a:t>
            </a:r>
            <a:endParaRPr sz="940" b="0">
              <a:solidFill>
                <a:srgbClr val="262F3A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9125712" y="1234440"/>
            <a:ext cx="2423160" cy="1170432"/>
          </a:xfrm>
          <a:prstGeom prst="roundRect">
            <a:avLst/>
          </a:prstGeom>
          <a:solidFill>
            <a:srgbClr val="FCF6EE"/>
          </a:solidFill>
          <a:ln>
            <a:solidFill>
              <a:srgbClr val="D6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3728" y="1399032"/>
            <a:ext cx="2167128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30" b="1">
                <a:solidFill>
                  <a:srgbClr val="122743"/>
                </a:solidFill>
              </a:rPr>
              <a:t>Service UI</a:t>
            </a:r>
            <a:endParaRPr sz="1230" b="1">
              <a:solidFill>
                <a:srgbClr val="12274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53728" y="1746504"/>
            <a:ext cx="2167128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40" b="0">
                <a:solidFill>
                  <a:srgbClr val="262F3A"/>
                </a:solidFill>
              </a:rPr>
              <a:t>List agents → open
Agent Window → invoke</a:t>
            </a:r>
            <a:endParaRPr sz="940" b="0">
              <a:solidFill>
                <a:srgbClr val="262F3A"/>
              </a:solidFill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2267712" y="1673352"/>
            <a:ext cx="228600" cy="256032"/>
          </a:xfrm>
          <a:prstGeom prst="rightArrow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4425696" y="1673352"/>
            <a:ext cx="228600" cy="256032"/>
          </a:xfrm>
          <a:prstGeom prst="rightArrow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6611112" y="1673352"/>
            <a:ext cx="228600" cy="256032"/>
          </a:xfrm>
          <a:prstGeom prst="rightArrow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8851392" y="1673352"/>
            <a:ext cx="228600" cy="256032"/>
          </a:xfrm>
          <a:prstGeom prst="rightArrow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94360" y="2834640"/>
            <a:ext cx="3611880" cy="2743200"/>
          </a:xfrm>
          <a:prstGeom prst="roundRect">
            <a:avLst/>
          </a:prstGeom>
          <a:solidFill>
            <a:srgbClr val="E9F3FB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03580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2563A0"/>
                </a:solidFill>
              </a:rPr>
              <a:t>Agent Factory APIs</a:t>
            </a:r>
            <a:endParaRPr sz="1500" b="1">
              <a:solidFill>
                <a:srgbClr val="2563A0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60" y="340156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20" b="1">
                <a:solidFill>
                  <a:srgbClr val="122743"/>
                </a:solidFill>
              </a:rPr>
              <a:t>Template lifecycle and reusable capabilities</a:t>
            </a:r>
            <a:endParaRPr sz="1020" b="1">
              <a:solidFill>
                <a:srgbClr val="122743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68680" y="3813048"/>
            <a:ext cx="502920" cy="228600"/>
          </a:xfrm>
          <a:prstGeom prst="roundRect">
            <a:avLst/>
          </a:prstGeom>
          <a:solidFill>
            <a:srgbClr val="2563A0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" y="3863339"/>
            <a:ext cx="429768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</a:rPr>
              <a:t>POST</a:t>
            </a:r>
            <a:endParaRPr sz="730" b="1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90472" y="3813048"/>
            <a:ext cx="265176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0" b="1">
                <a:solidFill>
                  <a:srgbClr val="122743"/>
                </a:solidFill>
              </a:rPr>
              <a:t>/create-template/</a:t>
            </a:r>
            <a:endParaRPr sz="820" b="1">
              <a:solidFill>
                <a:srgbClr val="122743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90472" y="4023360"/>
            <a:ext cx="2606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5E6A78"/>
                </a:solidFill>
              </a:rPr>
              <a:t>create a reusable agent template</a:t>
            </a:r>
            <a:endParaRPr sz="780" b="0">
              <a:solidFill>
                <a:srgbClr val="5E6A78"/>
              </a:solidFill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68680" y="4379976"/>
            <a:ext cx="502920" cy="228600"/>
          </a:xfrm>
          <a:prstGeom prst="roundRect">
            <a:avLst/>
          </a:prstGeom>
          <a:solidFill>
            <a:srgbClr val="2563A0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4430268"/>
            <a:ext cx="429768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</a:rPr>
              <a:t>PUT</a:t>
            </a:r>
            <a:endParaRPr sz="730" b="1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490472" y="4379976"/>
            <a:ext cx="265176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0" b="1">
                <a:solidFill>
                  <a:srgbClr val="122743"/>
                </a:solidFill>
              </a:rPr>
              <a:t>/update-template/</a:t>
            </a:r>
            <a:endParaRPr sz="820" b="1">
              <a:solidFill>
                <a:srgbClr val="122743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490472" y="4590288"/>
            <a:ext cx="2606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5E6A78"/>
                </a:solidFill>
              </a:rPr>
              <a:t>update template config/capabilities</a:t>
            </a:r>
            <a:endParaRPr sz="780" b="0">
              <a:solidFill>
                <a:srgbClr val="5E6A78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68680" y="4946904"/>
            <a:ext cx="502920" cy="228600"/>
          </a:xfrm>
          <a:prstGeom prst="roundRect">
            <a:avLst/>
          </a:prstGeom>
          <a:solidFill>
            <a:srgbClr val="2563A0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" y="4997196"/>
            <a:ext cx="429768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</a:rPr>
              <a:t>GET</a:t>
            </a:r>
            <a:endParaRPr sz="730" b="1">
              <a:solidFill>
                <a:srgbClr val="FFFFF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90472" y="4946904"/>
            <a:ext cx="265176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0" b="1">
                <a:solidFill>
                  <a:srgbClr val="122743"/>
                </a:solidFill>
              </a:rPr>
              <a:t>/get-template/</a:t>
            </a:r>
            <a:endParaRPr sz="820" b="1">
              <a:solidFill>
                <a:srgbClr val="122743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490472" y="5157216"/>
            <a:ext cx="2606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5E6A78"/>
                </a:solidFill>
              </a:rPr>
              <a:t>retrieve template definition</a:t>
            </a:r>
            <a:endParaRPr sz="780" b="0">
              <a:solidFill>
                <a:srgbClr val="5E6A78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4480560" y="2834640"/>
            <a:ext cx="32461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60" y="3035808"/>
            <a:ext cx="278892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122743"/>
                </a:solidFill>
              </a:rPr>
              <a:t>Template Config</a:t>
            </a:r>
            <a:endParaRPr sz="1500" b="1">
              <a:solidFill>
                <a:srgbClr val="122743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709160" y="3410712"/>
            <a:ext cx="27889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20" b="1">
                <a:solidFill>
                  <a:srgbClr val="D67E2D"/>
                </a:solidFill>
              </a:rPr>
              <a:t>Example fields used by Agent Factory</a:t>
            </a:r>
            <a:endParaRPr sz="1020" b="1">
              <a:solidFill>
                <a:srgbClr val="D67E2D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709160" y="3794760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1">
                <a:solidFill>
                  <a:srgbClr val="2563A0"/>
                </a:solidFill>
              </a:rPr>
              <a:t>template_id</a:t>
            </a:r>
            <a:endParaRPr sz="780" b="1">
              <a:solidFill>
                <a:srgbClr val="2563A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989320" y="3794760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262F3A"/>
                </a:solidFill>
              </a:rPr>
              <a:t>anomaly_detection</a:t>
            </a:r>
            <a:endParaRPr sz="780" b="0">
              <a:solidFill>
                <a:srgbClr val="262F3A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709160" y="4014216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1">
                <a:solidFill>
                  <a:srgbClr val="2563A0"/>
                </a:solidFill>
              </a:rPr>
              <a:t>model_id</a:t>
            </a:r>
            <a:endParaRPr sz="780" b="1">
              <a:solidFill>
                <a:srgbClr val="2563A0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989320" y="4014216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262F3A"/>
                </a:solidFill>
              </a:rPr>
              <a:t>approved model</a:t>
            </a:r>
            <a:endParaRPr sz="780" b="0">
              <a:solidFill>
                <a:srgbClr val="262F3A"/>
              </a:solidFill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709160" y="4233672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1">
                <a:solidFill>
                  <a:srgbClr val="2563A0"/>
                </a:solidFill>
              </a:rPr>
              <a:t>created_by_user_id</a:t>
            </a:r>
            <a:endParaRPr sz="780" b="1">
              <a:solidFill>
                <a:srgbClr val="2563A0"/>
              </a:solidFill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989320" y="4233672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262F3A"/>
                </a:solidFill>
              </a:rPr>
              <a:t>&lt;user_id&gt;</a:t>
            </a:r>
            <a:endParaRPr sz="780" b="0">
              <a:solidFill>
                <a:srgbClr val="262F3A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709160" y="4453128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1">
                <a:solidFill>
                  <a:srgbClr val="2563A0"/>
                </a:solidFill>
              </a:rPr>
              <a:t>capabilities_attached</a:t>
            </a:r>
            <a:endParaRPr sz="780" b="1">
              <a:solidFill>
                <a:srgbClr val="2563A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989320" y="4453128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262F3A"/>
                </a:solidFill>
              </a:rPr>
              <a:t>approved APIs/tools</a:t>
            </a:r>
            <a:endParaRPr sz="780" b="0">
              <a:solidFill>
                <a:srgbClr val="262F3A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709160" y="4672584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1">
                <a:solidFill>
                  <a:srgbClr val="2563A0"/>
                </a:solidFill>
              </a:rPr>
              <a:t>roles_access</a:t>
            </a:r>
            <a:endParaRPr sz="780" b="1">
              <a:solidFill>
                <a:srgbClr val="2563A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989320" y="4672584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262F3A"/>
                </a:solidFill>
              </a:rPr>
              <a:t>role-based access</a:t>
            </a:r>
            <a:endParaRPr sz="780" b="0">
              <a:solidFill>
                <a:srgbClr val="262F3A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709160" y="4892040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1">
                <a:solidFill>
                  <a:srgbClr val="2563A0"/>
                </a:solidFill>
              </a:rPr>
              <a:t>services_visibility</a:t>
            </a:r>
            <a:endParaRPr sz="780" b="1">
              <a:solidFill>
                <a:srgbClr val="2563A0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5989320" y="4892040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262F3A"/>
                </a:solidFill>
              </a:rPr>
              <a:t>service/domain scope</a:t>
            </a:r>
            <a:endParaRPr sz="780" b="0">
              <a:solidFill>
                <a:srgbClr val="262F3A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709160" y="5111496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1">
                <a:solidFill>
                  <a:srgbClr val="2563A0"/>
                </a:solidFill>
              </a:rPr>
              <a:t>created_at</a:t>
            </a:r>
            <a:endParaRPr sz="780" b="1">
              <a:solidFill>
                <a:srgbClr val="2563A0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989320" y="5111496"/>
            <a:ext cx="15087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262F3A"/>
                </a:solidFill>
              </a:rPr>
              <a:t>timestamp</a:t>
            </a:r>
            <a:endParaRPr sz="780" b="0">
              <a:solidFill>
                <a:srgbClr val="262F3A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709160" y="5376672"/>
            <a:ext cx="2788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40" b="1">
                <a:solidFill>
                  <a:srgbClr val="5E6A78"/>
                </a:solidFill>
              </a:rPr>
              <a:t>Template = out-of-box behavior + governed configuration</a:t>
            </a:r>
            <a:endParaRPr sz="840" b="1">
              <a:solidFill>
                <a:srgbClr val="5E6A78"/>
              </a:solidFill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8001000" y="2834640"/>
            <a:ext cx="3611880" cy="2743200"/>
          </a:xfrm>
          <a:prstGeom prst="roundRect">
            <a:avLst/>
          </a:prstGeom>
          <a:solidFill>
            <a:srgbClr val="EBF7F0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29600" y="3035808"/>
            <a:ext cx="315468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2C7A56"/>
                </a:solidFill>
              </a:rPr>
              <a:t>Service-Level Agent APIs</a:t>
            </a:r>
            <a:endParaRPr sz="1500" b="1">
              <a:solidFill>
                <a:srgbClr val="2C7A56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229600" y="3401568"/>
            <a:ext cx="315468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70" b="1">
                <a:solidFill>
                  <a:srgbClr val="122743"/>
                </a:solidFill>
              </a:rPr>
              <a:t>Agents created for a service are discovered and invoked by that service</a:t>
            </a:r>
            <a:endParaRPr sz="970" b="1">
              <a:solidFill>
                <a:srgbClr val="122743"/>
              </a:solidFill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247888" y="3813048"/>
            <a:ext cx="502920" cy="228600"/>
          </a:xfrm>
          <a:prstGeom prst="roundRect">
            <a:avLst/>
          </a:prstGeom>
          <a:solidFill>
            <a:srgbClr val="2C7A56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84463" y="3863339"/>
            <a:ext cx="429768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</a:rPr>
              <a:t>GET</a:t>
            </a:r>
            <a:endParaRPr sz="730" b="1">
              <a:solidFill>
                <a:srgbClr val="FFFFFF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869680" y="3813048"/>
            <a:ext cx="265176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0" b="1">
                <a:solidFill>
                  <a:srgbClr val="122743"/>
                </a:solidFill>
              </a:rPr>
              <a:t>/&lt;service-name&gt;/list-agents</a:t>
            </a:r>
            <a:endParaRPr sz="820" b="1">
              <a:solidFill>
                <a:srgbClr val="122743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869680" y="4023360"/>
            <a:ext cx="2606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5E6A78"/>
                </a:solidFill>
              </a:rPr>
              <a:t>list agents available to service</a:t>
            </a:r>
            <a:endParaRPr sz="780" b="0">
              <a:solidFill>
                <a:srgbClr val="5E6A78"/>
              </a:solidFill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8247888" y="4379976"/>
            <a:ext cx="502920" cy="228600"/>
          </a:xfrm>
          <a:prstGeom prst="roundRect">
            <a:avLst/>
          </a:prstGeom>
          <a:solidFill>
            <a:srgbClr val="2C7A56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284463" y="4430268"/>
            <a:ext cx="429768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</a:rPr>
              <a:t>GET</a:t>
            </a:r>
            <a:endParaRPr sz="730" b="1">
              <a:solidFill>
                <a:srgbClr val="FFFFFF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869680" y="4379976"/>
            <a:ext cx="265176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0" b="1">
                <a:solidFill>
                  <a:srgbClr val="122743"/>
                </a:solidFill>
              </a:rPr>
              <a:t>/&lt;service-name&gt;/get-agent/{agent-id}</a:t>
            </a:r>
            <a:endParaRPr sz="820" b="1">
              <a:solidFill>
                <a:srgbClr val="122743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8869680" y="4590288"/>
            <a:ext cx="2606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5E6A78"/>
                </a:solidFill>
              </a:rPr>
              <a:t>get selected agent metadata</a:t>
            </a:r>
            <a:endParaRPr sz="780" b="0">
              <a:solidFill>
                <a:srgbClr val="5E6A78"/>
              </a:solidFill>
            </a:endParaRPr>
          </a:p>
        </p:txBody>
      </p:sp>
      <p:sp>
        <p:nvSpPr>
          <p:cNvPr id="68" name="Rounded Rectangle 67"/>
          <p:cNvSpPr/>
          <p:nvPr/>
        </p:nvSpPr>
        <p:spPr>
          <a:xfrm>
            <a:off x="8247888" y="4946904"/>
            <a:ext cx="502920" cy="228600"/>
          </a:xfrm>
          <a:prstGeom prst="roundRect">
            <a:avLst/>
          </a:prstGeom>
          <a:solidFill>
            <a:srgbClr val="2C7A56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84463" y="4997196"/>
            <a:ext cx="429768" cy="100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30" b="1">
                <a:solidFill>
                  <a:srgbClr val="FFFFFF"/>
                </a:solidFill>
              </a:rPr>
              <a:t>POST</a:t>
            </a:r>
            <a:endParaRPr sz="730" b="1">
              <a:solidFill>
                <a:srgbClr val="FFFFFF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8869680" y="4946904"/>
            <a:ext cx="2651760" cy="155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20" b="1">
                <a:solidFill>
                  <a:srgbClr val="122743"/>
                </a:solidFill>
              </a:rPr>
              <a:t>/&lt;service-name&gt;/{agent-id}/prompts</a:t>
            </a:r>
            <a:endParaRPr sz="820" b="1">
              <a:solidFill>
                <a:srgbClr val="122743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8869680" y="5157216"/>
            <a:ext cx="260604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80" b="0">
                <a:solidFill>
                  <a:srgbClr val="5E6A78"/>
                </a:solidFill>
              </a:rPr>
              <a:t>{"prompt": data}</a:t>
            </a:r>
            <a:endParaRPr sz="780" b="0">
              <a:solidFill>
                <a:srgbClr val="5E6A78"/>
              </a:solidFill>
            </a:endParaRPr>
          </a:p>
        </p:txBody>
      </p:sp>
      <p:sp>
        <p:nvSpPr>
          <p:cNvPr id="72" name="Right Arrow 71"/>
          <p:cNvSpPr/>
          <p:nvPr/>
        </p:nvSpPr>
        <p:spPr>
          <a:xfrm>
            <a:off x="4233672" y="4160520"/>
            <a:ext cx="201168" cy="274320"/>
          </a:xfrm>
          <a:prstGeom prst="rightArrow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ight Arrow 72"/>
          <p:cNvSpPr/>
          <p:nvPr/>
        </p:nvSpPr>
        <p:spPr>
          <a:xfrm>
            <a:off x="7772400" y="4160520"/>
            <a:ext cx="201168" cy="274320"/>
          </a:xfrm>
          <a:prstGeom prst="rightArrow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685800" y="5925312"/>
            <a:ext cx="10835640" cy="502920"/>
          </a:xfrm>
          <a:prstGeom prst="roundRect">
            <a:avLst/>
          </a:prstGeom>
          <a:solidFill>
            <a:srgbClr val="122743"/>
          </a:solidFill>
          <a:ln>
            <a:solidFill>
              <a:srgbClr val="12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14400" y="6071616"/>
            <a:ext cx="10378440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Flow: create/update template in Agent Factory → create service-visible agents → service lists available agents → UI Agent Window invokes the selected agent with prompts.</a:t>
            </a:r>
            <a:endParaRPr sz="110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solidFill>
              <a:srgbClr val="F5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300" b="1">
                <a:solidFill>
                  <a:srgbClr val="122743"/>
                </a:solidFill>
              </a:rPr>
              <a:t>Page 4 — Service Discovers Available Agents &amp; Opens Agent Window</a:t>
            </a:r>
            <a:endParaRPr sz="2300" b="1">
              <a:solidFill>
                <a:srgbClr val="122743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749808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60" b="0">
                <a:solidFill>
                  <a:srgbClr val="5E6A78"/>
                </a:solidFill>
              </a:rPr>
              <a:t>A domain service does not hard-code agents. It asks which agents are visible to that service, retrieves the selected agent, then sends prompts through the service API.</a:t>
            </a:r>
            <a:endParaRPr sz="1160" b="0">
              <a:solidFill>
                <a:srgbClr val="5E6A78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02920" y="1325880"/>
            <a:ext cx="2240280" cy="4434840"/>
          </a:xfrm>
          <a:prstGeom prst="roundRect">
            <a:avLst/>
          </a:prstGeom>
          <a:solidFill>
            <a:srgbClr val="E9F3FB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2563A0"/>
                </a:solidFill>
              </a:rPr>
              <a:t>PAYROLL SERVICE</a:t>
            </a:r>
            <a:endParaRPr sz="1500" b="1">
              <a:solidFill>
                <a:srgbClr val="2563A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17830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>
                <a:solidFill>
                  <a:srgbClr val="122743"/>
                </a:solidFill>
              </a:rPr>
              <a:t>Example service:
Payrun</a:t>
            </a:r>
            <a:endParaRPr sz="1150" b="1">
              <a:solidFill>
                <a:srgbClr val="122743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49808" y="2743200"/>
            <a:ext cx="17373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907792"/>
            <a:ext cx="15087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20" b="1">
                <a:solidFill>
                  <a:srgbClr val="122743"/>
                </a:solidFill>
              </a:rPr>
              <a:t>GET /payrun/list-agents</a:t>
            </a:r>
            <a:endParaRPr sz="920" b="1">
              <a:solidFill>
                <a:srgbClr val="122743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3456432"/>
            <a:ext cx="169164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0">
                <a:solidFill>
                  <a:srgbClr val="262F3A"/>
                </a:solidFill>
              </a:rPr>
              <a:t>Returns only agents where
services_visibility includes Payrun</a:t>
            </a:r>
            <a:endParaRPr sz="950" b="0">
              <a:solidFill>
                <a:srgbClr val="262F3A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49808" y="4224528"/>
            <a:ext cx="173736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4389120"/>
            <a:ext cx="1517904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80" b="1">
                <a:solidFill>
                  <a:srgbClr val="122743"/>
                </a:solidFill>
              </a:rPr>
              <a:t>GET /payrun/get-agent/{id}</a:t>
            </a:r>
            <a:endParaRPr sz="880" b="1">
              <a:solidFill>
                <a:srgbClr val="122743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6384" y="4937760"/>
            <a:ext cx="166420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30" b="0">
                <a:solidFill>
                  <a:srgbClr val="262F3A"/>
                </a:solidFill>
              </a:rPr>
              <a:t>Loads selected agent metadata,
capabilities and UI configuration</a:t>
            </a:r>
            <a:endParaRPr sz="930" b="0">
              <a:solidFill>
                <a:srgbClr val="262F3A"/>
              </a:solidFill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154680" y="1325880"/>
            <a:ext cx="52578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29000" y="1554480"/>
            <a:ext cx="47091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122743"/>
                </a:solidFill>
              </a:rPr>
              <a:t>Available Agents</a:t>
            </a:r>
            <a:endParaRPr sz="1500" b="1">
              <a:solidFill>
                <a:srgbClr val="122743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429000" y="1901952"/>
            <a:ext cx="4709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30" b="0">
                <a:solidFill>
                  <a:srgbClr val="5E6A78"/>
                </a:solidFill>
              </a:rPr>
              <a:t>Agents discovered dynamically for Payroll / Payrun</a:t>
            </a:r>
            <a:endParaRPr sz="1030" b="0">
              <a:solidFill>
                <a:srgbClr val="5E6A78"/>
              </a:solidFill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429000" y="2331720"/>
            <a:ext cx="4572000" cy="640080"/>
          </a:xfrm>
          <a:prstGeom prst="roundRect">
            <a:avLst/>
          </a:prstGeom>
          <a:solidFill>
            <a:srgbClr val="FCF6EE"/>
          </a:solidFill>
          <a:ln>
            <a:solidFill>
              <a:srgbClr val="D6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75304" y="2441448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22743"/>
                </a:solidFill>
              </a:rPr>
              <a:t>Anomaly Detection</a:t>
            </a:r>
            <a:endParaRPr sz="1050" b="1">
              <a:solidFill>
                <a:srgbClr val="122743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12080" y="2441448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0" b="1">
                <a:solidFill>
                  <a:srgbClr val="D67E2D"/>
                </a:solidFill>
              </a:rPr>
              <a:t>REAL-TIME</a:t>
            </a:r>
            <a:endParaRPr sz="810" b="1">
              <a:solidFill>
                <a:srgbClr val="D67E2D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75304" y="2697479"/>
            <a:ext cx="37033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70" b="0">
                <a:solidFill>
                  <a:srgbClr val="262F3A"/>
                </a:solidFill>
              </a:rPr>
              <a:t>Monitor current Payrun and surface anomalies</a:t>
            </a:r>
            <a:endParaRPr sz="870" b="0">
              <a:solidFill>
                <a:srgbClr val="262F3A"/>
              </a:solidFill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269480" y="2496312"/>
            <a:ext cx="530352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D67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2564891"/>
            <a:ext cx="530352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20" b="1">
                <a:solidFill>
                  <a:srgbClr val="D67E2D"/>
                </a:solidFill>
              </a:rPr>
              <a:t>Open</a:t>
            </a:r>
            <a:endParaRPr sz="820" b="1">
              <a:solidFill>
                <a:srgbClr val="D67E2D"/>
              </a:solidFill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3429000" y="3136392"/>
            <a:ext cx="4572000" cy="640080"/>
          </a:xfrm>
          <a:prstGeom prst="roundRect">
            <a:avLst/>
          </a:prstGeom>
          <a:solidFill>
            <a:srgbClr val="EBF7F0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75304" y="3246120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22743"/>
                </a:solidFill>
              </a:rPr>
              <a:t>Summarizer</a:t>
            </a:r>
            <a:endParaRPr sz="1050" b="1">
              <a:solidFill>
                <a:srgbClr val="122743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212080" y="3246120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0" b="1">
                <a:solidFill>
                  <a:srgbClr val="2C7A56"/>
                </a:solidFill>
              </a:rPr>
              <a:t>OFFLINE / ON-DEMAND</a:t>
            </a:r>
            <a:endParaRPr sz="810" b="1">
              <a:solidFill>
                <a:srgbClr val="2C7A56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575304" y="3502152"/>
            <a:ext cx="37033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70" b="0">
                <a:solidFill>
                  <a:srgbClr val="262F3A"/>
                </a:solidFill>
              </a:rPr>
              <a:t>Generate employee or Payrun summary</a:t>
            </a:r>
            <a:endParaRPr sz="870" b="0">
              <a:solidFill>
                <a:srgbClr val="262F3A"/>
              </a:solidFill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269480" y="3300984"/>
            <a:ext cx="530352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3369564"/>
            <a:ext cx="530352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20" b="1">
                <a:solidFill>
                  <a:srgbClr val="2C7A56"/>
                </a:solidFill>
              </a:rPr>
              <a:t>Open</a:t>
            </a:r>
            <a:endParaRPr sz="820" b="1">
              <a:solidFill>
                <a:srgbClr val="2C7A56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3429000" y="3941063"/>
            <a:ext cx="4572000" cy="640080"/>
          </a:xfrm>
          <a:prstGeom prst="roundRect">
            <a:avLst/>
          </a:prstGeom>
          <a:solidFill>
            <a:srgbClr val="E9F3FB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75304" y="4050791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22743"/>
                </a:solidFill>
              </a:rPr>
              <a:t>General Query</a:t>
            </a:r>
            <a:endParaRPr sz="1050" b="1">
              <a:solidFill>
                <a:srgbClr val="122743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212080" y="4050791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0" b="1">
                <a:solidFill>
                  <a:srgbClr val="2563A0"/>
                </a:solidFill>
              </a:rPr>
              <a:t>INTERACTIVE</a:t>
            </a:r>
            <a:endParaRPr sz="810" b="1">
              <a:solidFill>
                <a:srgbClr val="2563A0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75304" y="4306824"/>
            <a:ext cx="37033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70" b="0">
                <a:solidFill>
                  <a:srgbClr val="262F3A"/>
                </a:solidFill>
              </a:rPr>
              <a:t>Ask contextual questions using approved tools</a:t>
            </a:r>
            <a:endParaRPr sz="870" b="0">
              <a:solidFill>
                <a:srgbClr val="262F3A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269480" y="4105655"/>
            <a:ext cx="530352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2563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9480" y="4174235"/>
            <a:ext cx="530352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20" b="1">
                <a:solidFill>
                  <a:srgbClr val="2563A0"/>
                </a:solidFill>
              </a:rPr>
              <a:t>Open</a:t>
            </a:r>
            <a:endParaRPr sz="820" b="1">
              <a:solidFill>
                <a:srgbClr val="2563A0"/>
              </a:solidFill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3429000" y="4745736"/>
            <a:ext cx="4572000" cy="640080"/>
          </a:xfrm>
          <a:prstGeom prst="roundRect">
            <a:avLst/>
          </a:prstGeom>
          <a:solidFill>
            <a:srgbClr val="F6F3FA"/>
          </a:solidFill>
          <a:ln>
            <a:solidFill>
              <a:srgbClr val="6C4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75304" y="4855464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>
                <a:solidFill>
                  <a:srgbClr val="122743"/>
                </a:solidFill>
              </a:rPr>
              <a:t>Incident Generator</a:t>
            </a:r>
            <a:endParaRPr sz="1050" b="1">
              <a:solidFill>
                <a:srgbClr val="122743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212080" y="4855464"/>
            <a:ext cx="105156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10" b="1">
                <a:solidFill>
                  <a:srgbClr val="6C4C9B"/>
                </a:solidFill>
              </a:rPr>
              <a:t>EVENT-DRIVEN</a:t>
            </a:r>
            <a:endParaRPr sz="810" b="1">
              <a:solidFill>
                <a:srgbClr val="6C4C9B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575304" y="5111496"/>
            <a:ext cx="37033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70" b="0">
                <a:solidFill>
                  <a:srgbClr val="262F3A"/>
                </a:solidFill>
              </a:rPr>
              <a:t>Generate incident from failure evidence</a:t>
            </a:r>
            <a:endParaRPr sz="870" b="0">
              <a:solidFill>
                <a:srgbClr val="262F3A"/>
              </a:solidFill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7269480" y="4910328"/>
            <a:ext cx="530352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6C4C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69480" y="4978908"/>
            <a:ext cx="530352" cy="1097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20" b="1">
                <a:solidFill>
                  <a:srgbClr val="6C4C9B"/>
                </a:solidFill>
              </a:rPr>
              <a:t>Open</a:t>
            </a:r>
            <a:endParaRPr sz="820" b="1">
              <a:solidFill>
                <a:srgbClr val="6C4C9B"/>
              </a:solidFill>
            </a:endParaRPr>
          </a:p>
        </p:txBody>
      </p:sp>
      <p:sp>
        <p:nvSpPr>
          <p:cNvPr id="41" name="Right Arrow 40"/>
          <p:cNvSpPr/>
          <p:nvPr/>
        </p:nvSpPr>
        <p:spPr>
          <a:xfrm>
            <a:off x="2807208" y="2880360"/>
            <a:ext cx="274320" cy="292608"/>
          </a:xfrm>
          <a:prstGeom prst="rightArrow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ight Arrow 41"/>
          <p:cNvSpPr/>
          <p:nvPr/>
        </p:nvSpPr>
        <p:spPr>
          <a:xfrm>
            <a:off x="8458200" y="2880360"/>
            <a:ext cx="274320" cy="292608"/>
          </a:xfrm>
          <a:prstGeom prst="rightArrow">
            <a:avLst/>
          </a:prstGeom>
          <a:solidFill>
            <a:srgbClr val="D67E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778240" y="1325880"/>
            <a:ext cx="2834640" cy="4434840"/>
          </a:xfrm>
          <a:prstGeom prst="roundRect">
            <a:avLst/>
          </a:prstGeom>
          <a:solidFill>
            <a:srgbClr val="EBF7F0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25128" y="1554480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>
                <a:solidFill>
                  <a:srgbClr val="2C7A56"/>
                </a:solidFill>
              </a:rPr>
              <a:t>AGENT WINDOW</a:t>
            </a:r>
            <a:endParaRPr sz="1500" b="1">
              <a:solidFill>
                <a:srgbClr val="2C7A56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025128" y="1938528"/>
            <a:ext cx="233172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30" b="1">
                <a:solidFill>
                  <a:srgbClr val="122743"/>
                </a:solidFill>
              </a:rPr>
              <a:t>Selected: General Query Agent</a:t>
            </a:r>
            <a:endParaRPr sz="1030" b="1">
              <a:solidFill>
                <a:srgbClr val="122743"/>
              </a:solidFill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9070848" y="2395728"/>
            <a:ext cx="224028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A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7152" y="2542032"/>
            <a:ext cx="1938528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262F3A"/>
                </a:solidFill>
              </a:rPr>
              <a:t>Why is this employee's
net pay lower this run?</a:t>
            </a:r>
            <a:endParaRPr sz="950" b="0">
              <a:solidFill>
                <a:srgbClr val="262F3A"/>
              </a:solidFill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9070848" y="3273552"/>
            <a:ext cx="2240280" cy="621792"/>
          </a:xfrm>
          <a:prstGeom prst="roundRect">
            <a:avLst/>
          </a:prstGeom>
          <a:solidFill>
            <a:srgbClr val="122743"/>
          </a:solidFill>
          <a:ln>
            <a:solidFill>
              <a:srgbClr val="12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3419856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</a:rPr>
              <a:t>POST /payrun/{agent-id}/prompts</a:t>
            </a:r>
            <a:endParaRPr sz="850" b="1">
              <a:solidFill>
                <a:srgbClr val="FFFFFF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125712" y="4096512"/>
            <a:ext cx="2148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2563A0"/>
                </a:solidFill>
              </a:rPr>
              <a:t>{"prompt": data}</a:t>
            </a:r>
            <a:endParaRPr sz="950" b="1">
              <a:solidFill>
                <a:srgbClr val="2563A0"/>
              </a:solidFill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9070848" y="4507992"/>
            <a:ext cx="2240280" cy="804672"/>
          </a:xfrm>
          <a:prstGeom prst="roundRect">
            <a:avLst/>
          </a:prstGeom>
          <a:solidFill>
            <a:srgbClr val="FFFFFF"/>
          </a:solidFill>
          <a:ln>
            <a:solidFill>
              <a:srgbClr val="2C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17152" y="4645152"/>
            <a:ext cx="1938528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20" b="1">
                <a:solidFill>
                  <a:srgbClr val="122743"/>
                </a:solidFill>
              </a:rPr>
              <a:t>Agent Runtime</a:t>
            </a:r>
            <a:endParaRPr sz="1020" b="1">
              <a:solidFill>
                <a:srgbClr val="122743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217152" y="4901184"/>
            <a:ext cx="1938528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70" b="0">
                <a:solidFill>
                  <a:srgbClr val="262F3A"/>
                </a:solidFill>
              </a:rPr>
              <a:t>Uses only approved capabilities
+ role-authorized APIs</a:t>
            </a:r>
            <a:endParaRPr sz="870" b="0">
              <a:solidFill>
                <a:srgbClr val="262F3A"/>
              </a:solidFill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685800" y="5961888"/>
            <a:ext cx="10835640" cy="457200"/>
          </a:xfrm>
          <a:prstGeom prst="roundRect">
            <a:avLst/>
          </a:prstGeom>
          <a:solidFill>
            <a:srgbClr val="122743"/>
          </a:solidFill>
          <a:ln>
            <a:solidFill>
              <a:srgbClr val="122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4400" y="6089904"/>
            <a:ext cx="1037844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90" b="1">
                <a:solidFill>
                  <a:srgbClr val="FFFFFF"/>
                </a:solidFill>
              </a:rPr>
              <a:t>Service owns discovery and UI integration; Agent Factory owns templates/configuration; the created agent owns governed runtime behavior.</a:t>
            </a:r>
            <a:endParaRPr sz="1090"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BFD"/>
          </a:solidFill>
          <a:ln>
            <a:solidFill>
              <a:srgbClr val="F9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52144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300" b="1">
                <a:solidFill>
                  <a:srgbClr val="102B4E"/>
                </a:solidFill>
                <a:latin typeface="Aptos"/>
              </a:rPr>
              <a:t>Real-Time Anomaly Detection — Agent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594360"/>
            <a:ext cx="11247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80" b="0">
                <a:solidFill>
                  <a:srgbClr val="5B6C85"/>
                </a:solidFill>
                <a:latin typeface="Aptos"/>
              </a:rPr>
              <a:t>As new payroll data is added during a running payrun, the agent monitors the data in real time and automatically flags unusual items.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66760" y="182880"/>
            <a:ext cx="3383280" cy="548640"/>
          </a:xfrm>
          <a:prstGeom prst="roundRect">
            <a:avLst/>
          </a:prstGeom>
          <a:solidFill>
            <a:srgbClr val="EFF7FF"/>
          </a:solidFill>
          <a:ln>
            <a:solidFill>
              <a:srgbClr val="EF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60" y="201168"/>
            <a:ext cx="3383280" cy="53035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102B4E"/>
                </a:solidFill>
                <a:latin typeface="Aptos"/>
              </a:rPr>
              <a:t>🤖  Payroll Anomaly Agent   •   Monitors • Detects • Alerts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078992"/>
            <a:ext cx="740664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078992"/>
            <a:ext cx="7406640" cy="566928"/>
          </a:xfrm>
          <a:prstGeom prst="rect">
            <a:avLst/>
          </a:prstGeom>
          <a:solidFill>
            <a:srgbClr val="102B4E"/>
          </a:solidFill>
          <a:ln>
            <a:solidFill>
              <a:srgbClr val="10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25296"/>
            <a:ext cx="15544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Payroll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1261872"/>
            <a:ext cx="28346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Aptos"/>
              </a:rPr>
              <a:t>Home     Employees     Payrun    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74519"/>
            <a:ext cx="20116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700" b="1">
                <a:solidFill>
                  <a:srgbClr val="102B4E"/>
                </a:solidFill>
                <a:latin typeface="Aptos"/>
              </a:rPr>
              <a:t>Running Payrun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48840" y="1828800"/>
            <a:ext cx="1143000" cy="320040"/>
          </a:xfrm>
          <a:prstGeom prst="roundRect">
            <a:avLst/>
          </a:prstGeom>
          <a:solidFill>
            <a:srgbClr val="EFFAF5"/>
          </a:solidFill>
          <a:ln>
            <a:solidFill>
              <a:srgbClr val="EF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1847088"/>
            <a:ext cx="1143000" cy="3017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C9658"/>
                </a:solidFill>
                <a:latin typeface="Aptos"/>
              </a:rPr>
              <a:t>● In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1901952"/>
            <a:ext cx="233172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5B6C85"/>
                </a:solidFill>
                <a:latin typeface="Aptos"/>
              </a:rPr>
              <a:t>Pay Period: Aug 1, 2026 – Aug 15,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377440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102B4E"/>
                </a:solidFill>
                <a:latin typeface="Aptos"/>
              </a:rPr>
              <a:t>Employee Earnings        Deductions        Taxes        Summary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88920"/>
            <a:ext cx="67208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907792"/>
            <a:ext cx="11887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102B4E"/>
                </a:solidFill>
                <a:latin typeface="Aptos"/>
              </a:rPr>
              <a:t>Employee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2907792"/>
            <a:ext cx="11887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102B4E"/>
                </a:solidFill>
                <a:latin typeface="Aptos"/>
              </a:rPr>
              <a:t>Earning 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907792"/>
            <a:ext cx="11887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102B4E"/>
                </a:solidFill>
                <a:latin typeface="Aptos"/>
              </a:rPr>
              <a:t>Hours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907792"/>
            <a:ext cx="11887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102B4E"/>
                </a:solidFill>
                <a:latin typeface="Aptos"/>
              </a:rPr>
              <a:t>Amount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907792"/>
            <a:ext cx="118872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102B4E"/>
                </a:solidFill>
                <a:latin typeface="Aptos"/>
              </a:rPr>
              <a:t>Updated 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246120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80" b="0">
                <a:solidFill>
                  <a:srgbClr val="1F3049"/>
                </a:solidFill>
                <a:latin typeface="Aptos"/>
              </a:rPr>
              <a:t>Priya Kumar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246120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80" b="0">
                <a:solidFill>
                  <a:srgbClr val="1F3049"/>
                </a:solidFill>
                <a:latin typeface="Aptos"/>
              </a:rPr>
              <a:t>Regular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3246120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80" b="0">
                <a:solidFill>
                  <a:srgbClr val="1F3049"/>
                </a:solidFill>
                <a:latin typeface="Aptos"/>
              </a:rPr>
              <a:t>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246120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80" b="0">
                <a:solidFill>
                  <a:srgbClr val="1F3049"/>
                </a:solidFill>
                <a:latin typeface="Aptos"/>
              </a:rPr>
              <a:t>$3,200.00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246120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80" b="0">
                <a:solidFill>
                  <a:srgbClr val="1F3049"/>
                </a:solidFill>
                <a:latin typeface="Aptos"/>
              </a:rPr>
              <a:t>08/14 10:12 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3575303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80" b="0">
                <a:solidFill>
                  <a:srgbClr val="1F3049"/>
                </a:solidFill>
                <a:latin typeface="Aptos"/>
              </a:rPr>
              <a:t>Alex Chen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3575303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80" b="0">
                <a:solidFill>
                  <a:srgbClr val="1F3049"/>
                </a:solidFill>
                <a:latin typeface="Aptos"/>
              </a:rPr>
              <a:t>Overtime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29000" y="3575303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80" b="0">
                <a:solidFill>
                  <a:srgbClr val="1F3049"/>
                </a:solidFill>
                <a:latin typeface="Aptos"/>
              </a:rP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3575303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80" b="0">
                <a:solidFill>
                  <a:srgbClr val="1F3049"/>
                </a:solidFill>
                <a:latin typeface="Aptos"/>
              </a:rPr>
              <a:t>$750.00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3575303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80" b="0">
                <a:solidFill>
                  <a:srgbClr val="1F3049"/>
                </a:solidFill>
                <a:latin typeface="Aptos"/>
              </a:rPr>
              <a:t>08/14 10:15 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" y="3858768"/>
            <a:ext cx="6684264" cy="310896"/>
          </a:xfrm>
          <a:prstGeom prst="rect">
            <a:avLst/>
          </a:prstGeom>
          <a:solidFill>
            <a:srgbClr val="FFF3F5"/>
          </a:solidFill>
          <a:ln>
            <a:solidFill>
              <a:srgbClr val="FF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30352" y="3895344"/>
            <a:ext cx="438912" cy="228600"/>
          </a:xfrm>
          <a:prstGeom prst="round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0352" y="3913631"/>
            <a:ext cx="438912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NEW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3904487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80" b="1">
                <a:solidFill>
                  <a:srgbClr val="DC2337"/>
                </a:solidFill>
                <a:latin typeface="Aptos"/>
              </a:rPr>
              <a:t>John Smith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3904487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80" b="1">
                <a:solidFill>
                  <a:srgbClr val="DC2337"/>
                </a:solidFill>
                <a:latin typeface="Aptos"/>
              </a:rPr>
              <a:t>Bonus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29000" y="3904487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80" b="1">
                <a:solidFill>
                  <a:srgbClr val="DC2337"/>
                </a:solidFill>
                <a:latin typeface="Aptos"/>
              </a:rPr>
              <a:t>-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43400" y="3904487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80" b="1">
                <a:solidFill>
                  <a:srgbClr val="DC2337"/>
                </a:solidFill>
                <a:latin typeface="Aptos"/>
              </a:rPr>
              <a:t>$25,000.00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3904487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80" b="1">
                <a:solidFill>
                  <a:srgbClr val="DC2337"/>
                </a:solidFill>
                <a:latin typeface="Aptos"/>
              </a:rPr>
              <a:t>08/14 10:17 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4233672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80" b="0">
                <a:solidFill>
                  <a:srgbClr val="1F3049"/>
                </a:solidFill>
                <a:latin typeface="Aptos"/>
              </a:rPr>
              <a:t>Maria Garcia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40280" y="4233672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80" b="0">
                <a:solidFill>
                  <a:srgbClr val="1F3049"/>
                </a:solidFill>
                <a:latin typeface="Aptos"/>
              </a:rPr>
              <a:t>Regular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0" y="4233672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80" b="0">
                <a:solidFill>
                  <a:srgbClr val="1F3049"/>
                </a:solidFill>
                <a:latin typeface="Aptos"/>
              </a:rPr>
              <a:t>80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43400" y="4233672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80" b="0">
                <a:solidFill>
                  <a:srgbClr val="1F3049"/>
                </a:solidFill>
                <a:latin typeface="Aptos"/>
              </a:rPr>
              <a:t>$2,800.00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4233672"/>
            <a:ext cx="12344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80" b="0">
                <a:solidFill>
                  <a:srgbClr val="1F3049"/>
                </a:solidFill>
                <a:latin typeface="Aptos"/>
              </a:rPr>
              <a:t>08/14 10:18 AM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800600"/>
            <a:ext cx="14173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4818888"/>
            <a:ext cx="141732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1469DC"/>
                </a:solidFill>
                <a:latin typeface="Aptos"/>
              </a:rPr>
              <a:t>+ Add Earning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01000" y="1097280"/>
            <a:ext cx="388620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01000" y="1097280"/>
            <a:ext cx="3886200" cy="530352"/>
          </a:xfrm>
          <a:prstGeom prst="rect">
            <a:avLst/>
          </a:prstGeom>
          <a:solidFill>
            <a:srgbClr val="102B4E"/>
          </a:solidFill>
          <a:ln>
            <a:solidFill>
              <a:srgbClr val="10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0" y="1243584"/>
            <a:ext cx="21945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🤖  Payroll Assistant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83879" y="1783080"/>
            <a:ext cx="3520440" cy="2240280"/>
          </a:xfrm>
          <a:prstGeom prst="roundRect">
            <a:avLst/>
          </a:prstGeom>
          <a:solidFill>
            <a:srgbClr val="FFF3F5"/>
          </a:solidFill>
          <a:ln>
            <a:solidFill>
              <a:srgbClr val="F5A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94192" y="1938528"/>
            <a:ext cx="3063240" cy="25603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50" b="1">
                <a:solidFill>
                  <a:srgbClr val="DC2337"/>
                </a:solidFill>
                <a:latin typeface="Aptos"/>
              </a:rPr>
              <a:t>⚠ Potential Anomaly Detected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94192" y="2286000"/>
            <a:ext cx="306324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69" b="0">
                <a:solidFill>
                  <a:srgbClr val="1F3049"/>
                </a:solidFill>
                <a:latin typeface="Aptos"/>
              </a:rPr>
              <a:t>A bonus payment of $25,000.00 for John Smith is 10x higher than the historical average ($2,000.00).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94192" y="285292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1F3049"/>
                </a:solidFill>
                <a:latin typeface="Aptos"/>
              </a:rPr>
              <a:t>Employee: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555480" y="2852928"/>
            <a:ext cx="155448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1F3049"/>
                </a:solidFill>
                <a:latin typeface="Aptos"/>
              </a:rPr>
              <a:t>John Smith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94192" y="3054096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1F3049"/>
                </a:solidFill>
                <a:latin typeface="Aptos"/>
              </a:rPr>
              <a:t>Earning Type: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55480" y="3054096"/>
            <a:ext cx="155448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1F3049"/>
                </a:solidFill>
                <a:latin typeface="Aptos"/>
              </a:rPr>
              <a:t>Bonus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94192" y="3255264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1F3049"/>
                </a:solidFill>
                <a:latin typeface="Aptos"/>
              </a:rPr>
              <a:t>Amount: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555480" y="3255264"/>
            <a:ext cx="155448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1F3049"/>
                </a:solidFill>
                <a:latin typeface="Aptos"/>
              </a:rPr>
              <a:t>$25,000.00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94192" y="3456432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1F3049"/>
                </a:solidFill>
                <a:latin typeface="Aptos"/>
              </a:rPr>
              <a:t>Historical Avg: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55480" y="3456432"/>
            <a:ext cx="155448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1F3049"/>
                </a:solidFill>
                <a:latin typeface="Aptos"/>
              </a:rPr>
              <a:t>$2,000.00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94192" y="3657600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1F3049"/>
                </a:solidFill>
                <a:latin typeface="Aptos"/>
              </a:rPr>
              <a:t>Deviation: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555480" y="3657600"/>
            <a:ext cx="155448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1F3049"/>
                </a:solidFill>
                <a:latin typeface="Aptos"/>
              </a:rPr>
              <a:t>+1,150%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94192" y="3858768"/>
            <a:ext cx="109728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69" b="0">
                <a:solidFill>
                  <a:srgbClr val="1F3049"/>
                </a:solidFill>
                <a:latin typeface="Aptos"/>
              </a:rPr>
              <a:t>Severity: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55480" y="3858768"/>
            <a:ext cx="155448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69" b="1">
                <a:solidFill>
                  <a:srgbClr val="DC2337"/>
                </a:solidFill>
                <a:latin typeface="Aptos"/>
              </a:rPr>
              <a:t>High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275320" y="4187952"/>
            <a:ext cx="228600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80" b="1">
                <a:solidFill>
                  <a:srgbClr val="102B4E"/>
                </a:solidFill>
                <a:latin typeface="Aptos"/>
              </a:rPr>
              <a:t>What would you like to do?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275320" y="4480560"/>
            <a:ext cx="1051560" cy="347472"/>
          </a:xfrm>
          <a:prstGeom prst="roundRect">
            <a:avLst/>
          </a:prstGeom>
          <a:solidFill>
            <a:srgbClr val="1469DC"/>
          </a:solidFill>
          <a:ln>
            <a:solidFill>
              <a:srgbClr val="14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75320" y="4498848"/>
            <a:ext cx="10515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80" b="1">
                <a:solidFill>
                  <a:srgbClr val="FFFFFF"/>
                </a:solidFill>
                <a:latin typeface="Aptos"/>
              </a:rPr>
              <a:t>View Details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464040" y="4480560"/>
            <a:ext cx="82296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64040" y="4498848"/>
            <a:ext cx="82296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80" b="1">
                <a:solidFill>
                  <a:srgbClr val="1469DC"/>
                </a:solidFill>
                <a:latin typeface="Aptos"/>
              </a:rPr>
              <a:t>Explain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0424160" y="4480560"/>
            <a:ext cx="109728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424160" y="4498848"/>
            <a:ext cx="1097280" cy="32918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1">
                <a:solidFill>
                  <a:srgbClr val="1469DC"/>
                </a:solidFill>
                <a:latin typeface="Aptos"/>
              </a:rPr>
              <a:t>Create Incident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275320" y="4983480"/>
            <a:ext cx="3246120" cy="329184"/>
          </a:xfrm>
          <a:prstGeom prst="roundRect">
            <a:avLst/>
          </a:prstGeom>
          <a:solidFill>
            <a:srgbClr val="FFFFFF"/>
          </a:solidFill>
          <a:ln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394192" y="5074920"/>
            <a:ext cx="274320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50" b="0">
                <a:solidFill>
                  <a:srgbClr val="5B6C85"/>
                </a:solidFill>
                <a:latin typeface="Aptos"/>
              </a:rPr>
              <a:t>Ask a question or type a command...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7315200" y="3931920"/>
            <a:ext cx="658368" cy="0"/>
          </a:xfrm>
          <a:prstGeom prst="line">
            <a:avLst/>
          </a:prstGeom>
          <a:ln w="38100">
            <a:solidFill>
              <a:srgbClr val="DC23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6995160" y="3456432"/>
            <a:ext cx="9144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19" b="1">
                <a:solidFill>
                  <a:srgbClr val="DC2337"/>
                </a:solidFill>
                <a:latin typeface="Aptos"/>
              </a:rPr>
              <a:t>New data
triggers alert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20040" y="5806440"/>
            <a:ext cx="11521440" cy="502920"/>
          </a:xfrm>
          <a:prstGeom prst="roundRect">
            <a:avLst/>
          </a:prstGeom>
          <a:solidFill>
            <a:srgbClr val="EFFAF5"/>
          </a:solidFill>
          <a:ln>
            <a:solidFill>
              <a:srgbClr val="B4E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94360" y="5943600"/>
            <a:ext cx="11430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0C9658"/>
                </a:solidFill>
                <a:latin typeface="Aptos"/>
              </a:rPr>
              <a:t>✓  Outcome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28800" y="5943600"/>
            <a:ext cx="960120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0">
                <a:solidFill>
                  <a:srgbClr val="102B4E"/>
                </a:solidFill>
                <a:latin typeface="Aptos"/>
              </a:rPr>
              <a:t>The agent alerts payroll teams in real time, helping prevent errors and ensuring accurate, compliant payroll.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BFD"/>
          </a:solidFill>
          <a:ln>
            <a:solidFill>
              <a:srgbClr val="F9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52144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300" b="1">
                <a:solidFill>
                  <a:srgbClr val="102B4E"/>
                </a:solidFill>
                <a:latin typeface="Aptos"/>
              </a:rPr>
              <a:t>Summarizer Agent – Insights &amp; Update During Payrun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594360"/>
            <a:ext cx="11247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80" b="0">
                <a:solidFill>
                  <a:srgbClr val="5B6C85"/>
                </a:solidFill>
                <a:latin typeface="Aptos"/>
              </a:rPr>
              <a:t>Summarizes the current payrun, highlights changes, and allows authorized users to make updates (pay rate, location, department, etc.).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69680" y="164592"/>
            <a:ext cx="2834640" cy="530352"/>
          </a:xfrm>
          <a:prstGeom prst="roundRect">
            <a:avLst/>
          </a:prstGeom>
          <a:solidFill>
            <a:srgbClr val="F8F4FF"/>
          </a:solidFill>
          <a:ln>
            <a:solidFill>
              <a:srgbClr val="F8F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0" y="182879"/>
            <a:ext cx="2834640" cy="512063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102B4E"/>
                </a:solidFill>
                <a:latin typeface="Aptos"/>
              </a:rPr>
              <a:t>🤖  Payrun Summarizer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" y="960120"/>
            <a:ext cx="80924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" y="960120"/>
            <a:ext cx="8092440" cy="502920"/>
          </a:xfrm>
          <a:prstGeom prst="rect">
            <a:avLst/>
          </a:prstGeom>
          <a:solidFill>
            <a:srgbClr val="102B4E"/>
          </a:solidFill>
          <a:ln>
            <a:solidFill>
              <a:srgbClr val="10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097280"/>
            <a:ext cx="14173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Payroll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124712"/>
            <a:ext cx="292608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19" b="0">
                <a:solidFill>
                  <a:srgbClr val="FFFFFF"/>
                </a:solidFill>
                <a:latin typeface="Aptos"/>
              </a:rPr>
              <a:t>Home     Employees     Payrun    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664208"/>
            <a:ext cx="237744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102B4E"/>
                </a:solidFill>
                <a:latin typeface="Aptos"/>
              </a:rPr>
              <a:t>Payrun #PR-2026-08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1627632"/>
            <a:ext cx="1051560" cy="310896"/>
          </a:xfrm>
          <a:prstGeom prst="roundRect">
            <a:avLst/>
          </a:prstGeom>
          <a:solidFill>
            <a:srgbClr val="EFFAF5"/>
          </a:solidFill>
          <a:ln>
            <a:solidFill>
              <a:srgbClr val="EFF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1645920"/>
            <a:ext cx="1051560" cy="2926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50" b="1">
                <a:solidFill>
                  <a:srgbClr val="0C9658"/>
                </a:solidFill>
                <a:latin typeface="Aptos"/>
              </a:rPr>
              <a:t>● In Progress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691640"/>
            <a:ext cx="219456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80" b="0">
                <a:solidFill>
                  <a:srgbClr val="5B6C85"/>
                </a:solidFill>
                <a:latin typeface="Aptos"/>
              </a:rPr>
              <a:t>Pay Period: Aug 1, 2026 – Aug 15,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148840"/>
            <a:ext cx="43891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102B4E"/>
                </a:solidFill>
                <a:latin typeface="Aptos"/>
              </a:rPr>
              <a:t>Employees       Deductions       Taxes       Summary       Agent Insights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" y="2468880"/>
            <a:ext cx="1508760" cy="2606040"/>
          </a:xfrm>
          <a:prstGeom prst="roundRect">
            <a:avLst/>
          </a:prstGeom>
          <a:solidFill>
            <a:srgbClr val="F4F7FA"/>
          </a:solidFill>
          <a:ln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2697480"/>
            <a:ext cx="109728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1469DC"/>
                </a:solidFill>
                <a:latin typeface="Aptos"/>
              </a:rPr>
              <a:t>▣  Summarizer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2999232"/>
            <a:ext cx="10972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80" b="0">
                <a:solidFill>
                  <a:srgbClr val="1469DC"/>
                </a:solidFill>
                <a:latin typeface="Aptos"/>
              </a:rPr>
              <a:t>Payrun summary &amp; updates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3520440"/>
            <a:ext cx="114300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19" b="1">
                <a:solidFill>
                  <a:srgbClr val="102B4E"/>
                </a:solidFill>
                <a:latin typeface="Aptos"/>
              </a:rPr>
              <a:t>◉  Anomaly Detection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36192" y="3502152"/>
            <a:ext cx="228600" cy="228600"/>
          </a:xfrm>
          <a:prstGeom prst="round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36192" y="3520440"/>
            <a:ext cx="228600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794760"/>
            <a:ext cx="10972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80" b="0">
                <a:solidFill>
                  <a:srgbClr val="5B6C85"/>
                </a:solidFill>
                <a:latin typeface="Aptos"/>
              </a:rPr>
              <a:t>Real-time alerts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93392" y="2468880"/>
            <a:ext cx="6080760" cy="2834640"/>
          </a:xfrm>
          <a:prstGeom prst="roundRect">
            <a:avLst/>
          </a:prstGeom>
          <a:solidFill>
            <a:srgbClr val="FAFCFF"/>
          </a:solidFill>
          <a:ln>
            <a:solidFill>
              <a:srgbClr val="BE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12848" y="2651760"/>
            <a:ext cx="292608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50" b="1">
                <a:solidFill>
                  <a:srgbClr val="102B4E"/>
                </a:solidFill>
                <a:latin typeface="Aptos"/>
              </a:rPr>
              <a:t>🤖  Payrun Summarizer 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2624328"/>
            <a:ext cx="777240" cy="256032"/>
          </a:xfrm>
          <a:prstGeom prst="roundRect">
            <a:avLst/>
          </a:prstGeom>
          <a:solidFill>
            <a:srgbClr val="EFF7FF"/>
          </a:solidFill>
          <a:ln>
            <a:solidFill>
              <a:srgbClr val="EF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2642616"/>
            <a:ext cx="777240" cy="237744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50" b="1">
                <a:solidFill>
                  <a:srgbClr val="1469DC"/>
                </a:solidFill>
                <a:latin typeface="Aptos"/>
              </a:rPr>
              <a:t>AI Assistant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48840" y="2999232"/>
            <a:ext cx="1828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069080" y="2999232"/>
            <a:ext cx="16916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852160" y="2999232"/>
            <a:ext cx="2011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3182112"/>
            <a:ext cx="146304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102B4E"/>
                </a:solidFill>
                <a:latin typeface="Aptos"/>
              </a:rPr>
              <a:t>Payrun Summary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3493008"/>
            <a:ext cx="1097280" cy="155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80" b="0">
                <a:solidFill>
                  <a:srgbClr val="5B6C85"/>
                </a:solidFill>
                <a:latin typeface="Aptos"/>
              </a:rPr>
              <a:t>Total Employees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46120" y="3493008"/>
            <a:ext cx="594360" cy="155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80" b="1">
                <a:solidFill>
                  <a:srgbClr val="102B4E"/>
                </a:solidFill>
                <a:latin typeface="Aptos"/>
              </a:rPr>
              <a:t>256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0" y="3721608"/>
            <a:ext cx="1097280" cy="155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80" b="0">
                <a:solidFill>
                  <a:srgbClr val="5B6C85"/>
                </a:solidFill>
                <a:latin typeface="Aptos"/>
              </a:rPr>
              <a:t>Total Gross Pay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3721608"/>
            <a:ext cx="594360" cy="155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80" b="1">
                <a:solidFill>
                  <a:srgbClr val="102B4E"/>
                </a:solidFill>
                <a:latin typeface="Aptos"/>
              </a:rPr>
              <a:t>$1,245,320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3950208"/>
            <a:ext cx="1097280" cy="155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80" b="0">
                <a:solidFill>
                  <a:srgbClr val="5B6C85"/>
                </a:solidFill>
                <a:latin typeface="Aptos"/>
              </a:rPr>
              <a:t>Total Net Pay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6120" y="3950208"/>
            <a:ext cx="594360" cy="155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80" b="1">
                <a:solidFill>
                  <a:srgbClr val="102B4E"/>
                </a:solidFill>
                <a:latin typeface="Aptos"/>
              </a:rPr>
              <a:t>$912,450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4178808"/>
            <a:ext cx="1097280" cy="155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80" b="0">
                <a:solidFill>
                  <a:srgbClr val="5B6C85"/>
                </a:solidFill>
                <a:latin typeface="Aptos"/>
              </a:rPr>
              <a:t>New Hires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4178808"/>
            <a:ext cx="594360" cy="155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80" b="1">
                <a:solidFill>
                  <a:srgbClr val="102B4E"/>
                </a:solidFill>
                <a:latin typeface="Aptos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4407408"/>
            <a:ext cx="1097280" cy="155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80" b="0">
                <a:solidFill>
                  <a:srgbClr val="5B6C85"/>
                </a:solidFill>
                <a:latin typeface="Aptos"/>
              </a:rPr>
              <a:t>Terminations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46120" y="4407408"/>
            <a:ext cx="594360" cy="155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80" b="1">
                <a:solidFill>
                  <a:srgbClr val="102B4E"/>
                </a:solidFill>
                <a:latin typeface="Aptos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86000" y="4636008"/>
            <a:ext cx="1097280" cy="155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80" b="0">
                <a:solidFill>
                  <a:srgbClr val="5B6C85"/>
                </a:solidFill>
                <a:latin typeface="Aptos"/>
              </a:rPr>
              <a:t>Changes This Payrun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6120" y="4636008"/>
            <a:ext cx="594360" cy="1554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r"/>
            <a:r>
              <a:rPr sz="780" b="1">
                <a:solidFill>
                  <a:srgbClr val="102B4E"/>
                </a:solidFill>
                <a:latin typeface="Aptos"/>
              </a:rP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06240" y="3182112"/>
            <a:ext cx="12801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102B4E"/>
                </a:solidFill>
                <a:latin typeface="Aptos"/>
              </a:rPr>
              <a:t>Changes Identified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40680" y="3136392"/>
            <a:ext cx="274320" cy="274320"/>
          </a:xfrm>
          <a:prstGeom prst="roundRect">
            <a:avLst/>
          </a:prstGeom>
          <a:solidFill>
            <a:srgbClr val="FFF8EE"/>
          </a:solidFill>
          <a:ln>
            <a:solidFill>
              <a:srgbClr val="FFF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40680" y="3154680"/>
            <a:ext cx="274320" cy="2560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EB7E14"/>
                </a:solidFill>
                <a:latin typeface="Aptos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24528" y="3520440"/>
            <a:ext cx="141732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80" b="0">
                <a:solidFill>
                  <a:srgbClr val="1F3049"/>
                </a:solidFill>
                <a:latin typeface="Aptos"/>
              </a:rPr>
              <a:t>3   Pay rate changes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24528" y="3767328"/>
            <a:ext cx="141732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80" b="0">
                <a:solidFill>
                  <a:srgbClr val="1F3049"/>
                </a:solidFill>
                <a:latin typeface="Aptos"/>
              </a:rPr>
              <a:t>2   Location changes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24528" y="4014216"/>
            <a:ext cx="141732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80" b="0">
                <a:solidFill>
                  <a:srgbClr val="1F3049"/>
                </a:solidFill>
                <a:latin typeface="Aptos"/>
              </a:rPr>
              <a:t>2   Department changes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224528" y="4261104"/>
            <a:ext cx="141732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80" b="0">
                <a:solidFill>
                  <a:srgbClr val="1F3049"/>
                </a:solidFill>
                <a:latin typeface="Aptos"/>
              </a:rPr>
              <a:t>1   New hire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24528" y="4507992"/>
            <a:ext cx="141732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80" b="0">
                <a:solidFill>
                  <a:srgbClr val="1F3049"/>
                </a:solidFill>
                <a:latin typeface="Aptos"/>
              </a:rPr>
              <a:t>1   Termination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224528" y="4736592"/>
            <a:ext cx="128016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1">
                <a:solidFill>
                  <a:srgbClr val="1469DC"/>
                </a:solidFill>
                <a:latin typeface="Aptos"/>
              </a:rPr>
              <a:t>View All Changes 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89320" y="3182112"/>
            <a:ext cx="118872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50" b="1">
                <a:solidFill>
                  <a:srgbClr val="102B4E"/>
                </a:solidFill>
                <a:latin typeface="Aptos"/>
              </a:rPr>
              <a:t>Take Action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89320" y="3456432"/>
            <a:ext cx="105156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89320" y="3474720"/>
            <a:ext cx="1051560" cy="2560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80" b="1">
                <a:solidFill>
                  <a:srgbClr val="1469DC"/>
                </a:solidFill>
                <a:latin typeface="Aptos"/>
              </a:rPr>
              <a:t>Update Employee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059168" y="3456432"/>
            <a:ext cx="777240" cy="27432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059168" y="3474720"/>
            <a:ext cx="777240" cy="25603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20" b="1">
                <a:solidFill>
                  <a:srgbClr val="5B6C85"/>
                </a:solidFill>
                <a:latin typeface="Aptos"/>
              </a:rPr>
              <a:t>Ask a Question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89320" y="3822191"/>
            <a:ext cx="73152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50" b="0">
                <a:solidFill>
                  <a:srgbClr val="5B6C85"/>
                </a:solidFill>
                <a:latin typeface="Aptos"/>
              </a:rPr>
              <a:t>Employee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629400" y="3794759"/>
            <a:ext cx="1234440" cy="228600"/>
          </a:xfrm>
          <a:prstGeom prst="roundRect">
            <a:avLst/>
          </a:prstGeom>
          <a:solidFill>
            <a:srgbClr val="FFFFFF"/>
          </a:solidFill>
          <a:ln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20840" y="3822191"/>
            <a:ext cx="105156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20" b="0">
                <a:solidFill>
                  <a:srgbClr val="1F3049"/>
                </a:solidFill>
                <a:latin typeface="Aptos"/>
              </a:rPr>
              <a:t>John Smith (100123)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89320" y="4096511"/>
            <a:ext cx="73152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50" b="0">
                <a:solidFill>
                  <a:srgbClr val="5B6C85"/>
                </a:solidFill>
                <a:latin typeface="Aptos"/>
              </a:rPr>
              <a:t>Change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629400" y="4069079"/>
            <a:ext cx="1234440" cy="228600"/>
          </a:xfrm>
          <a:prstGeom prst="roundRect">
            <a:avLst/>
          </a:prstGeom>
          <a:solidFill>
            <a:srgbClr val="FFFFFF"/>
          </a:solidFill>
          <a:ln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20840" y="4096511"/>
            <a:ext cx="105156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20" b="0">
                <a:solidFill>
                  <a:srgbClr val="1F3049"/>
                </a:solidFill>
                <a:latin typeface="Aptos"/>
              </a:rPr>
              <a:t>Pay Rate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89320" y="4370831"/>
            <a:ext cx="73152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50" b="0">
                <a:solidFill>
                  <a:srgbClr val="5B6C85"/>
                </a:solidFill>
                <a:latin typeface="Aptos"/>
              </a:rPr>
              <a:t>New Pay Rate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629400" y="4343399"/>
            <a:ext cx="1234440" cy="228600"/>
          </a:xfrm>
          <a:prstGeom prst="roundRect">
            <a:avLst/>
          </a:prstGeom>
          <a:solidFill>
            <a:srgbClr val="FFFFFF"/>
          </a:solidFill>
          <a:ln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720840" y="4370831"/>
            <a:ext cx="105156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20" b="0">
                <a:solidFill>
                  <a:srgbClr val="1F3049"/>
                </a:solidFill>
                <a:latin typeface="Aptos"/>
              </a:rPr>
              <a:t>$ 45.00 / hour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89320" y="4645152"/>
            <a:ext cx="73152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50" b="0">
                <a:solidFill>
                  <a:srgbClr val="5B6C85"/>
                </a:solidFill>
                <a:latin typeface="Aptos"/>
              </a:rPr>
              <a:t>Effective Date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629400" y="4617720"/>
            <a:ext cx="1234440" cy="228600"/>
          </a:xfrm>
          <a:prstGeom prst="roundRect">
            <a:avLst/>
          </a:prstGeom>
          <a:solidFill>
            <a:srgbClr val="FFFFFF"/>
          </a:solidFill>
          <a:ln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720840" y="4645152"/>
            <a:ext cx="1051560" cy="1371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20" b="0">
                <a:solidFill>
                  <a:srgbClr val="1F3049"/>
                </a:solidFill>
                <a:latin typeface="Aptos"/>
              </a:rPr>
              <a:t>08/16/2026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989320" y="4919472"/>
            <a:ext cx="1874519" cy="292608"/>
          </a:xfrm>
          <a:prstGeom prst="roundRect">
            <a:avLst/>
          </a:prstGeom>
          <a:solidFill>
            <a:srgbClr val="1469DC"/>
          </a:solidFill>
          <a:ln>
            <a:solidFill>
              <a:srgbClr val="14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989320" y="4937759"/>
            <a:ext cx="1874519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830" b="1">
                <a:solidFill>
                  <a:srgbClr val="FFFFFF"/>
                </a:solidFill>
                <a:latin typeface="Aptos"/>
              </a:rPr>
              <a:t>Update via PEO API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595360" y="960120"/>
            <a:ext cx="32461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B4CD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96528" y="1115568"/>
            <a:ext cx="2743200" cy="274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102B4E"/>
                </a:solidFill>
                <a:latin typeface="Aptos"/>
              </a:rPr>
              <a:t>What happens behind the scenes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732520" y="1508760"/>
            <a:ext cx="320040" cy="320040"/>
          </a:xfrm>
          <a:prstGeom prst="roundRect">
            <a:avLst/>
          </a:prstGeom>
          <a:solidFill>
            <a:srgbClr val="1469DC"/>
          </a:solidFill>
          <a:ln>
            <a:solidFill>
              <a:srgbClr val="14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732520" y="1527048"/>
            <a:ext cx="320040" cy="3017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9189720" y="1435607"/>
            <a:ext cx="2377440" cy="576072"/>
          </a:xfrm>
          <a:prstGeom prst="roundRect">
            <a:avLst/>
          </a:prstGeom>
          <a:solidFill>
            <a:srgbClr val="EFF7FF"/>
          </a:solidFill>
          <a:ln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345168" y="1527048"/>
            <a:ext cx="196596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102B4E"/>
                </a:solidFill>
                <a:latin typeface="Aptos"/>
              </a:rPr>
              <a:t>User updates employee data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345168" y="1719072"/>
            <a:ext cx="1965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70" b="0">
                <a:solidFill>
                  <a:srgbClr val="1F3049"/>
                </a:solidFill>
                <a:latin typeface="Aptos"/>
              </a:rPr>
              <a:t>pay rate, location, department, etc.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10378440" y="2039112"/>
            <a:ext cx="0" cy="182879"/>
          </a:xfrm>
          <a:prstGeom prst="line">
            <a:avLst/>
          </a:prstGeom>
          <a:ln w="25400">
            <a:solidFill>
              <a:srgbClr val="14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8732520" y="2295144"/>
            <a:ext cx="320040" cy="320040"/>
          </a:xfrm>
          <a:prstGeom prst="roundRect">
            <a:avLst/>
          </a:prstGeom>
          <a:solidFill>
            <a:srgbClr val="0C9658"/>
          </a:solidFill>
          <a:ln>
            <a:solidFill>
              <a:srgbClr val="0C9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732520" y="2313432"/>
            <a:ext cx="320040" cy="3017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9189720" y="2221991"/>
            <a:ext cx="2377440" cy="576072"/>
          </a:xfrm>
          <a:prstGeom prst="roundRect">
            <a:avLst/>
          </a:prstGeom>
          <a:solidFill>
            <a:srgbClr val="EFFAF5"/>
          </a:solidFill>
          <a:ln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345168" y="2313432"/>
            <a:ext cx="196596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102B4E"/>
                </a:solidFill>
                <a:latin typeface="Aptos"/>
              </a:rPr>
              <a:t>PEO API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345168" y="2505456"/>
            <a:ext cx="1965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70" b="0">
                <a:solidFill>
                  <a:srgbClr val="1F3049"/>
                </a:solidFill>
                <a:latin typeface="Aptos"/>
              </a:rPr>
              <a:t>updates employee master data and history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10378440" y="2825496"/>
            <a:ext cx="0" cy="182880"/>
          </a:xfrm>
          <a:prstGeom prst="line">
            <a:avLst/>
          </a:prstGeom>
          <a:ln w="25400">
            <a:solidFill>
              <a:srgbClr val="14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Rounded Rectangle 84"/>
          <p:cNvSpPr/>
          <p:nvPr/>
        </p:nvSpPr>
        <p:spPr>
          <a:xfrm>
            <a:off x="8732520" y="3081528"/>
            <a:ext cx="320040" cy="320040"/>
          </a:xfrm>
          <a:prstGeom prst="roundRect">
            <a:avLst/>
          </a:prstGeom>
          <a:solidFill>
            <a:srgbClr val="6A40BE"/>
          </a:solidFill>
          <a:ln>
            <a:solidFill>
              <a:srgbClr val="6A4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732520" y="3099816"/>
            <a:ext cx="320040" cy="3017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9189720" y="3008376"/>
            <a:ext cx="2377440" cy="576072"/>
          </a:xfrm>
          <a:prstGeom prst="roundRect">
            <a:avLst/>
          </a:prstGeom>
          <a:solidFill>
            <a:srgbClr val="F8F4FF"/>
          </a:solidFill>
          <a:ln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345168" y="3099816"/>
            <a:ext cx="196596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102B4E"/>
                </a:solidFill>
                <a:latin typeface="Aptos"/>
              </a:rPr>
              <a:t>Event to Kafka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345168" y="3291840"/>
            <a:ext cx="1965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70" b="0">
                <a:solidFill>
                  <a:srgbClr val="1F3049"/>
                </a:solidFill>
                <a:latin typeface="Aptos"/>
              </a:rPr>
              <a:t>employee.updated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10378440" y="3611880"/>
            <a:ext cx="0" cy="182880"/>
          </a:xfrm>
          <a:prstGeom prst="line">
            <a:avLst/>
          </a:prstGeom>
          <a:ln w="25400">
            <a:solidFill>
              <a:srgbClr val="14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ounded Rectangle 90"/>
          <p:cNvSpPr/>
          <p:nvPr/>
        </p:nvSpPr>
        <p:spPr>
          <a:xfrm>
            <a:off x="8732520" y="3867912"/>
            <a:ext cx="320040" cy="320040"/>
          </a:xfrm>
          <a:prstGeom prst="roundRect">
            <a:avLst/>
          </a:prstGeom>
          <a:solidFill>
            <a:srgbClr val="EB7E14"/>
          </a:solidFill>
          <a:ln>
            <a:solidFill>
              <a:srgbClr val="EB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732520" y="3886200"/>
            <a:ext cx="320040" cy="3017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9189720" y="3794760"/>
            <a:ext cx="2377440" cy="576072"/>
          </a:xfrm>
          <a:prstGeom prst="roundRect">
            <a:avLst/>
          </a:prstGeom>
          <a:solidFill>
            <a:srgbClr val="FFF8EE"/>
          </a:solidFill>
          <a:ln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345168" y="3886200"/>
            <a:ext cx="196596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102B4E"/>
                </a:solidFill>
                <a:latin typeface="Aptos"/>
              </a:rPr>
              <a:t>DCP Service Consumes Event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345168" y="4078224"/>
            <a:ext cx="1965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70" b="0">
                <a:solidFill>
                  <a:srgbClr val="1F3049"/>
                </a:solidFill>
                <a:latin typeface="Aptos"/>
              </a:rPr>
              <a:t>updates the current payrun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0378440" y="4398264"/>
            <a:ext cx="0" cy="182880"/>
          </a:xfrm>
          <a:prstGeom prst="line">
            <a:avLst/>
          </a:prstGeom>
          <a:ln w="25400">
            <a:solidFill>
              <a:srgbClr val="1469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/>
          <p:cNvSpPr/>
          <p:nvPr/>
        </p:nvSpPr>
        <p:spPr>
          <a:xfrm>
            <a:off x="8732520" y="4654296"/>
            <a:ext cx="320040" cy="320040"/>
          </a:xfrm>
          <a:prstGeom prst="roundRect">
            <a:avLst/>
          </a:prstGeom>
          <a:solidFill>
            <a:srgbClr val="0C9658"/>
          </a:solidFill>
          <a:ln>
            <a:solidFill>
              <a:srgbClr val="0C9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732520" y="4672583"/>
            <a:ext cx="320040" cy="301751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189720" y="4581144"/>
            <a:ext cx="2377440" cy="576072"/>
          </a:xfrm>
          <a:prstGeom prst="roundRect">
            <a:avLst/>
          </a:prstGeom>
          <a:solidFill>
            <a:srgbClr val="EFFAF5"/>
          </a:solidFill>
          <a:ln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9345168" y="4672583"/>
            <a:ext cx="196596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00" b="1">
                <a:solidFill>
                  <a:srgbClr val="102B4E"/>
                </a:solidFill>
                <a:latin typeface="Aptos"/>
              </a:rPr>
              <a:t>Paycheck Updated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345168" y="4864608"/>
            <a:ext cx="1965960" cy="2286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70" b="0">
                <a:solidFill>
                  <a:srgbClr val="1F3049"/>
                </a:solidFill>
                <a:latin typeface="Aptos"/>
              </a:rPr>
              <a:t>running paycheck refreshes automatically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28600" y="5870448"/>
            <a:ext cx="11612880" cy="475488"/>
          </a:xfrm>
          <a:prstGeom prst="roundRect">
            <a:avLst/>
          </a:prstGeom>
          <a:solidFill>
            <a:srgbClr val="EFFAF5"/>
          </a:solidFill>
          <a:ln>
            <a:solidFill>
              <a:srgbClr val="B4E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2920" y="5961888"/>
            <a:ext cx="246888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30" b="1">
                <a:solidFill>
                  <a:srgbClr val="102B4E"/>
                </a:solidFill>
                <a:latin typeface="Aptos"/>
              </a:rPr>
              <a:t>✓ Faster &amp; easier updates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02920" y="6144768"/>
            <a:ext cx="2468880" cy="128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50" b="0">
                <a:solidFill>
                  <a:srgbClr val="5B6C85"/>
                </a:solidFill>
                <a:latin typeface="Aptos"/>
              </a:rPr>
              <a:t>Make changes directly from the payrun.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246120" y="5961888"/>
            <a:ext cx="246888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30" b="1">
                <a:solidFill>
                  <a:srgbClr val="102B4E"/>
                </a:solidFill>
                <a:latin typeface="Aptos"/>
              </a:rPr>
              <a:t>◷ Real-time impact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246120" y="6144768"/>
            <a:ext cx="2468880" cy="128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50" b="0">
                <a:solidFill>
                  <a:srgbClr val="5B6C85"/>
                </a:solidFill>
                <a:latin typeface="Aptos"/>
              </a:rPr>
              <a:t>Updates flow to DCP and refresh the payrun.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080760" y="5961888"/>
            <a:ext cx="246888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30" b="1">
                <a:solidFill>
                  <a:srgbClr val="102B4E"/>
                </a:solidFill>
                <a:latin typeface="Aptos"/>
              </a:rPr>
              <a:t>▥ Better visibility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080760" y="6144768"/>
            <a:ext cx="2468880" cy="128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50" b="0">
                <a:solidFill>
                  <a:srgbClr val="5B6C85"/>
                </a:solidFill>
                <a:latin typeface="Aptos"/>
              </a:rPr>
              <a:t>Clear summary of changes in one place.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869680" y="5961888"/>
            <a:ext cx="246888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30" b="1">
                <a:solidFill>
                  <a:srgbClr val="102B4E"/>
                </a:solidFill>
                <a:latin typeface="Aptos"/>
              </a:rPr>
              <a:t>⬟ Accurate &amp; compliant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869680" y="6144768"/>
            <a:ext cx="2468880" cy="128016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50" b="0">
                <a:solidFill>
                  <a:srgbClr val="5B6C85"/>
                </a:solidFill>
                <a:latin typeface="Aptos"/>
              </a:rPr>
              <a:t>Uses PEO APIs and maintains history.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BFD"/>
          </a:solidFill>
          <a:ln>
            <a:solidFill>
              <a:srgbClr val="F9FB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64592"/>
            <a:ext cx="11521440" cy="38404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2300" b="1">
                <a:solidFill>
                  <a:srgbClr val="102B4E"/>
                </a:solidFill>
                <a:latin typeface="Aptos"/>
              </a:rPr>
              <a:t>Incident Generator Agent – From Issue to Incident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" y="594360"/>
            <a:ext cx="11247120" cy="3200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80" b="0">
                <a:solidFill>
                  <a:srgbClr val="5B6C85"/>
                </a:solidFill>
                <a:latin typeface="Aptos"/>
              </a:rPr>
              <a:t>User reports an issue, the agent reproduces the scenario, captures evidence, creates an incident, and sends it to the right team.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" y="1005840"/>
            <a:ext cx="2286000" cy="4663440"/>
          </a:xfrm>
          <a:prstGeom prst="roundRect">
            <a:avLst/>
          </a:prstGeom>
          <a:solidFill>
            <a:srgbClr val="EFF7FF"/>
          </a:solidFill>
          <a:ln>
            <a:solidFill>
              <a:srgbClr val="14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43000"/>
            <a:ext cx="384048" cy="384048"/>
          </a:xfrm>
          <a:prstGeom prst="roundRect">
            <a:avLst/>
          </a:prstGeom>
          <a:solidFill>
            <a:srgbClr val="1469DC"/>
          </a:solidFill>
          <a:ln>
            <a:solidFill>
              <a:srgbClr val="146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61288"/>
            <a:ext cx="384048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170432"/>
            <a:ext cx="1554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1469DC"/>
                </a:solidFill>
                <a:latin typeface="Aptos"/>
              </a:rPr>
              <a:t>User Reports Issue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005840"/>
            <a:ext cx="2286000" cy="4663440"/>
          </a:xfrm>
          <a:prstGeom prst="roundRect">
            <a:avLst/>
          </a:prstGeom>
          <a:solidFill>
            <a:srgbClr val="EFFAF5"/>
          </a:solidFill>
          <a:ln>
            <a:solidFill>
              <a:srgbClr val="0C9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0" y="1143000"/>
            <a:ext cx="384048" cy="384048"/>
          </a:xfrm>
          <a:prstGeom prst="roundRect">
            <a:avLst/>
          </a:prstGeom>
          <a:solidFill>
            <a:srgbClr val="0C9658"/>
          </a:solidFill>
          <a:ln>
            <a:solidFill>
              <a:srgbClr val="0C96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161288"/>
            <a:ext cx="384048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1170432"/>
            <a:ext cx="1554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0C9658"/>
                </a:solidFill>
                <a:latin typeface="Aptos"/>
              </a:rPr>
              <a:t>Agent Recreates
Scenario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74920" y="1005840"/>
            <a:ext cx="2286000" cy="4663440"/>
          </a:xfrm>
          <a:prstGeom prst="roundRect">
            <a:avLst/>
          </a:prstGeom>
          <a:solidFill>
            <a:srgbClr val="FFF8EE"/>
          </a:solidFill>
          <a:ln>
            <a:solidFill>
              <a:srgbClr val="EB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12080" y="1143000"/>
            <a:ext cx="384048" cy="384048"/>
          </a:xfrm>
          <a:prstGeom prst="roundRect">
            <a:avLst/>
          </a:prstGeom>
          <a:solidFill>
            <a:srgbClr val="EB7E14"/>
          </a:solidFill>
          <a:ln>
            <a:solidFill>
              <a:srgbClr val="EB7E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1161288"/>
            <a:ext cx="384048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96712" y="1170432"/>
            <a:ext cx="1554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EB7E14"/>
                </a:solidFill>
                <a:latin typeface="Aptos"/>
              </a:rPr>
              <a:t>Captures Evidence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1005840"/>
            <a:ext cx="2286000" cy="4663440"/>
          </a:xfrm>
          <a:prstGeom prst="roundRect">
            <a:avLst/>
          </a:prstGeom>
          <a:solidFill>
            <a:srgbClr val="F8F4FF"/>
          </a:solidFill>
          <a:ln>
            <a:solidFill>
              <a:srgbClr val="6A4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80960" y="1143000"/>
            <a:ext cx="384048" cy="384048"/>
          </a:xfrm>
          <a:prstGeom prst="roundRect">
            <a:avLst/>
          </a:prstGeom>
          <a:solidFill>
            <a:srgbClr val="6A40BE"/>
          </a:solidFill>
          <a:ln>
            <a:solidFill>
              <a:srgbClr val="6A40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1161288"/>
            <a:ext cx="384048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1170432"/>
            <a:ext cx="15544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6A40BE"/>
                </a:solidFill>
                <a:latin typeface="Aptos"/>
              </a:rPr>
              <a:t>Creates Incident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12680" y="1005840"/>
            <a:ext cx="2057400" cy="4663440"/>
          </a:xfrm>
          <a:prstGeom prst="roundRect">
            <a:avLst/>
          </a:prstGeom>
          <a:solidFill>
            <a:srgbClr val="FFF3F5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149840" y="1143000"/>
            <a:ext cx="384048" cy="384048"/>
          </a:xfrm>
          <a:prstGeom prst="roundRect">
            <a:avLst/>
          </a:prstGeom>
          <a:solidFill>
            <a:srgbClr val="DC2337"/>
          </a:solidFill>
          <a:ln>
            <a:solidFill>
              <a:srgbClr val="DC2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9840" y="1161288"/>
            <a:ext cx="384048" cy="365759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4472" y="1170432"/>
            <a:ext cx="1325880" cy="4389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DC2337"/>
                </a:solidFill>
                <a:latin typeface="Aptos"/>
              </a:rPr>
              <a:t>Sends to Engineering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1874519"/>
            <a:ext cx="1874519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19" b="0">
                <a:solidFill>
                  <a:srgbClr val="1F3049"/>
                </a:solidFill>
                <a:latin typeface="Aptos"/>
              </a:rPr>
              <a:t>User sees an issue in the running payrun and prompts the agent.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2514600"/>
            <a:ext cx="1993392" cy="2240280"/>
          </a:xfrm>
          <a:prstGeom prst="roundRect">
            <a:avLst/>
          </a:prstGeom>
          <a:solidFill>
            <a:srgbClr val="FFFFFF"/>
          </a:solidFill>
          <a:ln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" y="2514600"/>
            <a:ext cx="1993392" cy="384048"/>
          </a:xfrm>
          <a:prstGeom prst="rect">
            <a:avLst/>
          </a:prstGeom>
          <a:solidFill>
            <a:srgbClr val="102B4E"/>
          </a:solidFill>
          <a:ln>
            <a:solidFill>
              <a:srgbClr val="102B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2615184"/>
            <a:ext cx="1645920" cy="16459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ptos"/>
              </a:rPr>
              <a:t>🤖 Payroll Assistant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3154680"/>
            <a:ext cx="1508760" cy="7315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30" b="0">
                <a:solidFill>
                  <a:srgbClr val="1F3049"/>
                </a:solidFill>
                <a:latin typeface="Aptos"/>
              </a:rPr>
              <a:t>The employee paycheck total is incorrect after changing the pay rate. Please create an incident for this.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1874519"/>
            <a:ext cx="1874519" cy="548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19" b="0">
                <a:solidFill>
                  <a:srgbClr val="1F3049"/>
                </a:solidFill>
                <a:latin typeface="Aptos"/>
              </a:rPr>
              <a:t>Agent runs the same steps in a test environment automatically.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80360" y="2743200"/>
            <a:ext cx="1737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0C9658"/>
                </a:solidFill>
                <a:latin typeface="Aptos"/>
              </a:rPr>
              <a:t>✓  Login to payroll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80360" y="3090672"/>
            <a:ext cx="1737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0C9658"/>
                </a:solidFill>
                <a:latin typeface="Aptos"/>
              </a:rPr>
              <a:t>✓  Change pay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360" y="3438144"/>
            <a:ext cx="1737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0C9658"/>
                </a:solidFill>
                <a:latin typeface="Aptos"/>
              </a:rPr>
              <a:t>✓  Run pay calculation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3785616"/>
            <a:ext cx="1737360" cy="20116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0">
                <a:solidFill>
                  <a:srgbClr val="0C9658"/>
                </a:solidFill>
                <a:latin typeface="Aptos"/>
              </a:rPr>
              <a:t>✓  Verify results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80360" y="4663440"/>
            <a:ext cx="173736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000" b="0">
                <a:solidFill>
                  <a:srgbClr val="102B4E"/>
                </a:solidFill>
                <a:latin typeface="Aptos"/>
              </a:rPr>
              <a:t>🤖
Agent is reproducing the issue…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57800" y="1874519"/>
            <a:ext cx="1874519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19" b="0">
                <a:solidFill>
                  <a:srgbClr val="1F3049"/>
                </a:solidFill>
                <a:latin typeface="Aptos"/>
              </a:rPr>
              <a:t>Agent takes screenshots and collects relevant logs.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57800" y="2560320"/>
            <a:ext cx="187451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94960" y="2697480"/>
            <a:ext cx="15544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80" b="1">
                <a:solidFill>
                  <a:srgbClr val="DC2337"/>
                </a:solidFill>
                <a:latin typeface="Aptos"/>
              </a:rPr>
              <a:t>⚠ Incorrect paycheck total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13248" y="3063240"/>
            <a:ext cx="14630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19" b="0">
                <a:solidFill>
                  <a:srgbClr val="1F3049"/>
                </a:solidFill>
                <a:latin typeface="Aptos"/>
              </a:rPr>
              <a:t>Expected Total      $2,450.00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13248" y="3364992"/>
            <a:ext cx="14630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19" b="1">
                <a:solidFill>
                  <a:srgbClr val="102B4E"/>
                </a:solidFill>
                <a:latin typeface="Aptos"/>
              </a:rPr>
              <a:t>Actual Total          $2,150.00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257800" y="4114800"/>
            <a:ext cx="1874519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94960" y="4279392"/>
            <a:ext cx="1554480" cy="5943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60" b="0">
                <a:solidFill>
                  <a:srgbClr val="102B4E"/>
                </a:solidFill>
                <a:latin typeface="Aptos"/>
              </a:rPr>
              <a:t>10:17:23 INFO  Pay calculation completed
10:17:24 ERROR Mismatch in total amount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26679" y="1874519"/>
            <a:ext cx="1874519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80" b="0">
                <a:solidFill>
                  <a:srgbClr val="1F3049"/>
                </a:solidFill>
                <a:latin typeface="Aptos"/>
              </a:rPr>
              <a:t>Agent creates a detailed incident with steps, evidence and expected vs actual results.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726679" y="2542032"/>
            <a:ext cx="1874519" cy="2606040"/>
          </a:xfrm>
          <a:prstGeom prst="roundRect">
            <a:avLst/>
          </a:prstGeom>
          <a:solidFill>
            <a:srgbClr val="FFFFFF"/>
          </a:solidFill>
          <a:ln>
            <a:solidFill>
              <a:srgbClr val="D3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82127" y="2697480"/>
            <a:ext cx="155448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950" b="1">
                <a:solidFill>
                  <a:srgbClr val="102B4E"/>
                </a:solidFill>
                <a:latin typeface="Aptos"/>
              </a:rPr>
              <a:t>⚑ New Incident Created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82127" y="3017520"/>
            <a:ext cx="1508760" cy="4572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30" b="1">
                <a:solidFill>
                  <a:srgbClr val="1F3049"/>
                </a:solidFill>
                <a:latin typeface="Aptos"/>
              </a:rPr>
              <a:t>Title
Incorrect paycheck total after updating pay 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82127" y="3611880"/>
            <a:ext cx="1508760" cy="914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780" b="0">
                <a:solidFill>
                  <a:srgbClr val="1F3049"/>
                </a:solidFill>
                <a:latin typeface="Aptos"/>
              </a:rPr>
              <a:t>Steps to reproduce:
1. Login to payroll
2. Update employee pay rate
3. Run pay calculation
4. Observe incorrect total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82127" y="4572000"/>
            <a:ext cx="150876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102B4E"/>
                </a:solidFill>
                <a:latin typeface="Aptos"/>
              </a:rPr>
              <a:t>Expected: $2,450.00
Actual:     $2,150.00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882127" y="4983480"/>
            <a:ext cx="658368" cy="228600"/>
          </a:xfrm>
          <a:prstGeom prst="roundRect">
            <a:avLst/>
          </a:prstGeom>
          <a:solidFill>
            <a:srgbClr val="FFF3F5"/>
          </a:solidFill>
          <a:ln>
            <a:solidFill>
              <a:srgbClr val="FFF3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882127" y="5001768"/>
            <a:ext cx="658368" cy="210312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750" b="1">
                <a:solidFill>
                  <a:srgbClr val="DC2337"/>
                </a:solidFill>
                <a:latin typeface="Aptos"/>
              </a:rPr>
              <a:t>High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95560" y="1874519"/>
            <a:ext cx="1600200" cy="502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019" b="0">
                <a:solidFill>
                  <a:srgbClr val="1F3049"/>
                </a:solidFill>
                <a:latin typeface="Aptos"/>
              </a:rPr>
              <a:t>Incident is automatically routed to the right team.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95560" y="2788920"/>
            <a:ext cx="1600200" cy="6858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1100" b="0">
                <a:solidFill>
                  <a:srgbClr val="102B4E"/>
                </a:solidFill>
                <a:latin typeface="Aptos"/>
              </a:rPr>
              <a:t>👥
Sent to
Payroll Engineering Team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168128" y="4069080"/>
            <a:ext cx="1691640" cy="777240"/>
          </a:xfrm>
          <a:prstGeom prst="roundRect">
            <a:avLst/>
          </a:prstGeom>
          <a:solidFill>
            <a:srgbClr val="EFFAF5"/>
          </a:solidFill>
          <a:ln>
            <a:solidFill>
              <a:srgbClr val="B4E1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332720" y="4251960"/>
            <a:ext cx="1371600" cy="4114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ctr"/>
            <a:r>
              <a:rPr sz="950" b="0">
                <a:solidFill>
                  <a:srgbClr val="0C9658"/>
                </a:solidFill>
                <a:latin typeface="Aptos"/>
              </a:rPr>
              <a:t>✓ Incident INC-10429
created and sent!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441448" y="3246120"/>
            <a:ext cx="137160" cy="0"/>
          </a:xfrm>
          <a:prstGeom prst="line">
            <a:avLst/>
          </a:prstGeom>
          <a:ln w="38100">
            <a:solidFill>
              <a:srgbClr val="7391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4910328" y="3246120"/>
            <a:ext cx="137160" cy="0"/>
          </a:xfrm>
          <a:prstGeom prst="line">
            <a:avLst/>
          </a:prstGeom>
          <a:ln w="38100">
            <a:solidFill>
              <a:srgbClr val="7391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379208" y="3246120"/>
            <a:ext cx="137160" cy="0"/>
          </a:xfrm>
          <a:prstGeom prst="line">
            <a:avLst/>
          </a:prstGeom>
          <a:ln w="38100">
            <a:solidFill>
              <a:srgbClr val="7391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848088" y="3246120"/>
            <a:ext cx="137160" cy="0"/>
          </a:xfrm>
          <a:prstGeom prst="line">
            <a:avLst/>
          </a:prstGeom>
          <a:ln w="38100">
            <a:solidFill>
              <a:srgbClr val="7391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182880" y="5897880"/>
            <a:ext cx="11795760" cy="457200"/>
          </a:xfrm>
          <a:prstGeom prst="roundRect">
            <a:avLst/>
          </a:prstGeom>
          <a:solidFill>
            <a:srgbClr val="EFF7FF"/>
          </a:solidFill>
          <a:ln>
            <a:solidFill>
              <a:srgbClr val="AACD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6016752"/>
            <a:ext cx="11064240" cy="18288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1469DC"/>
                </a:solidFill>
                <a:latin typeface="Aptos"/>
              </a:rPr>
              <a:t>✦  Result: Faster issue resolution with clear steps, evidence, and the right team notified — all automatically.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0972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6324F"/>
                </a:solidFill>
              </a:rPr>
              <a:t>End-to-End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94360" y="841248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17E"/>
                </a:solidFill>
              </a:rPr>
              <a:t>One control plane for agent configuration; multiple runtime agents attached to payroll microservices.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EEF3F8"/>
          </a:solidFill>
          <a:ln w="12700">
            <a:solidFill>
              <a:srgbClr val="0E5AA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12648" y="1993392"/>
            <a:ext cx="128930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Agent Studio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UI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2286000"/>
            <a:ext cx="50292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2514600" y="192024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F2EEFA"/>
          </a:solidFill>
          <a:ln w="12700">
            <a:solidFill>
              <a:srgbClr val="7257B5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2624328" y="1993392"/>
            <a:ext cx="128930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Agent Factory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0" y="2286000"/>
            <a:ext cx="50292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526280" y="192024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636008" y="1993392"/>
            <a:ext cx="128930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Templates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Model Config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2286000"/>
            <a:ext cx="50292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537960" y="192024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647688" y="1993392"/>
            <a:ext cx="128930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Tool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Bindings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2286000"/>
            <a:ext cx="50292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549640" y="1920240"/>
            <a:ext cx="1508760" cy="731520"/>
          </a:xfrm>
          <a:prstGeom prst="roundRect">
            <a:avLst>
              <a:gd name="adj" fmla="val 7500"/>
            </a:avLst>
          </a:prstGeom>
          <a:solidFill>
            <a:srgbClr val="EAF5EF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659368" y="1993392"/>
            <a:ext cx="128930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Agent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Registry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058400" y="2286000"/>
            <a:ext cx="50292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0561320" y="1920240"/>
            <a:ext cx="109728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7DFE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0671048" y="1993392"/>
            <a:ext cx="87782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GitHub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3246120"/>
            <a:ext cx="3200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80" dirty="0">
                <a:solidFill>
                  <a:srgbClr val="66717E"/>
                </a:solidFill>
              </a:rPr>
              <a:t>RUNTIME / PAYROLL MICROSERVICE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3611880"/>
            <a:ext cx="11064240" cy="1600200"/>
          </a:xfrm>
          <a:prstGeom prst="roundRect">
            <a:avLst>
              <a:gd name="adj" fmla="val 2857"/>
            </a:avLst>
          </a:prstGeom>
          <a:solidFill>
            <a:srgbClr val="F0F5F9"/>
          </a:solidFill>
          <a:ln w="12700">
            <a:solidFill>
              <a:srgbClr val="D7E2EC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22960" y="397764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0E5AA7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32688" y="4050792"/>
            <a:ext cx="188366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Payrun Service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83280" y="397764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FF4E8"/>
          </a:solidFill>
          <a:ln w="12700">
            <a:solidFill>
              <a:srgbClr val="E78324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493008" y="4050792"/>
            <a:ext cx="188366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Anomaly Agent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397764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F2EEFA"/>
          </a:solidFill>
          <a:ln w="12700">
            <a:solidFill>
              <a:srgbClr val="7257B5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053328" y="4050792"/>
            <a:ext cx="188366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General Query Agent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503920" y="3977640"/>
            <a:ext cx="2103120" cy="731520"/>
          </a:xfrm>
          <a:prstGeom prst="roundRect">
            <a:avLst>
              <a:gd name="adj" fmla="val 7500"/>
            </a:avLst>
          </a:prstGeom>
          <a:solidFill>
            <a:srgbClr val="EAF5EF"/>
          </a:solidFill>
          <a:ln w="12700">
            <a:solidFill>
              <a:srgbClr val="2E8B57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8613648" y="4050792"/>
            <a:ext cx="1883664" cy="5852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5"/>
                </a:solidFill>
              </a:rPr>
              <a:t>Summarizer Agent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926080" y="4343400"/>
            <a:ext cx="45720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486400" y="4343400"/>
            <a:ext cx="45720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046720" y="4343400"/>
            <a:ext cx="457200" cy="0"/>
          </a:xfrm>
          <a:prstGeom prst="line">
            <a:avLst/>
          </a:prstGeom>
          <a:noFill/>
          <a:ln w="25400">
            <a:solidFill>
              <a:srgbClr val="0E5AA7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58368" y="5623560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324F"/>
                </a:solidFill>
              </a:rPr>
              <a:t>Design principle: agent behavior is configuration-driven; payroll services remain the source of truth and tools provide controlled access.</a:t>
            </a:r>
            <a:endParaRPr lang="en-US" sz="13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73952"/>
            <a:ext cx="182880" cy="182880"/>
          </a:xfrm>
          <a:prstGeom prst="rect">
            <a:avLst/>
          </a:prstGeom>
        </p:spPr>
        <p:txBody>
          <a:bodyPr/>
          <a:lstStyle>
            <a:lvl1pPr>
              <a:defRPr sz="750">
                <a:solidFill>
                  <a:srgbClr val="7A8491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6915</Words>
  <Application>WPS Presentation</Application>
  <PresentationFormat>On-screen Show (16:9)</PresentationFormat>
  <Paragraphs>444</Paragraphs>
  <Slides>12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SimSun</vt:lpstr>
      <vt:lpstr>Wingdings</vt:lpstr>
      <vt:lpstr>Aptos</vt:lpstr>
      <vt:lpstr>Segoe UI</vt:lpstr>
      <vt:lpstr>Aptos</vt:lpstr>
      <vt:lpstr>Aptos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TriNet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Studio for Payroll Services</dc:title>
  <dc:creator>OpenAI</dc:creator>
  <dc:subject>Agent Studio - Payroll Agent Factory</dc:subject>
  <cp:lastModifiedBy>Himanshu Gupta</cp:lastModifiedBy>
  <cp:revision>3</cp:revision>
  <dcterms:created xsi:type="dcterms:W3CDTF">2026-09-10T22:16:00Z</dcterms:created>
  <dcterms:modified xsi:type="dcterms:W3CDTF">2026-09-11T05:06:22Z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FA1D828F6E6A45A2BE8C1F6AF7BEA5D3_12</vt:lpwstr>
  </property>
</Properties>
</file>