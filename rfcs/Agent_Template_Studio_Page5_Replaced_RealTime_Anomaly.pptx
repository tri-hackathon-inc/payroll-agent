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62" r:id="rId3"/>
    <p:sldId id="263" r:id="rId4"/>
    <p:sldId id="265" r:id="rId5"/>
    <p:sldId id="264" r:id="rId6"/>
    <p:sldId id="256" r:id="rId7"/>
    <p:sldId id="257" r:id="rId9"/>
    <p:sldId id="258" r:id="rId10"/>
    <p:sldId id="259" r:id="rId11"/>
    <p:sldId id="260" r:id="rId12"/>
    <p:sldId id="266" r:id="rId13"/>
    <p:sldId id="267" r:id="rId14"/>
    <p:sldId id="261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5AA7"/>
          </a:solidFill>
          <a:ln w="12700">
            <a:solidFill>
              <a:srgbClr val="0E5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7A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STUDIO • PAYROLL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8803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TriNet Agent Factory Concept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7A849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7A849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743"/>
                </a:solidFill>
              </a:rPr>
              <a:t>Business View | 1. Frame the Problem</a:t>
            </a:r>
            <a:endParaRPr sz="2700" b="1">
              <a:solidFill>
                <a:srgbClr val="12274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E6A78"/>
                </a:solidFill>
              </a:rPr>
              <a:t>Payroll has multiple high-value AI use cases, but each agent can become a separate engineering effort.</a:t>
            </a:r>
            <a:endParaRPr sz="1400">
              <a:solidFill>
                <a:srgbClr val="5E6A78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474720" cy="315468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73152" cy="3154680"/>
          </a:xfrm>
          <a:prstGeom prst="rect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105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743"/>
                </a:solidFill>
              </a:rPr>
              <a:t>Repeated Build Effort</a:t>
            </a:r>
            <a:endParaRPr sz="1700" b="1">
              <a:solidFill>
                <a:srgbClr val="12274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30632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• Every use case needs agent setup, model configuration, tools and service integration.</a:t>
            </a:r>
          </a:p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• Summarizer, General Query and Anomaly Detection repeat the same foundational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645920"/>
            <a:ext cx="3474720" cy="315468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1688" y="1645920"/>
            <a:ext cx="73152" cy="3154680"/>
          </a:xfrm>
          <a:prstGeom prst="rect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8105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743"/>
                </a:solidFill>
              </a:rPr>
              <a:t>Hard to Scale Across Payroll</a:t>
            </a:r>
            <a:endParaRPr sz="1700" b="1">
              <a:solidFill>
                <a:srgbClr val="122743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90288" y="2331720"/>
            <a:ext cx="30632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• Agents need to be wired into Payrun pages and backend flows.</a:t>
            </a:r>
          </a:p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• One-off implementations create inconsistent deployment, ownership and maintenance.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1645920"/>
            <a:ext cx="3474720" cy="315468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4152" y="1645920"/>
            <a:ext cx="73152" cy="3154680"/>
          </a:xfrm>
          <a:prstGeom prst="rect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8105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743"/>
                </a:solidFill>
              </a:rPr>
              <a:t>Trust &amp; Governance Matter</a:t>
            </a:r>
            <a:endParaRPr sz="1700" b="1">
              <a:solidFill>
                <a:srgbClr val="122743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02752" y="2331720"/>
            <a:ext cx="30632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• Payroll decisions depend on sensitive, high-trust data.</a:t>
            </a:r>
          </a:p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• Agents must use approved models, domain tools and controlled access—not ad-hoc integrations.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212080"/>
            <a:ext cx="9921240" cy="822960"/>
          </a:xfrm>
          <a:prstGeom prst="roundRect">
            <a:avLst/>
          </a:prstGeom>
          <a:solidFill>
            <a:srgbClr val="12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376672"/>
            <a:ext cx="9372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Business need: Create once, configure safely, and attach reusable agents to Payroll experiences.</a:t>
            </a:r>
            <a:endParaRPr sz="17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743"/>
                </a:solidFill>
              </a:rPr>
              <a:t>Business View | 2. Show the Idea</a:t>
            </a:r>
            <a:endParaRPr sz="2700" b="1">
              <a:solidFill>
                <a:srgbClr val="12274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E6A78"/>
                </a:solidFill>
              </a:rPr>
              <a:t>Agent Template Studio + Agent Factory turns agent creation into a reusable platform capability for Payroll.</a:t>
            </a:r>
            <a:endParaRPr sz="1400">
              <a:solidFill>
                <a:srgbClr val="5E6A78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11480" y="1874519"/>
            <a:ext cx="2121408" cy="1965960"/>
          </a:xfrm>
          <a:prstGeom prst="roundRect">
            <a:avLst/>
          </a:prstGeom>
          <a:solidFill>
            <a:srgbClr val="E8F2FA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2144" y="1536192"/>
            <a:ext cx="640080" cy="640080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163677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8470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22743"/>
                </a:solidFill>
              </a:rPr>
              <a:t>CREATE</a:t>
            </a:r>
            <a:endParaRPr sz="1400" b="1">
              <a:solidFill>
                <a:srgbClr val="122743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633472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262F3A"/>
                </a:solidFill>
              </a:rPr>
              <a:t>Start from an
Agent Template</a:t>
            </a:r>
            <a:endParaRPr sz="1150">
              <a:solidFill>
                <a:srgbClr val="262F3A"/>
              </a:solidFill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2569464" y="2596896"/>
            <a:ext cx="320040" cy="384048"/>
          </a:xfrm>
          <a:prstGeom prst="rightArrow">
            <a:avLst/>
          </a:prstGeom>
          <a:solidFill>
            <a:srgbClr val="9B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1874519"/>
            <a:ext cx="2121408" cy="1965960"/>
          </a:xfrm>
          <a:prstGeom prst="roundRect">
            <a:avLst/>
          </a:prstGeom>
          <a:solidFill>
            <a:srgbClr val="E8F2FA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83864" y="1536192"/>
            <a:ext cx="640080" cy="640080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163677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80360" y="2148840"/>
            <a:ext cx="18470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22743"/>
                </a:solidFill>
              </a:rPr>
              <a:t>CONFIGURE</a:t>
            </a:r>
            <a:endParaRPr sz="1400" b="1">
              <a:solidFill>
                <a:srgbClr val="122743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80360" y="2633472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262F3A"/>
                </a:solidFill>
              </a:rPr>
              <a:t>Description • Model
Domain • Page</a:t>
            </a:r>
            <a:endParaRPr sz="1150">
              <a:solidFill>
                <a:srgbClr val="262F3A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4901184" y="2596896"/>
            <a:ext cx="320040" cy="384048"/>
          </a:xfrm>
          <a:prstGeom prst="rightArrow">
            <a:avLst/>
          </a:prstGeom>
          <a:solidFill>
            <a:srgbClr val="9B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74920" y="1874519"/>
            <a:ext cx="2121408" cy="1965960"/>
          </a:xfrm>
          <a:prstGeom prst="roundRect">
            <a:avLst/>
          </a:prstGeom>
          <a:solidFill>
            <a:srgbClr val="E8F2FA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15583" y="1536192"/>
            <a:ext cx="640080" cy="640080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15583" y="163677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12080" y="2148840"/>
            <a:ext cx="18470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22743"/>
                </a:solidFill>
              </a:rPr>
              <a:t>ATTACH TOOLS</a:t>
            </a:r>
            <a:endParaRPr sz="1400" b="1">
              <a:solidFill>
                <a:srgbClr val="122743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12080" y="2633472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262F3A"/>
                </a:solidFill>
              </a:rPr>
              <a:t>Approved Payroll APIs
&amp; domain tools</a:t>
            </a:r>
            <a:endParaRPr sz="1150">
              <a:solidFill>
                <a:srgbClr val="262F3A"/>
              </a:solidFill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7232903" y="2596896"/>
            <a:ext cx="320040" cy="384048"/>
          </a:xfrm>
          <a:prstGeom prst="rightArrow">
            <a:avLst/>
          </a:prstGeom>
          <a:solidFill>
            <a:srgbClr val="9B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06640" y="1874519"/>
            <a:ext cx="2121408" cy="1965960"/>
          </a:xfrm>
          <a:prstGeom prst="roundRect">
            <a:avLst/>
          </a:prstGeom>
          <a:solidFill>
            <a:srgbClr val="E8F2FA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47304" y="1536192"/>
            <a:ext cx="640080" cy="640080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47304" y="163677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43800" y="2148840"/>
            <a:ext cx="18470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22743"/>
                </a:solidFill>
              </a:rPr>
              <a:t>PUBLISH</a:t>
            </a:r>
            <a:endParaRPr sz="1400" b="1">
              <a:solidFill>
                <a:srgbClr val="122743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43800" y="2633472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262F3A"/>
                </a:solidFill>
              </a:rPr>
              <a:t>Agent Factory creates
&amp; registers agent</a:t>
            </a:r>
            <a:endParaRPr sz="1150">
              <a:solidFill>
                <a:srgbClr val="262F3A"/>
              </a:solidFill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9564624" y="2596896"/>
            <a:ext cx="320040" cy="384048"/>
          </a:xfrm>
          <a:prstGeom prst="rightArrow">
            <a:avLst/>
          </a:prstGeom>
          <a:solidFill>
            <a:srgbClr val="9B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38359" y="1874519"/>
            <a:ext cx="2121408" cy="1965960"/>
          </a:xfrm>
          <a:prstGeom prst="roundRect">
            <a:avLst/>
          </a:prstGeom>
          <a:solidFill>
            <a:srgbClr val="E7F5ED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479024" y="1536192"/>
            <a:ext cx="640080" cy="640080"/>
          </a:xfrm>
          <a:prstGeom prst="ellipse">
            <a:avLst/>
          </a:prstGeom>
          <a:solidFill>
            <a:srgbClr val="2C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79024" y="163677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875519" y="2148840"/>
            <a:ext cx="18470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22743"/>
                </a:solidFill>
              </a:rPr>
              <a:t>USE IN PAYRUN</a:t>
            </a:r>
            <a:endParaRPr sz="1400" b="1">
              <a:solidFill>
                <a:srgbClr val="122743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875519" y="2633472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262F3A"/>
                </a:solidFill>
              </a:rPr>
              <a:t>Agent Window in
Payroll experience</a:t>
            </a:r>
            <a:endParaRPr sz="1150">
              <a:solidFill>
                <a:srgbClr val="262F3A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0080" y="43159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743"/>
                </a:solidFill>
              </a:rPr>
              <a:t>Business Value</a:t>
            </a:r>
            <a:endParaRPr sz="1800" b="1">
              <a:solidFill>
                <a:srgbClr val="122743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40080" y="4736592"/>
            <a:ext cx="3566160" cy="123444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4736592"/>
            <a:ext cx="73152" cy="1234440"/>
          </a:xfrm>
          <a:prstGeom prst="rect">
            <a:avLst/>
          </a:prstGeom>
          <a:solidFill>
            <a:srgbClr val="2C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901183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743"/>
                </a:solidFill>
              </a:rPr>
              <a:t>Faster Time-to-Value</a:t>
            </a:r>
            <a:endParaRPr sz="1700" b="1">
              <a:solidFill>
                <a:srgbClr val="122743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68680" y="5422392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Reusable templates reduce effort to launch new Payroll agents.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43400" y="4736592"/>
            <a:ext cx="3566160" cy="123444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43400" y="4736592"/>
            <a:ext cx="73152" cy="1234440"/>
          </a:xfrm>
          <a:prstGeom prst="rect">
            <a:avLst/>
          </a:prstGeom>
          <a:solidFill>
            <a:srgbClr val="2C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4901183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743"/>
                </a:solidFill>
              </a:rPr>
              <a:t>Governed AI</a:t>
            </a:r>
            <a:endParaRPr sz="1700" b="1">
              <a:solidFill>
                <a:srgbClr val="122743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72000" y="5422392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Models, tools and domains are controlled through a common configuration path.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4736592"/>
            <a:ext cx="3566160" cy="123444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20" y="4736592"/>
            <a:ext cx="73152" cy="1234440"/>
          </a:xfrm>
          <a:prstGeom prst="rect">
            <a:avLst/>
          </a:prstGeom>
          <a:solidFill>
            <a:srgbClr val="2C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4901183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743"/>
                </a:solidFill>
              </a:rPr>
              <a:t>Scale Across Use Cases</a:t>
            </a:r>
            <a:endParaRPr sz="1700" b="1">
              <a:solidFill>
                <a:srgbClr val="122743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75320" y="5422392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One platform supports Summarizer, General Query, Anomaly Detection and future agents.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743"/>
                </a:solidFill>
              </a:rPr>
              <a:t>Think Big — One Foundation, Many Domains</a:t>
            </a:r>
            <a:endParaRPr sz="2700" b="1">
              <a:solidFill>
                <a:srgbClr val="12274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5E6A78"/>
                </a:solidFill>
              </a:rPr>
              <a:t>Payrun is a reference implementation. The platform is designed from day one to support enterprise-wide agent creation.</a:t>
            </a:r>
            <a:endParaRPr sz="1350">
              <a:solidFill>
                <a:srgbClr val="5E6A78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794760" y="1600200"/>
            <a:ext cx="4572000" cy="2971800"/>
          </a:xfrm>
          <a:prstGeom prst="roundRect">
            <a:avLst/>
          </a:prstGeom>
          <a:solidFill>
            <a:srgbClr val="12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60520" y="1874519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</a:rPr>
              <a:t>AGENT TEMPLATE STUDIO</a:t>
            </a:r>
            <a:endParaRPr sz="21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60520" y="2514600"/>
            <a:ext cx="3840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350">
                <a:solidFill>
                  <a:srgbClr val="FFFFFF"/>
                </a:solidFill>
              </a:defRPr>
            </a:pPr>
            <a:r>
              <a:t>Reusable Agent Templates</a:t>
            </a:r>
          </a:p>
          <a:p>
            <a:pPr algn="ctr">
              <a:spcAft>
                <a:spcPts val="800"/>
              </a:spcAft>
              <a:defRPr sz="1350">
                <a:solidFill>
                  <a:srgbClr val="FFFFFF"/>
                </a:solidFill>
              </a:defRPr>
            </a:pPr>
            <a:r>
              <a:t>Agent Factory</a:t>
            </a:r>
          </a:p>
          <a:p>
            <a:pPr algn="ctr">
              <a:spcAft>
                <a:spcPts val="800"/>
              </a:spcAft>
              <a:defRPr sz="1350">
                <a:solidFill>
                  <a:srgbClr val="FFFFFF"/>
                </a:solidFill>
              </a:defRPr>
            </a:pPr>
            <a:r>
              <a:t>Model + Tool Catalog</a:t>
            </a:r>
          </a:p>
          <a:p>
            <a:pPr algn="ctr">
              <a:spcAft>
                <a:spcPts val="800"/>
              </a:spcAft>
              <a:defRPr sz="1350">
                <a:solidFill>
                  <a:srgbClr val="FFFFFF"/>
                </a:solidFill>
              </a:defRPr>
            </a:pPr>
            <a:r>
              <a:t>Guardrails • Evaluation • Observability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2148840" cy="1097280"/>
          </a:xfrm>
          <a:prstGeom prst="roundRect">
            <a:avLst/>
          </a:prstGeom>
          <a:solidFill>
            <a:srgbClr val="F6F8FB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5029200"/>
            <a:ext cx="19293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22743"/>
                </a:solidFill>
              </a:rPr>
              <a:t>PAYROLL</a:t>
            </a:r>
            <a:endParaRPr sz="1300" b="1">
              <a:solidFill>
                <a:srgbClr val="122743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2648" y="5367527"/>
            <a:ext cx="19293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262F3A"/>
                </a:solidFill>
              </a:rPr>
              <a:t>Payrun is the first
reference use case</a:t>
            </a:r>
            <a:endParaRPr sz="950">
              <a:solidFill>
                <a:srgbClr val="262F3A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880360" y="4892040"/>
            <a:ext cx="2148840" cy="1097280"/>
          </a:xfrm>
          <a:prstGeom prst="roundRect">
            <a:avLst/>
          </a:prstGeom>
          <a:solidFill>
            <a:srgbClr val="F6F8FB"/>
          </a:solidFill>
          <a:ln>
            <a:solidFill>
              <a:srgbClr val="6C4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5029200"/>
            <a:ext cx="19293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22743"/>
                </a:solidFill>
              </a:rPr>
              <a:t>HR</a:t>
            </a:r>
            <a:endParaRPr sz="1300" b="1">
              <a:solidFill>
                <a:srgbClr val="122743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90088" y="5367527"/>
            <a:ext cx="19293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262F3A"/>
                </a:solidFill>
              </a:rPr>
              <a:t>Configure templates
for HR workflows</a:t>
            </a:r>
            <a:endParaRPr sz="950">
              <a:solidFill>
                <a:srgbClr val="262F3A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257800" y="4892040"/>
            <a:ext cx="2148840" cy="1097280"/>
          </a:xfrm>
          <a:prstGeom prst="roundRect">
            <a:avLst/>
          </a:prstGeom>
          <a:solidFill>
            <a:srgbClr val="F6F8FB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7528" y="5029200"/>
            <a:ext cx="19293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22743"/>
                </a:solidFill>
              </a:rPr>
              <a:t>BENEFITS</a:t>
            </a:r>
            <a:endParaRPr sz="1300" b="1">
              <a:solidFill>
                <a:srgbClr val="122743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67528" y="5367527"/>
            <a:ext cx="19293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262F3A"/>
                </a:solidFill>
              </a:rPr>
              <a:t>Reuse foundation for
benefit experiences</a:t>
            </a:r>
            <a:endParaRPr sz="950">
              <a:solidFill>
                <a:srgbClr val="262F3A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635240" y="4892040"/>
            <a:ext cx="2148840" cy="1097280"/>
          </a:xfrm>
          <a:prstGeom prst="roundRect">
            <a:avLst/>
          </a:prstGeom>
          <a:solidFill>
            <a:srgbClr val="F6F8FB"/>
          </a:solidFill>
          <a:ln>
            <a:solidFill>
              <a:srgbClr val="D6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7" y="5029200"/>
            <a:ext cx="19293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22743"/>
                </a:solidFill>
              </a:rPr>
              <a:t>COMPLIANCE</a:t>
            </a:r>
            <a:endParaRPr sz="1300" b="1">
              <a:solidFill>
                <a:srgbClr val="122743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44967" y="5367527"/>
            <a:ext cx="19293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262F3A"/>
                </a:solidFill>
              </a:rPr>
              <a:t>Domain tools +
controlled workflows</a:t>
            </a:r>
            <a:endParaRPr sz="950">
              <a:solidFill>
                <a:srgbClr val="262F3A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012680" y="4892040"/>
            <a:ext cx="1691640" cy="1097280"/>
          </a:xfrm>
          <a:prstGeom prst="roundRect">
            <a:avLst/>
          </a:prstGeom>
          <a:solidFill>
            <a:srgbClr val="F6F8FB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22407" y="5029200"/>
            <a:ext cx="14721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22743"/>
                </a:solidFill>
              </a:rPr>
              <a:t>FUTURE</a:t>
            </a:r>
            <a:endParaRPr sz="1300" b="1">
              <a:solidFill>
                <a:srgbClr val="122743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122407" y="5367527"/>
            <a:ext cx="14721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262F3A"/>
                </a:solidFill>
              </a:rPr>
              <a:t>New domains
without new platform</a:t>
            </a:r>
            <a:endParaRPr sz="950">
              <a:solidFill>
                <a:srgbClr val="262F3A"/>
              </a:solidFill>
            </a:endParaRPr>
          </a:p>
        </p:txBody>
      </p:sp>
      <p:sp>
        <p:nvSpPr>
          <p:cNvPr id="22" name="Down Arrow 21"/>
          <p:cNvSpPr/>
          <p:nvPr/>
        </p:nvSpPr>
        <p:spPr>
          <a:xfrm>
            <a:off x="1554480" y="4315968"/>
            <a:ext cx="320040" cy="438912"/>
          </a:xfrm>
          <a:prstGeom prst="downArrow">
            <a:avLst/>
          </a:prstGeom>
          <a:solidFill>
            <a:srgbClr val="5E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3931920" y="4315968"/>
            <a:ext cx="320040" cy="438912"/>
          </a:xfrm>
          <a:prstGeom prst="downArrow">
            <a:avLst/>
          </a:prstGeom>
          <a:solidFill>
            <a:srgbClr val="5E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6309360" y="4315968"/>
            <a:ext cx="320040" cy="438912"/>
          </a:xfrm>
          <a:prstGeom prst="downArrow">
            <a:avLst/>
          </a:prstGeom>
          <a:solidFill>
            <a:srgbClr val="5E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8686800" y="4315968"/>
            <a:ext cx="320040" cy="438912"/>
          </a:xfrm>
          <a:prstGeom prst="downArrow">
            <a:avLst/>
          </a:prstGeom>
          <a:solidFill>
            <a:srgbClr val="5E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10835640" y="4315968"/>
            <a:ext cx="320040" cy="438912"/>
          </a:xfrm>
          <a:prstGeom prst="downArrow">
            <a:avLst/>
          </a:prstGeom>
          <a:solidFill>
            <a:srgbClr val="5E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14476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22743"/>
                </a:solidFill>
              </a:rPr>
              <a:t>Build templates once → configure by domain → generate many purpose-built agents without rebuilding the foundation.</a:t>
            </a:r>
            <a:endParaRPr sz="1500" b="1">
              <a:solidFill>
                <a:srgbClr val="12274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743"/>
                </a:solidFill>
              </a:rPr>
              <a:t>Agent Template Studio — Foundational Agent Platform</a:t>
            </a:r>
            <a:endParaRPr sz="2700" b="1">
              <a:solidFill>
                <a:srgbClr val="12274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5E6A78"/>
                </a:solidFill>
              </a:rPr>
              <a:t>A shared enterprise capability for building domain-specific agents from reusable templates, configurations, models and tools.</a:t>
            </a:r>
            <a:endParaRPr sz="1350">
              <a:solidFill>
                <a:srgbClr val="5E6A78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2560320" cy="4251960"/>
          </a:xfrm>
          <a:prstGeom prst="roundRect">
            <a:avLst/>
          </a:prstGeom>
          <a:solidFill>
            <a:srgbClr val="F6F3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64008" cy="4251960"/>
          </a:xfrm>
          <a:prstGeom prst="rect">
            <a:avLst/>
          </a:prstGeom>
          <a:solidFill>
            <a:srgbClr val="6C4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7373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743"/>
                </a:solidFill>
              </a:rPr>
              <a:t>1  TEMPLATE CATALOG</a:t>
            </a:r>
            <a:endParaRPr sz="1500" b="1">
              <a:solidFill>
                <a:srgbClr val="12274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4088" y="2176272"/>
            <a:ext cx="219456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Reusable agent patterns: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Anomaly Detection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Summarizer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General Query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Failure Investigation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Future enterprise templates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1600200"/>
            <a:ext cx="2514600" cy="4251960"/>
          </a:xfrm>
          <a:prstGeom prst="roundRect">
            <a:avLst/>
          </a:prstGeom>
          <a:solidFill>
            <a:srgbClr val="E8F2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10128" y="1600200"/>
            <a:ext cx="64008" cy="425196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1296" y="173736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743"/>
                </a:solidFill>
              </a:rPr>
              <a:t>2  DOMAIN CONFIGURATION</a:t>
            </a:r>
            <a:endParaRPr sz="1500" b="1">
              <a:solidFill>
                <a:srgbClr val="122743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11296" y="2176272"/>
            <a:ext cx="214884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Each domain configures: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Agent purpose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Domain / service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Model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Instructions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Approved tools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UI / workflow attachment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600200"/>
            <a:ext cx="2423160" cy="4251960"/>
          </a:xfrm>
          <a:prstGeom prst="roundRect">
            <a:avLst/>
          </a:prstGeom>
          <a:solidFill>
            <a:srgbClr val="FCF6EE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600200"/>
            <a:ext cx="64008" cy="4251960"/>
          </a:xfrm>
          <a:prstGeom prst="rect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73736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743"/>
                </a:solidFill>
              </a:rPr>
              <a:t>3  AGENT FACTORY</a:t>
            </a:r>
            <a:endParaRPr sz="1500" b="1">
              <a:solidFill>
                <a:srgbClr val="122743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81928" y="2176272"/>
            <a:ext cx="205740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Shared backend foundation: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Loads template + config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Selects model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Binds tools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Applies guardrails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Creates / registers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59952" y="1600200"/>
            <a:ext cx="2880360" cy="4251960"/>
          </a:xfrm>
          <a:prstGeom prst="roundRect">
            <a:avLst/>
          </a:prstGeom>
          <a:solidFill>
            <a:srgbClr val="EBF7F0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59952" y="1600200"/>
            <a:ext cx="64008" cy="4251960"/>
          </a:xfrm>
          <a:prstGeom prst="rect">
            <a:avLst/>
          </a:prstGeom>
          <a:solidFill>
            <a:srgbClr val="2C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737360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743"/>
                </a:solidFill>
              </a:rPr>
              <a:t>4  DOMAIN AGENTS</a:t>
            </a:r>
            <a:endParaRPr sz="1500" b="1">
              <a:solidFill>
                <a:srgbClr val="12274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61120" y="2176272"/>
            <a:ext cx="251460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Purpose-built instances: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Payroll / Payrun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HR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Benefits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Compliance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Other enterprise domains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Same foundation. Different domain context.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090672" y="3337560"/>
            <a:ext cx="182880" cy="384048"/>
          </a:xfrm>
          <a:prstGeom prst="rightArrow">
            <a:avLst/>
          </a:prstGeom>
          <a:solidFill>
            <a:srgbClr val="5E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5852160" y="3337560"/>
            <a:ext cx="182880" cy="384048"/>
          </a:xfrm>
          <a:prstGeom prst="rightArrow">
            <a:avLst/>
          </a:prstGeom>
          <a:solidFill>
            <a:srgbClr val="5E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8531352" y="3337560"/>
            <a:ext cx="182880" cy="384048"/>
          </a:xfrm>
          <a:prstGeom prst="rightArrow">
            <a:avLst/>
          </a:prstGeom>
          <a:solidFill>
            <a:srgbClr val="5E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035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50" b="1">
                <a:solidFill>
                  <a:srgbClr val="122743"/>
                </a:solidFill>
              </a:rPr>
              <a:t>Platform owns the reusable foundation. Domains own their configuration, tools and business use cases.</a:t>
            </a:r>
            <a:endParaRPr sz="1550" b="1">
              <a:solidFill>
                <a:srgbClr val="1227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ccca1b-c30a-42a5-ac96-3f45812a4ec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2743"/>
                </a:solidFill>
              </a:rPr>
              <a:t>Agent Template Studio — Template Marketplace</a:t>
            </a:r>
            <a:endParaRPr sz="2400" b="1">
              <a:solidFill>
                <a:srgbClr val="1227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5E6A78"/>
                </a:solidFill>
              </a:rPr>
              <a:t>Select a reusable template, review its built-in capabilities and runtime pattern, then configure it for your domain.</a:t>
            </a:r>
            <a:endParaRPr sz="1180" b="0">
              <a:solidFill>
                <a:srgbClr val="5E6A78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11480" y="1097280"/>
            <a:ext cx="1138428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1874519" cy="5349240"/>
          </a:xfrm>
          <a:prstGeom prst="rect">
            <a:avLst/>
          </a:prstGeom>
          <a:solidFill>
            <a:srgbClr val="182B44"/>
          </a:solidFill>
          <a:ln>
            <a:solidFill>
              <a:srgbClr val="182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AGENT STUDIO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1874519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Templates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226771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ECAD8"/>
                </a:solidFill>
              </a:rPr>
              <a:t>My Agents</a:t>
            </a:r>
            <a:endParaRPr sz="1050" b="0">
              <a:solidFill>
                <a:srgbClr val="BECAD8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" y="263347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ECAD8"/>
                </a:solidFill>
              </a:rPr>
              <a:t>Tools &amp; APIs</a:t>
            </a:r>
            <a:endParaRPr sz="1050" b="0">
              <a:solidFill>
                <a:srgbClr val="BECAD8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" y="299923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ECAD8"/>
                </a:solidFill>
              </a:rPr>
              <a:t>Models</a:t>
            </a:r>
            <a:endParaRPr sz="1050" b="0">
              <a:solidFill>
                <a:srgbClr val="BECAD8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" y="336499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ECAD8"/>
                </a:solidFill>
              </a:rPr>
              <a:t>Agent Registry</a:t>
            </a:r>
            <a:endParaRPr sz="1050" b="0">
              <a:solidFill>
                <a:srgbClr val="BECAD8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373075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ECAD8"/>
                </a:solidFill>
              </a:rPr>
              <a:t>Evaluation</a:t>
            </a:r>
            <a:endParaRPr sz="1050" b="0">
              <a:solidFill>
                <a:srgbClr val="BECAD8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06040" y="135331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743"/>
                </a:solidFill>
              </a:rPr>
              <a:t>Create Agent from Template</a:t>
            </a:r>
            <a:endParaRPr sz="1600" b="1">
              <a:solidFill>
                <a:srgbClr val="122743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06040" y="1700784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E6A78"/>
                </a:solidFill>
              </a:rPr>
              <a:t>Choose a template that matches the runtime behavior you need.</a:t>
            </a:r>
            <a:endParaRPr sz="1050" b="0">
              <a:solidFill>
                <a:srgbClr val="5E6A78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412480" y="1353312"/>
            <a:ext cx="28346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1472184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5E6A78"/>
                </a:solidFill>
              </a:rPr>
              <a:t>Search templates…</a:t>
            </a:r>
            <a:endParaRPr sz="980" b="0">
              <a:solidFill>
                <a:srgbClr val="5E6A78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606040" y="2148840"/>
            <a:ext cx="1993392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52344" y="2313432"/>
            <a:ext cx="420624" cy="420624"/>
          </a:xfrm>
          <a:prstGeom prst="roundRect">
            <a:avLst/>
          </a:prstGeom>
          <a:solidFill>
            <a:srgbClr val="FDF7EF"/>
          </a:solidFill>
          <a:ln>
            <a:solidFill>
              <a:srgbClr val="D6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64408" y="23042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22743"/>
                </a:solidFill>
              </a:rPr>
              <a:t>Anomaly Detection</a:t>
            </a:r>
            <a:endParaRPr sz="1130" b="1">
              <a:solidFill>
                <a:srgbClr val="122743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64408" y="262432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D67E2D"/>
                </a:solidFill>
              </a:rPr>
              <a:t>REAL-TIME</a:t>
            </a:r>
            <a:endParaRPr sz="880" b="1">
              <a:solidFill>
                <a:srgbClr val="D67E2D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52344" y="2953512"/>
            <a:ext cx="1700784" cy="10972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70632" y="3108960"/>
            <a:ext cx="1664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>
                <a:solidFill>
                  <a:srgbClr val="262F3A"/>
                </a:solidFill>
              </a:rPr>
              <a:t>• Streaming / event input</a:t>
            </a:r>
            <a:endParaRPr sz="920" b="0">
              <a:solidFill>
                <a:srgbClr val="262F3A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70632" y="3429000"/>
            <a:ext cx="1664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>
                <a:solidFill>
                  <a:srgbClr val="262F3A"/>
                </a:solidFill>
              </a:rPr>
              <a:t>• History + rules utilities</a:t>
            </a:r>
            <a:endParaRPr sz="920" b="0">
              <a:solidFill>
                <a:srgbClr val="262F3A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0632" y="3749040"/>
            <a:ext cx="1664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>
                <a:solidFill>
                  <a:srgbClr val="262F3A"/>
                </a:solidFill>
              </a:rPr>
              <a:t>• Detect • score • alert</a:t>
            </a:r>
            <a:endParaRPr sz="920" b="0">
              <a:solidFill>
                <a:srgbClr val="262F3A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770632" y="3995928"/>
            <a:ext cx="1664208" cy="274320"/>
          </a:xfrm>
          <a:prstGeom prst="roundRect">
            <a:avLst/>
          </a:prstGeom>
          <a:solidFill>
            <a:srgbClr val="FDF7EF"/>
          </a:solidFill>
          <a:ln>
            <a:solidFill>
              <a:srgbClr val="D6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0632" y="4046220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" b="1">
                <a:solidFill>
                  <a:srgbClr val="D67E2D"/>
                </a:solidFill>
              </a:rPr>
              <a:t>Use Template</a:t>
            </a:r>
            <a:endParaRPr sz="920" b="1">
              <a:solidFill>
                <a:srgbClr val="D67E2D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773168" y="2148840"/>
            <a:ext cx="1993392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919472" y="2313432"/>
            <a:ext cx="420624" cy="420624"/>
          </a:xfrm>
          <a:prstGeom prst="roundRect">
            <a:avLst/>
          </a:prstGeom>
          <a:solidFill>
            <a:srgbClr val="EEF8F2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31536" y="23042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22743"/>
                </a:solidFill>
              </a:rPr>
              <a:t>Summarizer</a:t>
            </a:r>
            <a:endParaRPr sz="1130" b="1">
              <a:solidFill>
                <a:srgbClr val="122743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31536" y="262432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2C7A56"/>
                </a:solidFill>
              </a:rPr>
              <a:t>OFFLINE</a:t>
            </a:r>
            <a:endParaRPr sz="880" b="1">
              <a:solidFill>
                <a:srgbClr val="2C7A56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919472" y="2953512"/>
            <a:ext cx="1700784" cy="10972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59" y="3108960"/>
            <a:ext cx="1664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>
                <a:solidFill>
                  <a:srgbClr val="262F3A"/>
                </a:solidFill>
              </a:rPr>
              <a:t>• On-demand / scheduled</a:t>
            </a:r>
            <a:endParaRPr sz="920" b="0">
              <a:solidFill>
                <a:srgbClr val="262F3A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37759" y="3429000"/>
            <a:ext cx="1664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>
                <a:solidFill>
                  <a:srgbClr val="262F3A"/>
                </a:solidFill>
              </a:rPr>
              <a:t>• Context retrieval utilities</a:t>
            </a:r>
            <a:endParaRPr sz="920" b="0">
              <a:solidFill>
                <a:srgbClr val="262F3A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937759" y="3749040"/>
            <a:ext cx="1664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>
                <a:solidFill>
                  <a:srgbClr val="262F3A"/>
                </a:solidFill>
              </a:rPr>
              <a:t>• Summarize • structure</a:t>
            </a:r>
            <a:endParaRPr sz="920" b="0">
              <a:solidFill>
                <a:srgbClr val="262F3A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937759" y="3995928"/>
            <a:ext cx="1664208" cy="274320"/>
          </a:xfrm>
          <a:prstGeom prst="roundRect">
            <a:avLst/>
          </a:prstGeom>
          <a:solidFill>
            <a:srgbClr val="EEF8F2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59" y="4046220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" b="1">
                <a:solidFill>
                  <a:srgbClr val="2C7A56"/>
                </a:solidFill>
              </a:rPr>
              <a:t>Use Template</a:t>
            </a:r>
            <a:endParaRPr sz="920" b="1">
              <a:solidFill>
                <a:srgbClr val="2C7A56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940296" y="2148840"/>
            <a:ext cx="1993392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086600" y="2313432"/>
            <a:ext cx="420624" cy="420624"/>
          </a:xfrm>
          <a:prstGeom prst="roundRect">
            <a:avLst/>
          </a:prstGeom>
          <a:solidFill>
            <a:srgbClr val="ECF5FC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98664" y="23042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22743"/>
                </a:solidFill>
              </a:rPr>
              <a:t>General Query</a:t>
            </a:r>
            <a:endParaRPr sz="1130" b="1">
              <a:solidFill>
                <a:srgbClr val="122743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598664" y="262432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2563A0"/>
                </a:solidFill>
              </a:rPr>
              <a:t>INTERACTIVE</a:t>
            </a:r>
            <a:endParaRPr sz="880" b="1">
              <a:solidFill>
                <a:srgbClr val="2563A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086600" y="2953512"/>
            <a:ext cx="1700784" cy="10972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04888" y="3108960"/>
            <a:ext cx="1664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>
                <a:solidFill>
                  <a:srgbClr val="262F3A"/>
                </a:solidFill>
              </a:rPr>
              <a:t>• Question + context</a:t>
            </a:r>
            <a:endParaRPr sz="920" b="0">
              <a:solidFill>
                <a:srgbClr val="262F3A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104888" y="3429000"/>
            <a:ext cx="1664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>
                <a:solidFill>
                  <a:srgbClr val="262F3A"/>
                </a:solidFill>
              </a:rPr>
              <a:t>• Tool-calling pattern</a:t>
            </a:r>
            <a:endParaRPr sz="920" b="0">
              <a:solidFill>
                <a:srgbClr val="262F3A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104888" y="3749040"/>
            <a:ext cx="1664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>
                <a:solidFill>
                  <a:srgbClr val="262F3A"/>
                </a:solidFill>
              </a:rPr>
              <a:t>• Reason • answer</a:t>
            </a:r>
            <a:endParaRPr sz="920" b="0">
              <a:solidFill>
                <a:srgbClr val="262F3A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104888" y="3995928"/>
            <a:ext cx="1664208" cy="274320"/>
          </a:xfrm>
          <a:prstGeom prst="roundRect">
            <a:avLst/>
          </a:prstGeom>
          <a:solidFill>
            <a:srgbClr val="ECF5FC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04888" y="4046220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" b="1">
                <a:solidFill>
                  <a:srgbClr val="2563A0"/>
                </a:solidFill>
              </a:rPr>
              <a:t>Use Template</a:t>
            </a:r>
            <a:endParaRPr sz="920" b="1">
              <a:solidFill>
                <a:srgbClr val="2563A0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9107424" y="2148840"/>
            <a:ext cx="1993392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253728" y="2313432"/>
            <a:ext cx="420624" cy="420624"/>
          </a:xfrm>
          <a:prstGeom prst="roundRect">
            <a:avLst/>
          </a:prstGeom>
          <a:solidFill>
            <a:srgbClr val="F7F3FB"/>
          </a:solidFill>
          <a:ln>
            <a:solidFill>
              <a:srgbClr val="6C4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65792" y="23042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22743"/>
                </a:solidFill>
              </a:rPr>
              <a:t>Incident Generator</a:t>
            </a:r>
            <a:endParaRPr sz="1130" b="1">
              <a:solidFill>
                <a:srgbClr val="122743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765792" y="262432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6C4C9B"/>
                </a:solidFill>
              </a:rPr>
              <a:t>EVENT-DRIVEN</a:t>
            </a:r>
            <a:endParaRPr sz="880" b="1">
              <a:solidFill>
                <a:srgbClr val="6C4C9B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253728" y="2953512"/>
            <a:ext cx="1700784" cy="10972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72016" y="3108960"/>
            <a:ext cx="1664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>
                <a:solidFill>
                  <a:srgbClr val="262F3A"/>
                </a:solidFill>
              </a:rPr>
              <a:t>• Failure / alert signal</a:t>
            </a:r>
            <a:endParaRPr sz="920" b="0">
              <a:solidFill>
                <a:srgbClr val="262F3A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272016" y="3429000"/>
            <a:ext cx="1664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>
                <a:solidFill>
                  <a:srgbClr val="262F3A"/>
                </a:solidFill>
              </a:rPr>
              <a:t>• Evidence utilities</a:t>
            </a:r>
            <a:endParaRPr sz="920" b="0">
              <a:solidFill>
                <a:srgbClr val="262F3A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272016" y="3749040"/>
            <a:ext cx="1664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>
                <a:solidFill>
                  <a:srgbClr val="262F3A"/>
                </a:solidFill>
              </a:rPr>
              <a:t>• Create • enrich • route</a:t>
            </a:r>
            <a:endParaRPr sz="920" b="0">
              <a:solidFill>
                <a:srgbClr val="262F3A"/>
              </a:solidFill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9272016" y="3995928"/>
            <a:ext cx="1664208" cy="274320"/>
          </a:xfrm>
          <a:prstGeom prst="roundRect">
            <a:avLst/>
          </a:prstGeom>
          <a:solidFill>
            <a:srgbClr val="F7F3FB"/>
          </a:solidFill>
          <a:ln>
            <a:solidFill>
              <a:srgbClr val="6C4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72016" y="4046220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" b="1">
                <a:solidFill>
                  <a:srgbClr val="6C4C9B"/>
                </a:solidFill>
              </a:rPr>
              <a:t>Use Template</a:t>
            </a:r>
            <a:endParaRPr sz="920" b="1">
              <a:solidFill>
                <a:srgbClr val="6C4C9B"/>
              </a:solidFill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2606040" y="4645152"/>
            <a:ext cx="8494776" cy="1444752"/>
          </a:xfrm>
          <a:prstGeom prst="roundRect">
            <a:avLst/>
          </a:prstGeom>
          <a:solidFill>
            <a:srgbClr val="FAFBFD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88920" y="4800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D67E2D"/>
                </a:solidFill>
              </a:rPr>
              <a:t>Example: Configure Anomaly Detection</a:t>
            </a:r>
            <a:endParaRPr sz="1220" b="1">
              <a:solidFill>
                <a:srgbClr val="D67E2D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788920" y="51480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E6A78"/>
                </a:solidFill>
              </a:rPr>
              <a:t>Domain</a:t>
            </a:r>
            <a:endParaRPr sz="900" b="1">
              <a:solidFill>
                <a:srgbClr val="5E6A78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788920" y="53675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20" b="1">
                <a:solidFill>
                  <a:srgbClr val="122743"/>
                </a:solidFill>
              </a:rPr>
              <a:t>Payroll / Payrun</a:t>
            </a:r>
            <a:endParaRPr sz="1020" b="1">
              <a:solidFill>
                <a:srgbClr val="122743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572000" y="51480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E6A78"/>
                </a:solidFill>
              </a:rPr>
              <a:t>Runtime</a:t>
            </a:r>
            <a:endParaRPr sz="900" b="1">
              <a:solidFill>
                <a:srgbClr val="5E6A78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572000" y="53675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20" b="1">
                <a:solidFill>
                  <a:srgbClr val="122743"/>
                </a:solidFill>
              </a:rPr>
              <a:t>Real-time / long-running</a:t>
            </a:r>
            <a:endParaRPr sz="1020" b="1">
              <a:solidFill>
                <a:srgbClr val="122743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537960" y="514807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E6A78"/>
                </a:solidFill>
              </a:rPr>
              <a:t>Add Tools / APIs</a:t>
            </a:r>
            <a:endParaRPr sz="900" b="1">
              <a:solidFill>
                <a:srgbClr val="5E6A78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537960" y="5367528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20" b="1">
                <a:solidFill>
                  <a:srgbClr val="122743"/>
                </a:solidFill>
              </a:rPr>
              <a:t>History • Rules • Alert API</a:t>
            </a:r>
            <a:endParaRPr sz="1020" b="1">
              <a:solidFill>
                <a:srgbClr val="122743"/>
              </a:solidFill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9326880" y="5148072"/>
            <a:ext cx="1508760" cy="420624"/>
          </a:xfrm>
          <a:prstGeom prst="roundRect">
            <a:avLst/>
          </a:prstGeom>
          <a:solidFill>
            <a:srgbClr val="122743"/>
          </a:solidFill>
          <a:ln>
            <a:solidFill>
              <a:srgbClr val="12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0" y="525780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Configure →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606040" y="6190488"/>
            <a:ext cx="8458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6A78"/>
                </a:solidFill>
              </a:rPr>
              <a:t>UI concept: templates feel like reusable products in a catalog; selecting one opens domain-specific configuration before the Agent Factory creates the agent.</a:t>
            </a:r>
            <a:endParaRPr sz="950" b="0">
              <a:solidFill>
                <a:srgbClr val="5E6A7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53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300" b="1">
                <a:solidFill>
                  <a:srgbClr val="122743"/>
                </a:solidFill>
              </a:rPr>
              <a:t>Agent Factory APIs &amp; Service Agent Discovery</a:t>
            </a:r>
            <a:endParaRPr sz="2300" b="1">
              <a:solidFill>
                <a:srgbClr val="1227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60" b="0">
                <a:solidFill>
                  <a:srgbClr val="5E6A78"/>
                </a:solidFill>
              </a:rPr>
              <a:t>Agent Factory manages reusable templates. Domain services discover the agents created for them and invoke those agents through service-level APIs.</a:t>
            </a:r>
            <a:endParaRPr sz="1160" b="0">
              <a:solidFill>
                <a:srgbClr val="5E6A78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737360" cy="1170432"/>
          </a:xfrm>
          <a:prstGeom prst="roundRect">
            <a:avLst/>
          </a:prstGeom>
          <a:solidFill>
            <a:srgbClr val="E9F3FB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399032"/>
            <a:ext cx="148132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30" b="1">
                <a:solidFill>
                  <a:srgbClr val="122743"/>
                </a:solidFill>
              </a:rPr>
              <a:t>Agent Studio</a:t>
            </a:r>
            <a:endParaRPr sz="1230" b="1">
              <a:solidFill>
                <a:srgbClr val="12274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0936" y="1746504"/>
            <a:ext cx="148132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62F3A"/>
                </a:solidFill>
              </a:rPr>
              <a:t>Create / update
agent templates</a:t>
            </a:r>
            <a:endParaRPr sz="940" b="0">
              <a:solidFill>
                <a:srgbClr val="262F3A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42032" y="1234440"/>
            <a:ext cx="1828800" cy="1170432"/>
          </a:xfrm>
          <a:prstGeom prst="roundRect">
            <a:avLst/>
          </a:prstGeom>
          <a:solidFill>
            <a:srgbClr val="F7F3FB"/>
          </a:solidFill>
          <a:ln>
            <a:solidFill>
              <a:srgbClr val="6C4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0048" y="1399032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30" b="1">
                <a:solidFill>
                  <a:srgbClr val="122743"/>
                </a:solidFill>
              </a:rPr>
              <a:t>Templates</a:t>
            </a:r>
            <a:endParaRPr sz="1230" b="1">
              <a:solidFill>
                <a:srgbClr val="122743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70048" y="1746504"/>
            <a:ext cx="157276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62F3A"/>
                </a:solidFill>
              </a:rPr>
              <a:t>Anomaly Detection
Summarizer
General Query</a:t>
            </a:r>
            <a:endParaRPr sz="940" b="0">
              <a:solidFill>
                <a:srgbClr val="262F3A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681728" y="1234440"/>
            <a:ext cx="1874519" cy="1170432"/>
          </a:xfrm>
          <a:prstGeom prst="roundRect">
            <a:avLst/>
          </a:prstGeom>
          <a:solidFill>
            <a:srgbClr val="122743"/>
          </a:solidFill>
          <a:ln>
            <a:solidFill>
              <a:srgbClr val="12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9744" y="1399032"/>
            <a:ext cx="1618487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30" b="1">
                <a:solidFill>
                  <a:srgbClr val="FFFFFF"/>
                </a:solidFill>
              </a:rPr>
              <a:t>Agent Factory</a:t>
            </a:r>
            <a:endParaRPr sz="1230" b="1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09744" y="1746504"/>
            <a:ext cx="1618487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FFFFFF"/>
                </a:solidFill>
              </a:rPr>
              <a:t>Builds agent using
template config</a:t>
            </a:r>
            <a:endParaRPr sz="940" b="0">
              <a:solidFill>
                <a:srgbClr val="FFFFFF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876288" y="1234440"/>
            <a:ext cx="1920240" cy="1170432"/>
          </a:xfrm>
          <a:prstGeom prst="roundRect">
            <a:avLst/>
          </a:prstGeom>
          <a:solidFill>
            <a:srgbClr val="EBF7F0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04303" y="1399032"/>
            <a:ext cx="166420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30" b="1">
                <a:solidFill>
                  <a:srgbClr val="122743"/>
                </a:solidFill>
              </a:rPr>
              <a:t>Agent Registry</a:t>
            </a:r>
            <a:endParaRPr sz="1230" b="1">
              <a:solidFill>
                <a:srgbClr val="12274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04303" y="1746504"/>
            <a:ext cx="166420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62F3A"/>
                </a:solidFill>
              </a:rPr>
              <a:t>Agents created
for each service</a:t>
            </a:r>
            <a:endParaRPr sz="940" b="0">
              <a:solidFill>
                <a:srgbClr val="262F3A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125712" y="1234440"/>
            <a:ext cx="2423160" cy="1170432"/>
          </a:xfrm>
          <a:prstGeom prst="roundRect">
            <a:avLst/>
          </a:prstGeom>
          <a:solidFill>
            <a:srgbClr val="FCF6EE"/>
          </a:solidFill>
          <a:ln>
            <a:solidFill>
              <a:srgbClr val="D6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1399032"/>
            <a:ext cx="216712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30" b="1">
                <a:solidFill>
                  <a:srgbClr val="122743"/>
                </a:solidFill>
              </a:rPr>
              <a:t>Service UI</a:t>
            </a:r>
            <a:endParaRPr sz="1230" b="1">
              <a:solidFill>
                <a:srgbClr val="12274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53728" y="1746504"/>
            <a:ext cx="216712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62F3A"/>
                </a:solidFill>
              </a:rPr>
              <a:t>List agents → open
Agent Window → invoke</a:t>
            </a:r>
            <a:endParaRPr sz="940" b="0">
              <a:solidFill>
                <a:srgbClr val="262F3A"/>
              </a:solidFill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2267712" y="1673352"/>
            <a:ext cx="228600" cy="256032"/>
          </a:xfrm>
          <a:prstGeom prst="rightArrow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4425696" y="1673352"/>
            <a:ext cx="228600" cy="256032"/>
          </a:xfrm>
          <a:prstGeom prst="rightArrow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6611112" y="1673352"/>
            <a:ext cx="228600" cy="256032"/>
          </a:xfrm>
          <a:prstGeom prst="rightArrow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8851392" y="1673352"/>
            <a:ext cx="228600" cy="256032"/>
          </a:xfrm>
          <a:prstGeom prst="rightArrow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2834640"/>
            <a:ext cx="3611880" cy="2743200"/>
          </a:xfrm>
          <a:prstGeom prst="roundRect">
            <a:avLst/>
          </a:prstGeom>
          <a:solidFill>
            <a:srgbClr val="E9F3FB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03580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2563A0"/>
                </a:solidFill>
              </a:rPr>
              <a:t>Agent Factory APIs</a:t>
            </a:r>
            <a:endParaRPr sz="1500" b="1">
              <a:solidFill>
                <a:srgbClr val="2563A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60" y="340156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20" b="1">
                <a:solidFill>
                  <a:srgbClr val="122743"/>
                </a:solidFill>
              </a:rPr>
              <a:t>Template lifecycle and reusable capabilities</a:t>
            </a:r>
            <a:endParaRPr sz="1020" b="1">
              <a:solidFill>
                <a:srgbClr val="122743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68680" y="3813048"/>
            <a:ext cx="502920" cy="228600"/>
          </a:xfrm>
          <a:prstGeom prst="roundRect">
            <a:avLst/>
          </a:prstGeom>
          <a:solidFill>
            <a:srgbClr val="2563A0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3863339"/>
            <a:ext cx="429768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</a:rPr>
              <a:t>POST</a:t>
            </a:r>
            <a:endParaRPr sz="730" b="1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90472" y="3813048"/>
            <a:ext cx="265176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0" b="1">
                <a:solidFill>
                  <a:srgbClr val="122743"/>
                </a:solidFill>
              </a:rPr>
              <a:t>/create-template/</a:t>
            </a:r>
            <a:endParaRPr sz="820" b="1">
              <a:solidFill>
                <a:srgbClr val="122743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90472" y="4023360"/>
            <a:ext cx="2606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5E6A78"/>
                </a:solidFill>
              </a:rPr>
              <a:t>create a reusable agent template</a:t>
            </a:r>
            <a:endParaRPr sz="780" b="0">
              <a:solidFill>
                <a:srgbClr val="5E6A78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68680" y="4379976"/>
            <a:ext cx="502920" cy="228600"/>
          </a:xfrm>
          <a:prstGeom prst="roundRect">
            <a:avLst/>
          </a:prstGeom>
          <a:solidFill>
            <a:srgbClr val="2563A0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430268"/>
            <a:ext cx="429768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</a:rPr>
              <a:t>PUT</a:t>
            </a:r>
            <a:endParaRPr sz="730" b="1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490472" y="4379976"/>
            <a:ext cx="265176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0" b="1">
                <a:solidFill>
                  <a:srgbClr val="122743"/>
                </a:solidFill>
              </a:rPr>
              <a:t>/update-template/</a:t>
            </a:r>
            <a:endParaRPr sz="820" b="1">
              <a:solidFill>
                <a:srgbClr val="122743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490472" y="4590288"/>
            <a:ext cx="2606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5E6A78"/>
                </a:solidFill>
              </a:rPr>
              <a:t>update template config/capabilities</a:t>
            </a:r>
            <a:endParaRPr sz="780" b="0">
              <a:solidFill>
                <a:srgbClr val="5E6A78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68680" y="4946904"/>
            <a:ext cx="502920" cy="228600"/>
          </a:xfrm>
          <a:prstGeom prst="roundRect">
            <a:avLst/>
          </a:prstGeom>
          <a:solidFill>
            <a:srgbClr val="2563A0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" y="4997196"/>
            <a:ext cx="429768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</a:rPr>
              <a:t>GET</a:t>
            </a:r>
            <a:endParaRPr sz="730" b="1">
              <a:solidFill>
                <a:srgbClr val="FFFFF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490472" y="4946904"/>
            <a:ext cx="265176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0" b="1">
                <a:solidFill>
                  <a:srgbClr val="122743"/>
                </a:solidFill>
              </a:rPr>
              <a:t>/get-template/</a:t>
            </a:r>
            <a:endParaRPr sz="820" b="1">
              <a:solidFill>
                <a:srgbClr val="122743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490472" y="5157216"/>
            <a:ext cx="2606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5E6A78"/>
                </a:solidFill>
              </a:rPr>
              <a:t>retrieve template definition</a:t>
            </a:r>
            <a:endParaRPr sz="780" b="0">
              <a:solidFill>
                <a:srgbClr val="5E6A78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480560" y="2834640"/>
            <a:ext cx="32461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60" y="3035808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122743"/>
                </a:solidFill>
              </a:rPr>
              <a:t>Template Config</a:t>
            </a:r>
            <a:endParaRPr sz="1500" b="1">
              <a:solidFill>
                <a:srgbClr val="122743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709160" y="3410712"/>
            <a:ext cx="2788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20" b="1">
                <a:solidFill>
                  <a:srgbClr val="D67E2D"/>
                </a:solidFill>
              </a:rPr>
              <a:t>Example fields used by Agent Factory</a:t>
            </a:r>
            <a:endParaRPr sz="1020" b="1">
              <a:solidFill>
                <a:srgbClr val="D67E2D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709160" y="3794760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1">
                <a:solidFill>
                  <a:srgbClr val="2563A0"/>
                </a:solidFill>
              </a:rPr>
              <a:t>template_id</a:t>
            </a:r>
            <a:endParaRPr sz="780" b="1">
              <a:solidFill>
                <a:srgbClr val="2563A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989320" y="3794760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262F3A"/>
                </a:solidFill>
              </a:rPr>
              <a:t>anomaly_detection</a:t>
            </a:r>
            <a:endParaRPr sz="780" b="0">
              <a:solidFill>
                <a:srgbClr val="262F3A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709160" y="4014216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1">
                <a:solidFill>
                  <a:srgbClr val="2563A0"/>
                </a:solidFill>
              </a:rPr>
              <a:t>model_id</a:t>
            </a:r>
            <a:endParaRPr sz="780" b="1">
              <a:solidFill>
                <a:srgbClr val="2563A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989320" y="4014216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262F3A"/>
                </a:solidFill>
              </a:rPr>
              <a:t>approved model</a:t>
            </a:r>
            <a:endParaRPr sz="780" b="0">
              <a:solidFill>
                <a:srgbClr val="262F3A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709160" y="4233672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1">
                <a:solidFill>
                  <a:srgbClr val="2563A0"/>
                </a:solidFill>
              </a:rPr>
              <a:t>created_by_user_id</a:t>
            </a:r>
            <a:endParaRPr sz="780" b="1">
              <a:solidFill>
                <a:srgbClr val="2563A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989320" y="4233672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262F3A"/>
                </a:solidFill>
              </a:rPr>
              <a:t>&lt;user_id&gt;</a:t>
            </a:r>
            <a:endParaRPr sz="780" b="0">
              <a:solidFill>
                <a:srgbClr val="262F3A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709160" y="4453128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1">
                <a:solidFill>
                  <a:srgbClr val="2563A0"/>
                </a:solidFill>
              </a:rPr>
              <a:t>capabilities_attached</a:t>
            </a:r>
            <a:endParaRPr sz="780" b="1">
              <a:solidFill>
                <a:srgbClr val="2563A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989320" y="4453128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262F3A"/>
                </a:solidFill>
              </a:rPr>
              <a:t>approved APIs/tools</a:t>
            </a:r>
            <a:endParaRPr sz="780" b="0">
              <a:solidFill>
                <a:srgbClr val="262F3A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709160" y="4672584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1">
                <a:solidFill>
                  <a:srgbClr val="2563A0"/>
                </a:solidFill>
              </a:rPr>
              <a:t>roles_access</a:t>
            </a:r>
            <a:endParaRPr sz="780" b="1">
              <a:solidFill>
                <a:srgbClr val="2563A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989320" y="4672584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262F3A"/>
                </a:solidFill>
              </a:rPr>
              <a:t>role-based access</a:t>
            </a:r>
            <a:endParaRPr sz="780" b="0">
              <a:solidFill>
                <a:srgbClr val="262F3A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709160" y="4892040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1">
                <a:solidFill>
                  <a:srgbClr val="2563A0"/>
                </a:solidFill>
              </a:rPr>
              <a:t>services_visibility</a:t>
            </a:r>
            <a:endParaRPr sz="780" b="1">
              <a:solidFill>
                <a:srgbClr val="2563A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989320" y="4892040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262F3A"/>
                </a:solidFill>
              </a:rPr>
              <a:t>service/domain scope</a:t>
            </a:r>
            <a:endParaRPr sz="780" b="0">
              <a:solidFill>
                <a:srgbClr val="262F3A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709160" y="5111496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1">
                <a:solidFill>
                  <a:srgbClr val="2563A0"/>
                </a:solidFill>
              </a:rPr>
              <a:t>created_at</a:t>
            </a:r>
            <a:endParaRPr sz="780" b="1">
              <a:solidFill>
                <a:srgbClr val="2563A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989320" y="5111496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262F3A"/>
                </a:solidFill>
              </a:rPr>
              <a:t>timestamp</a:t>
            </a:r>
            <a:endParaRPr sz="780" b="0">
              <a:solidFill>
                <a:srgbClr val="262F3A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709160" y="5376672"/>
            <a:ext cx="2788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40" b="1">
                <a:solidFill>
                  <a:srgbClr val="5E6A78"/>
                </a:solidFill>
              </a:rPr>
              <a:t>Template = out-of-box behavior + governed configuration</a:t>
            </a:r>
            <a:endParaRPr sz="840" b="1">
              <a:solidFill>
                <a:srgbClr val="5E6A78"/>
              </a:solidFill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8001000" y="2834640"/>
            <a:ext cx="3611880" cy="2743200"/>
          </a:xfrm>
          <a:prstGeom prst="roundRect">
            <a:avLst/>
          </a:prstGeom>
          <a:solidFill>
            <a:srgbClr val="EBF7F0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0" y="303580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2C7A56"/>
                </a:solidFill>
              </a:rPr>
              <a:t>Service-Level Agent APIs</a:t>
            </a:r>
            <a:endParaRPr sz="1500" b="1">
              <a:solidFill>
                <a:srgbClr val="2C7A56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229600" y="340156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70" b="1">
                <a:solidFill>
                  <a:srgbClr val="122743"/>
                </a:solidFill>
              </a:rPr>
              <a:t>Agents created for a service are discovered and invoked by that service</a:t>
            </a:r>
            <a:endParaRPr sz="970" b="1">
              <a:solidFill>
                <a:srgbClr val="122743"/>
              </a:solidFill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247888" y="3813048"/>
            <a:ext cx="502920" cy="228600"/>
          </a:xfrm>
          <a:prstGeom prst="roundRect">
            <a:avLst/>
          </a:prstGeom>
          <a:solidFill>
            <a:srgbClr val="2C7A56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84463" y="3863339"/>
            <a:ext cx="429768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</a:rPr>
              <a:t>GET</a:t>
            </a:r>
            <a:endParaRPr sz="730" b="1">
              <a:solidFill>
                <a:srgbClr val="FFFFFF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869680" y="3813048"/>
            <a:ext cx="265176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0" b="1">
                <a:solidFill>
                  <a:srgbClr val="122743"/>
                </a:solidFill>
              </a:rPr>
              <a:t>/&lt;service-name&gt;/list-agents</a:t>
            </a:r>
            <a:endParaRPr sz="820" b="1">
              <a:solidFill>
                <a:srgbClr val="122743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869680" y="4023360"/>
            <a:ext cx="2606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5E6A78"/>
                </a:solidFill>
              </a:rPr>
              <a:t>list agents available to service</a:t>
            </a:r>
            <a:endParaRPr sz="780" b="0">
              <a:solidFill>
                <a:srgbClr val="5E6A78"/>
              </a:solidFill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8247888" y="4379976"/>
            <a:ext cx="502920" cy="228600"/>
          </a:xfrm>
          <a:prstGeom prst="roundRect">
            <a:avLst/>
          </a:prstGeom>
          <a:solidFill>
            <a:srgbClr val="2C7A56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84463" y="4430268"/>
            <a:ext cx="429768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</a:rPr>
              <a:t>GET</a:t>
            </a:r>
            <a:endParaRPr sz="730" b="1">
              <a:solidFill>
                <a:srgbClr val="FFFFFF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869680" y="4379976"/>
            <a:ext cx="265176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0" b="1">
                <a:solidFill>
                  <a:srgbClr val="122743"/>
                </a:solidFill>
              </a:rPr>
              <a:t>/&lt;service-name&gt;/get-agent/{agent-id}</a:t>
            </a:r>
            <a:endParaRPr sz="820" b="1">
              <a:solidFill>
                <a:srgbClr val="122743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869680" y="4590288"/>
            <a:ext cx="2606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5E6A78"/>
                </a:solidFill>
              </a:rPr>
              <a:t>get selected agent metadata</a:t>
            </a:r>
            <a:endParaRPr sz="780" b="0">
              <a:solidFill>
                <a:srgbClr val="5E6A78"/>
              </a:solidFill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8247888" y="4946904"/>
            <a:ext cx="502920" cy="228600"/>
          </a:xfrm>
          <a:prstGeom prst="roundRect">
            <a:avLst/>
          </a:prstGeom>
          <a:solidFill>
            <a:srgbClr val="2C7A56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84463" y="4997196"/>
            <a:ext cx="429768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</a:rPr>
              <a:t>POST</a:t>
            </a:r>
            <a:endParaRPr sz="730" b="1">
              <a:solidFill>
                <a:srgbClr val="FFFFFF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869680" y="4946904"/>
            <a:ext cx="265176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0" b="1">
                <a:solidFill>
                  <a:srgbClr val="122743"/>
                </a:solidFill>
              </a:rPr>
              <a:t>/&lt;service-name&gt;/{agent-id}/prompts</a:t>
            </a:r>
            <a:endParaRPr sz="820" b="1">
              <a:solidFill>
                <a:srgbClr val="122743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869680" y="5157216"/>
            <a:ext cx="2606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5E6A78"/>
                </a:solidFill>
              </a:rPr>
              <a:t>{"prompt": data}</a:t>
            </a:r>
            <a:endParaRPr sz="780" b="0">
              <a:solidFill>
                <a:srgbClr val="5E6A78"/>
              </a:solidFill>
            </a:endParaRPr>
          </a:p>
        </p:txBody>
      </p:sp>
      <p:sp>
        <p:nvSpPr>
          <p:cNvPr id="72" name="Right Arrow 71"/>
          <p:cNvSpPr/>
          <p:nvPr/>
        </p:nvSpPr>
        <p:spPr>
          <a:xfrm>
            <a:off x="4233672" y="4160520"/>
            <a:ext cx="201168" cy="274320"/>
          </a:xfrm>
          <a:prstGeom prst="rightArrow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ight Arrow 72"/>
          <p:cNvSpPr/>
          <p:nvPr/>
        </p:nvSpPr>
        <p:spPr>
          <a:xfrm>
            <a:off x="7772400" y="4160520"/>
            <a:ext cx="201168" cy="274320"/>
          </a:xfrm>
          <a:prstGeom prst="rightArrow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85800" y="5925312"/>
            <a:ext cx="10835640" cy="502920"/>
          </a:xfrm>
          <a:prstGeom prst="roundRect">
            <a:avLst/>
          </a:prstGeom>
          <a:solidFill>
            <a:srgbClr val="122743"/>
          </a:solidFill>
          <a:ln>
            <a:solidFill>
              <a:srgbClr val="12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4400" y="6071616"/>
            <a:ext cx="10378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Flow: create/update template in Agent Factory → create service-visible agents → service lists available agents → UI Agent Window invokes the selected agent with prompts.</a:t>
            </a:r>
            <a:endParaRPr sz="11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300" b="1">
                <a:solidFill>
                  <a:srgbClr val="122743"/>
                </a:solidFill>
              </a:rPr>
              <a:t>Page 4 — Service Discovers Available Agents &amp; Opens Agent Window</a:t>
            </a:r>
            <a:endParaRPr sz="2300" b="1">
              <a:solidFill>
                <a:srgbClr val="1227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60" b="0">
                <a:solidFill>
                  <a:srgbClr val="5E6A78"/>
                </a:solidFill>
              </a:rPr>
              <a:t>A domain service does not hard-code agents. It asks which agents are visible to that service, retrieves the selected agent, then sends prompts through the service API.</a:t>
            </a:r>
            <a:endParaRPr sz="1160" b="0">
              <a:solidFill>
                <a:srgbClr val="5E6A78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240280" cy="4434840"/>
          </a:xfrm>
          <a:prstGeom prst="roundRect">
            <a:avLst/>
          </a:prstGeom>
          <a:solidFill>
            <a:srgbClr val="E9F3FB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2563A0"/>
                </a:solidFill>
              </a:rPr>
              <a:t>PAYROLL SERVICE</a:t>
            </a:r>
            <a:endParaRPr sz="1500" b="1">
              <a:solidFill>
                <a:srgbClr val="2563A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122743"/>
                </a:solidFill>
              </a:rPr>
              <a:t>Example service:
Payrun</a:t>
            </a:r>
            <a:endParaRPr sz="1150" b="1">
              <a:solidFill>
                <a:srgbClr val="122743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808" y="2743200"/>
            <a:ext cx="17373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07792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20" b="1">
                <a:solidFill>
                  <a:srgbClr val="122743"/>
                </a:solidFill>
              </a:rPr>
              <a:t>GET /payrun/list-agents</a:t>
            </a:r>
            <a:endParaRPr sz="920" b="1">
              <a:solidFill>
                <a:srgbClr val="122743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3456432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62F3A"/>
                </a:solidFill>
              </a:rPr>
              <a:t>Returns only agents where
services_visibility includes Payrun</a:t>
            </a:r>
            <a:endParaRPr sz="950" b="0">
              <a:solidFill>
                <a:srgbClr val="262F3A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49808" y="4224528"/>
            <a:ext cx="17373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389120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0" b="1">
                <a:solidFill>
                  <a:srgbClr val="122743"/>
                </a:solidFill>
              </a:rPr>
              <a:t>GET /payrun/get-agent/{id}</a:t>
            </a:r>
            <a:endParaRPr sz="880" b="1">
              <a:solidFill>
                <a:srgbClr val="12274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6384" y="4937760"/>
            <a:ext cx="16642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30" b="0">
                <a:solidFill>
                  <a:srgbClr val="262F3A"/>
                </a:solidFill>
              </a:rPr>
              <a:t>Loads selected agent metadata,
capabilities and UI configuration</a:t>
            </a:r>
            <a:endParaRPr sz="930" b="0">
              <a:solidFill>
                <a:srgbClr val="262F3A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54680" y="132588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55448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22743"/>
                </a:solidFill>
              </a:rPr>
              <a:t>Available Agents</a:t>
            </a:r>
            <a:endParaRPr sz="1500" b="1">
              <a:solidFill>
                <a:srgbClr val="12274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29000" y="1901952"/>
            <a:ext cx="4709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0" b="0">
                <a:solidFill>
                  <a:srgbClr val="5E6A78"/>
                </a:solidFill>
              </a:rPr>
              <a:t>Agents discovered dynamically for Payroll / Payrun</a:t>
            </a:r>
            <a:endParaRPr sz="1030" b="0">
              <a:solidFill>
                <a:srgbClr val="5E6A78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429000" y="2331720"/>
            <a:ext cx="4572000" cy="640080"/>
          </a:xfrm>
          <a:prstGeom prst="roundRect">
            <a:avLst/>
          </a:prstGeom>
          <a:solidFill>
            <a:srgbClr val="FCF6EE"/>
          </a:solidFill>
          <a:ln>
            <a:solidFill>
              <a:srgbClr val="D6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5304" y="2441448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22743"/>
                </a:solidFill>
              </a:rPr>
              <a:t>Anomaly Detection</a:t>
            </a:r>
            <a:endParaRPr sz="1050" b="1">
              <a:solidFill>
                <a:srgbClr val="12274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12080" y="2441448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0" b="1">
                <a:solidFill>
                  <a:srgbClr val="D67E2D"/>
                </a:solidFill>
              </a:rPr>
              <a:t>REAL-TIME</a:t>
            </a:r>
            <a:endParaRPr sz="810" b="1">
              <a:solidFill>
                <a:srgbClr val="D67E2D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75304" y="2697479"/>
            <a:ext cx="37033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70" b="0">
                <a:solidFill>
                  <a:srgbClr val="262F3A"/>
                </a:solidFill>
              </a:rPr>
              <a:t>Monitor current Payrun and surface anomalies</a:t>
            </a:r>
            <a:endParaRPr sz="870" b="0">
              <a:solidFill>
                <a:srgbClr val="262F3A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269480" y="2496312"/>
            <a:ext cx="530352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2564891"/>
            <a:ext cx="530352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20" b="1">
                <a:solidFill>
                  <a:srgbClr val="D67E2D"/>
                </a:solidFill>
              </a:rPr>
              <a:t>Open</a:t>
            </a:r>
            <a:endParaRPr sz="820" b="1">
              <a:solidFill>
                <a:srgbClr val="D67E2D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429000" y="3136392"/>
            <a:ext cx="4572000" cy="640080"/>
          </a:xfrm>
          <a:prstGeom prst="roundRect">
            <a:avLst/>
          </a:prstGeom>
          <a:solidFill>
            <a:srgbClr val="EBF7F0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75304" y="3246120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22743"/>
                </a:solidFill>
              </a:rPr>
              <a:t>Summarizer</a:t>
            </a:r>
            <a:endParaRPr sz="1050" b="1">
              <a:solidFill>
                <a:srgbClr val="122743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12080" y="3246120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0" b="1">
                <a:solidFill>
                  <a:srgbClr val="2C7A56"/>
                </a:solidFill>
              </a:rPr>
              <a:t>OFFLINE / ON-DEMAND</a:t>
            </a:r>
            <a:endParaRPr sz="810" b="1">
              <a:solidFill>
                <a:srgbClr val="2C7A56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575304" y="3502152"/>
            <a:ext cx="37033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70" b="0">
                <a:solidFill>
                  <a:srgbClr val="262F3A"/>
                </a:solidFill>
              </a:rPr>
              <a:t>Generate employee or Payrun summary</a:t>
            </a:r>
            <a:endParaRPr sz="870" b="0">
              <a:solidFill>
                <a:srgbClr val="262F3A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269480" y="3300984"/>
            <a:ext cx="530352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3369564"/>
            <a:ext cx="530352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20" b="1">
                <a:solidFill>
                  <a:srgbClr val="2C7A56"/>
                </a:solidFill>
              </a:rPr>
              <a:t>Open</a:t>
            </a:r>
            <a:endParaRPr sz="820" b="1">
              <a:solidFill>
                <a:srgbClr val="2C7A56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429000" y="3941063"/>
            <a:ext cx="4572000" cy="640080"/>
          </a:xfrm>
          <a:prstGeom prst="roundRect">
            <a:avLst/>
          </a:prstGeom>
          <a:solidFill>
            <a:srgbClr val="E9F3FB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75304" y="4050791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22743"/>
                </a:solidFill>
              </a:rPr>
              <a:t>General Query</a:t>
            </a:r>
            <a:endParaRPr sz="1050" b="1">
              <a:solidFill>
                <a:srgbClr val="122743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212080" y="4050791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0" b="1">
                <a:solidFill>
                  <a:srgbClr val="2563A0"/>
                </a:solidFill>
              </a:rPr>
              <a:t>INTERACTIVE</a:t>
            </a:r>
            <a:endParaRPr sz="810" b="1">
              <a:solidFill>
                <a:srgbClr val="2563A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75304" y="4306824"/>
            <a:ext cx="37033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70" b="0">
                <a:solidFill>
                  <a:srgbClr val="262F3A"/>
                </a:solidFill>
              </a:rPr>
              <a:t>Ask contextual questions using approved tools</a:t>
            </a:r>
            <a:endParaRPr sz="870" b="0">
              <a:solidFill>
                <a:srgbClr val="262F3A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269480" y="4105655"/>
            <a:ext cx="530352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80" y="4174235"/>
            <a:ext cx="530352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20" b="1">
                <a:solidFill>
                  <a:srgbClr val="2563A0"/>
                </a:solidFill>
              </a:rPr>
              <a:t>Open</a:t>
            </a:r>
            <a:endParaRPr sz="820" b="1">
              <a:solidFill>
                <a:srgbClr val="2563A0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429000" y="4745736"/>
            <a:ext cx="4572000" cy="640080"/>
          </a:xfrm>
          <a:prstGeom prst="roundRect">
            <a:avLst/>
          </a:prstGeom>
          <a:solidFill>
            <a:srgbClr val="F6F3FA"/>
          </a:solidFill>
          <a:ln>
            <a:solidFill>
              <a:srgbClr val="6C4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75304" y="4855464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22743"/>
                </a:solidFill>
              </a:rPr>
              <a:t>Incident Generator</a:t>
            </a:r>
            <a:endParaRPr sz="1050" b="1">
              <a:solidFill>
                <a:srgbClr val="122743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212080" y="4855464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0" b="1">
                <a:solidFill>
                  <a:srgbClr val="6C4C9B"/>
                </a:solidFill>
              </a:rPr>
              <a:t>EVENT-DRIVEN</a:t>
            </a:r>
            <a:endParaRPr sz="810" b="1">
              <a:solidFill>
                <a:srgbClr val="6C4C9B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75304" y="5111496"/>
            <a:ext cx="37033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70" b="0">
                <a:solidFill>
                  <a:srgbClr val="262F3A"/>
                </a:solidFill>
              </a:rPr>
              <a:t>Generate incident from failure evidence</a:t>
            </a:r>
            <a:endParaRPr sz="870" b="0">
              <a:solidFill>
                <a:srgbClr val="262F3A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269480" y="4910328"/>
            <a:ext cx="530352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6C4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69480" y="4978908"/>
            <a:ext cx="530352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20" b="1">
                <a:solidFill>
                  <a:srgbClr val="6C4C9B"/>
                </a:solidFill>
              </a:rPr>
              <a:t>Open</a:t>
            </a:r>
            <a:endParaRPr sz="820" b="1">
              <a:solidFill>
                <a:srgbClr val="6C4C9B"/>
              </a:solidFill>
            </a:endParaRPr>
          </a:p>
        </p:txBody>
      </p:sp>
      <p:sp>
        <p:nvSpPr>
          <p:cNvPr id="41" name="Right Arrow 40"/>
          <p:cNvSpPr/>
          <p:nvPr/>
        </p:nvSpPr>
        <p:spPr>
          <a:xfrm>
            <a:off x="2807208" y="2880360"/>
            <a:ext cx="274320" cy="292608"/>
          </a:xfrm>
          <a:prstGeom prst="rightArrow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8458200" y="2880360"/>
            <a:ext cx="274320" cy="292608"/>
          </a:xfrm>
          <a:prstGeom prst="rightArrow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778240" y="1325880"/>
            <a:ext cx="2834640" cy="4434840"/>
          </a:xfrm>
          <a:prstGeom prst="roundRect">
            <a:avLst/>
          </a:prstGeom>
          <a:solidFill>
            <a:srgbClr val="EBF7F0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25128" y="15544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2C7A56"/>
                </a:solidFill>
              </a:rPr>
              <a:t>AGENT WINDOW</a:t>
            </a:r>
            <a:endParaRPr sz="1500" b="1">
              <a:solidFill>
                <a:srgbClr val="2C7A56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025128" y="1938528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30" b="1">
                <a:solidFill>
                  <a:srgbClr val="122743"/>
                </a:solidFill>
              </a:rPr>
              <a:t>Selected: General Query Agent</a:t>
            </a:r>
            <a:endParaRPr sz="1030" b="1">
              <a:solidFill>
                <a:srgbClr val="122743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9070848" y="2395728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7152" y="2542032"/>
            <a:ext cx="193852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262F3A"/>
                </a:solidFill>
              </a:rPr>
              <a:t>Why is this employee's
net pay lower this run?</a:t>
            </a:r>
            <a:endParaRPr sz="950" b="0">
              <a:solidFill>
                <a:srgbClr val="262F3A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9070848" y="3273552"/>
            <a:ext cx="2240280" cy="621792"/>
          </a:xfrm>
          <a:prstGeom prst="roundRect">
            <a:avLst/>
          </a:prstGeom>
          <a:solidFill>
            <a:srgbClr val="122743"/>
          </a:solidFill>
          <a:ln>
            <a:solidFill>
              <a:srgbClr val="12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3419856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POST /payrun/{agent-id}/prompts</a:t>
            </a:r>
            <a:endParaRPr sz="850" b="1">
              <a:solidFill>
                <a:srgbClr val="FFFFFF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125712" y="4096512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2563A0"/>
                </a:solidFill>
              </a:rPr>
              <a:t>{"prompt": data}</a:t>
            </a:r>
            <a:endParaRPr sz="950" b="1">
              <a:solidFill>
                <a:srgbClr val="2563A0"/>
              </a:solidFill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9070848" y="4507992"/>
            <a:ext cx="22402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17152" y="4645152"/>
            <a:ext cx="193852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20" b="1">
                <a:solidFill>
                  <a:srgbClr val="122743"/>
                </a:solidFill>
              </a:rPr>
              <a:t>Agent Runtime</a:t>
            </a:r>
            <a:endParaRPr sz="1020" b="1">
              <a:solidFill>
                <a:srgbClr val="122743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217152" y="4901184"/>
            <a:ext cx="19385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70" b="0">
                <a:solidFill>
                  <a:srgbClr val="262F3A"/>
                </a:solidFill>
              </a:rPr>
              <a:t>Uses only approved capabilities
+ role-authorized APIs</a:t>
            </a:r>
            <a:endParaRPr sz="870" b="0">
              <a:solidFill>
                <a:srgbClr val="262F3A"/>
              </a:solidFill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685800" y="5961888"/>
            <a:ext cx="10835640" cy="457200"/>
          </a:xfrm>
          <a:prstGeom prst="roundRect">
            <a:avLst/>
          </a:prstGeom>
          <a:solidFill>
            <a:srgbClr val="122743"/>
          </a:solidFill>
          <a:ln>
            <a:solidFill>
              <a:srgbClr val="12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6089904"/>
            <a:ext cx="103784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90" b="1">
                <a:solidFill>
                  <a:srgbClr val="FFFFFF"/>
                </a:solidFill>
              </a:rPr>
              <a:t>Service owns discovery and UI integration; Agent Factory owns templates/configuration; the created agent owns governed runtime behavior.</a:t>
            </a:r>
            <a:endParaRPr sz="109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infographic_style_screenshot_slide_show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822"/>
            <a:ext cx="12192000" cy="68616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hatGPT Image Sep 10, 2026, 09_40_14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hatGPT Image Sep 10, 2026, 09_48_10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</a:rPr>
              <a:t>End-to-End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17E"/>
                </a:solidFill>
              </a:rPr>
              <a:t>One control plane for agent configuration; multiple runtime agents attached to payroll microservices.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EEF3F8"/>
          </a:solidFill>
          <a:ln w="12700">
            <a:solidFill>
              <a:srgbClr val="0E5A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12648" y="1993392"/>
            <a:ext cx="128930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Agent Studio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UI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2286000"/>
            <a:ext cx="50292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14600" y="192024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F2EEFA"/>
          </a:solidFill>
          <a:ln w="12700">
            <a:solidFill>
              <a:srgbClr val="7257B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624328" y="1993392"/>
            <a:ext cx="128930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Agent Factory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0" y="2286000"/>
            <a:ext cx="50292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26280" y="192024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36008" y="1993392"/>
            <a:ext cx="128930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Templates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Model Config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286000"/>
            <a:ext cx="50292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537960" y="192024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647688" y="1993392"/>
            <a:ext cx="128930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Tool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Bindings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2286000"/>
            <a:ext cx="50292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549640" y="192024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EAF5EF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59368" y="1993392"/>
            <a:ext cx="128930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Registry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0" y="2286000"/>
            <a:ext cx="50292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561320" y="1920240"/>
            <a:ext cx="10972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671048" y="1993392"/>
            <a:ext cx="87782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GitHub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324612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66717E"/>
                </a:solidFill>
              </a:rPr>
              <a:t>RUNTIME / PAYROLL MICROSERVICE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611880"/>
            <a:ext cx="11064240" cy="1600200"/>
          </a:xfrm>
          <a:prstGeom prst="roundRect">
            <a:avLst>
              <a:gd name="adj" fmla="val 2857"/>
            </a:avLst>
          </a:prstGeom>
          <a:solidFill>
            <a:srgbClr val="F0F5F9"/>
          </a:solidFill>
          <a:ln w="12700">
            <a:solidFill>
              <a:srgbClr val="D7E2EC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22960" y="397764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0E5AA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32688" y="4050792"/>
            <a:ext cx="188366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Payrun Service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397764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FF4E8"/>
          </a:solidFill>
          <a:ln w="12700">
            <a:solidFill>
              <a:srgbClr val="E7832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493008" y="4050792"/>
            <a:ext cx="188366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Anomaly Agent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397764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2EEFA"/>
          </a:solidFill>
          <a:ln w="12700">
            <a:solidFill>
              <a:srgbClr val="7257B5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053328" y="4050792"/>
            <a:ext cx="188366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General Query Agent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03920" y="397764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EAF5EF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613648" y="4050792"/>
            <a:ext cx="188366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Summarizer Agent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926080" y="4343400"/>
            <a:ext cx="45720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486400" y="4343400"/>
            <a:ext cx="45720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046720" y="4343400"/>
            <a:ext cx="45720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58368" y="5623560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F"/>
                </a:solidFill>
              </a:rPr>
              <a:t>Design principle: agent behavior is configuration-driven; payroll services remain the source of truth and tools provide controlled access.</a:t>
            </a:r>
            <a:endParaRPr lang="en-US" sz="13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7A849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6915</Words>
  <Application>WPS Presentation</Application>
  <PresentationFormat>On-screen Show (16:9)</PresentationFormat>
  <Paragraphs>444</Paragraphs>
  <Slides>12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Aptos</vt:lpstr>
      <vt:lpstr>Segoe UI</vt:lpstr>
      <vt:lpstr>Aptos</vt:lpstr>
      <vt:lpstr>Aptos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TriNet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Studio for Payroll Services</dc:title>
  <dc:creator>OpenAI</dc:creator>
  <dc:subject>Agent Studio - Payroll Agent Factory</dc:subject>
  <cp:lastModifiedBy>Himanshu Gupta</cp:lastModifiedBy>
  <cp:revision>3</cp:revision>
  <dcterms:created xsi:type="dcterms:W3CDTF">2026-09-10T22:16:00Z</dcterms:created>
  <dcterms:modified xsi:type="dcterms:W3CDTF">2026-09-11T05:06:22Z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FA1D828F6E6A45A2BE8C1F6AF7BEA5D3_12</vt:lpwstr>
  </property>
</Properties>
</file>