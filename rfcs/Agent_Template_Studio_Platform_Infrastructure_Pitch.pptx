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sldIdLst>
    <p:sldId id="256" r:id="rId7"/>
    <p:sldId id="257" r:id="rId6"/>
    <p:sldId id="258" r:id="rId9"/>
    <p:sldId id="259" r:id="rId10"/>
    <p:sldId id="260" r:id="rId11"/>
    <p:sldId id="261" r:id="rId12"/>
    <p:sldId id="262" r:id="rId13"/>
    <p:sldId id="263" r:id="rId14"/>
    <p:sldId id="264" r:id="rId15"/>
    <p:sldId id="265" r:id="rId5"/>
    <p:sldId id="266" r:id="rId4"/>
    <p:sldId id="267" r:id="rId3"/>
    <p:sldId id="268" r:id="rId19"/>
    <p:sldId id="269" r:id="rId20"/>
    <p:sldId id="270" r:id="rId21"/>
    <p:sldId id="271" r:id="rId22"/>
  </p:sldIdLst>
  <p:sldSz cx="12191999"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2.xml"/><Relationship Id="rId4" Type="http://schemas.openxmlformats.org/officeDocument/2006/relationships/slide" Target="slides/slide11.xml"/><Relationship Id="rId5" Type="http://schemas.openxmlformats.org/officeDocument/2006/relationships/slide" Target="slides/slide10.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ableStyles" Target="tableStyles.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TALK TRACK</a:t>
            </a:r>
          </a:p>
          <a:p>
            <a:r>
              <a:t>Position Agent Template Studio as shared agent infrastructure. Its value is the bundle: creation, model selection, data and API access, permissions, execution and operating visibility. Domain teams configure purpose-built agents on this foundation. Payroll is a reference application, not the boundary of the platform. Private deployment support includes configured endpoint adapters and deployment assets; local Ray/vLLM inference remains unvalidated.</a:t>
            </a:r>
          </a:p>
          <a:p/>
          <a:p>
            <a:r>
              <a:t>CODE EVIDENCE (repository snapshot, 03 October 2026)</a:t>
            </a:r>
          </a:p>
          <a:p>
            <a:r>
              <a:t>backend/agent_factory/factory.py</a:t>
            </a:r>
          </a:p>
          <a:p>
            <a:r>
              <a:t>backend/template/config.py</a:t>
            </a:r>
          </a:p>
          <a:p>
            <a:r>
              <a:t>ui-payroll-agent/src/app/agent-editor.component.html</a:t>
            </a:r>
          </a:p>
          <a:p>
            <a:r>
              <a:t>backend/runtime/agent_access.py</a:t>
            </a:r>
          </a:p>
          <a:p>
            <a:r>
              <a:t>backend/runtime/access.py</a:t>
            </a:r>
          </a:p>
          <a:p>
            <a:r>
              <a:t>ui-payroll-agent/src/app/access-control.component.ts</a:t>
            </a:r>
          </a:p>
          <a:p>
            <a:r>
              <a:t>backend/model/runtime.py</a:t>
            </a:r>
          </a:p>
          <a:p>
            <a:r>
              <a:t>backend/templates/Model_config/</a:t>
            </a:r>
          </a:p>
          <a:p>
            <a:r>
              <a:t>infra/deploy/platform.py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TALK TRACK</a:t>
            </a:r>
          </a:p>
          <a:p>
            <a:r>
              <a:t>The buyer is investing in reusable infrastructure. Each isolated agent project tends to repeat template/configuration work, model connections, service permissions and operational instrumentation. A common platform concentrates that effort into capabilities that domain teams can reuse. These are the intended economic benefits; no measured savings are asserted.</a:t>
            </a:r>
          </a:p>
          <a:p/>
          <a:p>
            <a:r>
              <a:t>CODE EVIDENCE (repository snapshot, 03 October 2026)</a:t>
            </a:r>
          </a:p>
          <a:p>
            <a:r>
              <a:t>Original supplied deck: slides 1–5, shared foundation and domain reuse.</a:t>
            </a:r>
          </a:p>
          <a:p>
            <a:r>
              <a:t>backend/agent_factory/factory.py</a:t>
            </a:r>
          </a:p>
          <a:p>
            <a:r>
              <a:t>backend/template/config.py</a:t>
            </a:r>
          </a:p>
          <a:p>
            <a:r>
              <a:t>ui-payroll-agent/src/app/agent-editor.component.html</a:t>
            </a:r>
          </a:p>
          <a:p>
            <a:r>
              <a:t>backend/runtime/agent_access.py</a:t>
            </a:r>
          </a:p>
          <a:p>
            <a:r>
              <a:t>backend/runtime/access.py</a:t>
            </a:r>
          </a:p>
          <a:p>
            <a:r>
              <a:t>ui-payroll-agent/src/app/access-control.component.ts</a:t>
            </a:r>
          </a:p>
          <a:p>
            <a:r>
              <a:t>backend/model/runtime.py</a:t>
            </a:r>
          </a:p>
          <a:p>
            <a:r>
              <a:t>backend/templates/Model_config/</a:t>
            </a:r>
          </a:p>
          <a:p>
            <a:r>
              <a:t>infra/deploy/platform.py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TALK TRACK</a:t>
            </a:r>
          </a:p>
          <a:p>
            <a:r>
              <a:t>Walk from top to bottom. Payroll, HR, Benefits, Insurance and other business applications are consumers of the platform. The platform bundle provides templates and factory, registry and runtime, models, APIs/data, access/context controls, and evaluation/metrics. At the bottom are approved data systems and managed or private model endpoints. This is the core slide: the product is the shared platform, not any one agent.</a:t>
            </a:r>
          </a:p>
          <a:p/>
          <a:p>
            <a:r>
              <a:t>CODE EVIDENCE (repository snapshot, 03 October 2026)</a:t>
            </a:r>
          </a:p>
          <a:p>
            <a:r>
              <a:t>backend/agent_factory/factory.py</a:t>
            </a:r>
          </a:p>
          <a:p>
            <a:r>
              <a:t>backend/template/config.py</a:t>
            </a:r>
          </a:p>
          <a:p>
            <a:r>
              <a:t>ui-payroll-agent/src/app/agent-editor.component.html</a:t>
            </a:r>
          </a:p>
          <a:p>
            <a:r>
              <a:t>backend/runtime/agent_access.py</a:t>
            </a:r>
          </a:p>
          <a:p>
            <a:r>
              <a:t>backend/runtime/access.py</a:t>
            </a:r>
          </a:p>
          <a:p>
            <a:r>
              <a:t>ui-payroll-agent/src/app/access-control.component.ts</a:t>
            </a:r>
          </a:p>
          <a:p>
            <a:r>
              <a:t>backend/model/runtime.py</a:t>
            </a:r>
          </a:p>
          <a:p>
            <a:r>
              <a:t>backend/templates/Model_config/</a:t>
            </a:r>
          </a:p>
          <a:p>
            <a:r>
              <a:t>infra/deploy/platform.py</a:t>
            </a:r>
          </a:p>
          <a:p>
            <a:r>
              <a:t>backend/agents/metrics.py</a:t>
            </a:r>
          </a:p>
          <a:p>
            <a:r>
              <a:t>backend/runtime/events.py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TALK TRACK</a:t>
            </a:r>
          </a:p>
          <a:p>
            <a:r>
              <a:t>The few-click value applies once templates, models and domain connections are prepared. Choose the job, define the agent, choose its models and placement, grant appropriate data/context access, and save. AgentFactory validates and persists a configured instance. A saved agent is discoverable by its host application; creation itself does not provision a new model server or run inference. Avoid an exact click-count or elapsed-time claim because these have not been benchmarked.</a:t>
            </a:r>
          </a:p>
          <a:p/>
          <a:p>
            <a:r>
              <a:t>CODE EVIDENCE (repository snapshot, 03 October 2026)</a:t>
            </a:r>
          </a:p>
          <a:p>
            <a:r>
              <a:t>backend/agent_factory/factory.py</a:t>
            </a:r>
          </a:p>
          <a:p>
            <a:r>
              <a:t>backend/template/config.py</a:t>
            </a:r>
          </a:p>
          <a:p>
            <a:r>
              <a:t>ui-payroll-agent/src/app/agent-editor.component.html</a:t>
            </a:r>
          </a:p>
          <a:p>
            <a:r>
              <a:t>backend/template/services.py</a:t>
            </a:r>
          </a:p>
          <a:p>
            <a:r>
              <a:t>ui-payroll-agent/src/app/my-agents.component.ts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TALK TRACK</a:t>
            </a:r>
          </a:p>
          <a:p>
            <a:r>
              <a:t>The current catalog includes Anomaly Detection, General Query, Summarizer, Incident Report and Failure Investigation. A template is a reusable configuration pattern, not a claim that every domain already has a fully integrated workflow. The factory resolves domain-compatible templates, validates model choices and saves effective settings plus the source template version. Existing agents keep saved settings; template updates do not imply automatic rollout to every instance.</a:t>
            </a:r>
          </a:p>
          <a:p/>
          <a:p>
            <a:r>
              <a:t>CODE EVIDENCE (repository snapshot, 03 October 2026)</a:t>
            </a:r>
          </a:p>
          <a:p>
            <a:r>
              <a:t>backend/agent_factory/factory.py</a:t>
            </a:r>
          </a:p>
          <a:p>
            <a:r>
              <a:t>backend/template/config.py</a:t>
            </a:r>
          </a:p>
          <a:p>
            <a:r>
              <a:t>ui-payroll-agent/src/app/agent-editor.component.html</a:t>
            </a:r>
          </a:p>
          <a:p>
            <a:r>
              <a:t>backend/templates/anomaly-detection.json</a:t>
            </a:r>
          </a:p>
          <a:p>
            <a:r>
              <a:t>backend/templates/general-query.json</a:t>
            </a:r>
          </a:p>
          <a:p>
            <a:r>
              <a:t>backend/templates/summarizer.json</a:t>
            </a:r>
          </a:p>
          <a:p>
            <a:r>
              <a:t>backend/templates/incident-report.json</a:t>
            </a:r>
          </a:p>
          <a:p>
            <a:r>
              <a:t>backend/templates/failure-investigation.json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TALK TRACK</a:t>
            </a:r>
          </a:p>
          <a:p>
            <a:r>
              <a:t>Give both deployment choices equal prominence. Managed models use configured hosted providers, including compatible-chat endpoints and Hugging Face. Private models can use an organization-operated compatible endpoint, Ollama, or the supplied vLLM/Ray serving path. The common model catalog/runtime lets domain teams select without building provider code per agent. Operator responsibility differs: provider credentials and service terms for managed; serving infrastructure, capacity and model operations for private. A catalog entry alone does not prove runtime support; do not name AWS Bedrock as working because its provider is not registered in the current factory. A private endpoint is not an air-gap guarantee: explicitly review every enabled decision-model, embedding and fallback path. vLLM AD selection blocks the Hugging Face backup; other private choices require that fallback to be disabled for private-only operation.</a:t>
            </a:r>
          </a:p>
          <a:p/>
          <a:p>
            <a:r>
              <a:t>CODE EVIDENCE (repository snapshot, 03 October 2026)</a:t>
            </a:r>
          </a:p>
          <a:p>
            <a:r>
              <a:t>backend/model/runtime.py</a:t>
            </a:r>
          </a:p>
          <a:p>
            <a:r>
              <a:t>backend/templates/Model_config/</a:t>
            </a:r>
          </a:p>
          <a:p>
            <a:r>
              <a:t>infra/deploy/platform.py</a:t>
            </a:r>
          </a:p>
          <a:p>
            <a:r>
              <a:t>backend/templates/Model_config/ollama-local.json</a:t>
            </a:r>
          </a:p>
          <a:p>
            <a:r>
              <a:t>backend/templates/Model_config/vllm-slm.json</a:t>
            </a:r>
          </a:p>
          <a:p>
            <a:r>
              <a:t>backend/templates/Model_config/llama-3-3-70b.json</a:t>
            </a:r>
          </a:p>
          <a:p>
            <a:r>
              <a:t>backend/agents/anomaly_detection/fallback.py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TALK TRACK</a:t>
            </a:r>
          </a:p>
          <a:p>
            <a:r>
              <a:t>The platform deployment launcher supports Docker Compose or an existing Kind cluster. The current workspace config selects Kubernetes and disables Ray Serve; describe selectable options rather than claiming Compose is currently selected. The runtime API is distinct from GPU inference. Private Ray/vLLM deployment assets include an internal authenticated gateway and model cache. The launcher does not automatically create clusters or migrate business data. Do not imply multi-region elasticity or production inference validation.</a:t>
            </a:r>
          </a:p>
          <a:p/>
          <a:p>
            <a:r>
              <a:t>CODE EVIDENCE (repository snapshot, 03 October 2026)</a:t>
            </a:r>
          </a:p>
          <a:p>
            <a:r>
              <a:t>infra/deploy/platform.py</a:t>
            </a:r>
          </a:p>
          <a:p>
            <a:r>
              <a:t>infra/deploy/platform.json</a:t>
            </a:r>
          </a:p>
          <a:p>
            <a:r>
              <a:t>infra/docker/docker-compose.yaml</a:t>
            </a:r>
          </a:p>
          <a:p>
            <a:r>
              <a:t>infra/deploy/ray/serving.yaml</a:t>
            </a:r>
          </a:p>
          <a:p>
            <a:r>
              <a:t>infra/deploy/ray/gateway.conf.template</a:t>
            </a:r>
          </a:p>
          <a:p>
            <a:r>
              <a:t>README.md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TALK TRACK</a:t>
            </a:r>
          </a:p>
          <a:p>
            <a:r>
              <a:t>Explain catalog, attachment and authorization as a sequence. Domain APIs are registered with service details and supported operations. The agent configuration selects the APIs it needs. Runtime authorization checks domain, service state and granted business Read/Write permissions before supported actions execute. Transport POST does not inherently mean a write. Source systems retain ownership of business data. There is no generic arbitrary API execution or payroll write executor merely because a Write permission exists.</a:t>
            </a:r>
          </a:p>
          <a:p/>
          <a:p>
            <a:r>
              <a:t>CODE EVIDENCE (repository snapshot, 03 October 2026)</a:t>
            </a:r>
          </a:p>
          <a:p>
            <a:r>
              <a:t>backend/runtime/agent_access.py</a:t>
            </a:r>
          </a:p>
          <a:p>
            <a:r>
              <a:t>backend/runtime/access.py</a:t>
            </a:r>
          </a:p>
          <a:p>
            <a:r>
              <a:t>ui-payroll-agent/src/app/access-control.component.ts</a:t>
            </a:r>
          </a:p>
          <a:p>
            <a:r>
              <a:t>backend/templates/services.json</a:t>
            </a:r>
          </a:p>
          <a:p>
            <a:r>
              <a:t>backend/template/services.py</a:t>
            </a:r>
          </a:p>
          <a:p>
            <a:r>
              <a:t>ui-payroll-agent/src/app/agent-editor.component.html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TALK TRACK</a:t>
            </a:r>
          </a:p>
          <a:p>
            <a:r>
              <a:t>Anchor the secure-creation proposition in implemented controls: new agents receive no automatic service permissions; grants can be direct, through assigned roles, or through agent groups; same-domain restrictions apply; context reads are explicitly directional. Permissions are additive, so removing one grant does not revoke another grant path. Access is checked at execution and before restored/cached context can bypass revocation. Admin features use the configured shared admin key, not full enterprise identity or per-user SSO. These are concrete controls, not a security certification.</a:t>
            </a:r>
          </a:p>
          <a:p/>
          <a:p>
            <a:r>
              <a:t>CODE EVIDENCE (repository snapshot, 03 October 2026)</a:t>
            </a:r>
          </a:p>
          <a:p>
            <a:r>
              <a:t>backend/runtime/agent_access.py</a:t>
            </a:r>
          </a:p>
          <a:p>
            <a:r>
              <a:t>backend/runtime/access.py</a:t>
            </a:r>
          </a:p>
          <a:p>
            <a:r>
              <a:t>ui-payroll-agent/src/app/access-control.component.ts</a:t>
            </a:r>
          </a:p>
          <a:p>
            <a:r>
              <a:t>backend/agents/communication/service.py</a:t>
            </a:r>
          </a:p>
          <a:p>
            <a:r>
              <a:t>backend/runtime/sessions.py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TALK TRACK</a:t>
            </a:r>
          </a:p>
          <a:p>
            <a:r>
              <a:t>Treat agent collaboration as a reusable platform primitive. A source publishes a trusted saved response; recipient discovery and transfer enforce permissions, domain and service scope. The receiving agent gets a versioned context snapshot, and the message/result is persisted. The implemented reference is AD-to-Incident Report. General Query can answer from permitted saved AD context even without payroll API Read. This demonstrates reuse of an existing result, not unrestricted autonomous orchestration or an arbitrary workflow designer.</a:t>
            </a:r>
          </a:p>
          <a:p/>
          <a:p>
            <a:r>
              <a:t>CODE EVIDENCE (repository snapshot, 03 October 2026)</a:t>
            </a:r>
          </a:p>
          <a:p>
            <a:r>
              <a:t>backend/agents/communication/service.py</a:t>
            </a:r>
          </a:p>
          <a:p>
            <a:r>
              <a:t>backend/agents/communication/incident.py</a:t>
            </a:r>
          </a:p>
          <a:p>
            <a:r>
              <a:t>backend/agents/communication/artifacts.py</a:t>
            </a:r>
          </a:p>
          <a:p>
            <a:r>
              <a:t>backend/agents/question/context_answer.py</a:t>
            </a:r>
          </a:p>
          <a:p>
            <a:r>
              <a:t>backend/runtime/agent_access.py</a:t>
            </a:r>
          </a:p>
          <a:p>
            <a:r>
              <a:t>backend/runtime/access.py</a:t>
            </a:r>
          </a:p>
          <a:p>
            <a:r>
              <a:t>ui-payroll-agent/src/app/access-control.component.ts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TALK TRACK</a:t>
            </a:r>
          </a:p>
          <a:p>
            <a:r>
              <a:t>Make platform versus domain ownership clear. Platform teams supply the catalogs, runtime, supported model adapters, permission system, communication and operating views. Domain teams supply the business purpose, registered domain services/data, specialized rules or measurements, and host experience. The generic records adapter and Leaves example support reuse of anomaly/review/audit infrastructure. HR, Benefits and Insurance are opportunities rather than delivered end-to-end integrations. Domain provisioning and new component registration currently require trusted setup/code, not only UI clicks.</a:t>
            </a:r>
          </a:p>
          <a:p/>
          <a:p>
            <a:r>
              <a:t>CODE EVIDENCE (repository snapshot, 03 October 2026)</a:t>
            </a:r>
          </a:p>
          <a:p>
            <a:r>
              <a:t>backend/agents/anomaly_detection/domains/records.py</a:t>
            </a:r>
          </a:p>
          <a:p>
            <a:r>
              <a:t>backend/agents/anomaly_detection/components.py</a:t>
            </a:r>
          </a:p>
          <a:p>
            <a:r>
              <a:t>backend/examples/anomaly/leaves-template.json</a:t>
            </a:r>
          </a:p>
          <a:p>
            <a:r>
              <a:t>backend/template/config.py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TALK TRACK</a:t>
            </a:r>
          </a:p>
          <a:p>
            <a:r>
              <a:t>The platform value continues after creation. The registry and My Agents organize saved agents; health checks validate selected model state, credential presence and limited service/context connectivity. Evaluation runs configured sample questions with reply checks. Metrics show usage, checks, incidents, latency, tokens and errors by agent/model. None of these constitutes independent certification; a green health badge does not establish successful inference or provider credits.</a:t>
            </a:r>
          </a:p>
          <a:p/>
          <a:p>
            <a:r>
              <a:t>CODE EVIDENCE (repository snapshot, 03 October 2026)</a:t>
            </a:r>
          </a:p>
          <a:p>
            <a:r>
              <a:t>backend/agents/health.py</a:t>
            </a:r>
          </a:p>
          <a:p>
            <a:r>
              <a:t>ui-payroll-agent/src/app/evaluation.component.ts</a:t>
            </a:r>
          </a:p>
          <a:p>
            <a:r>
              <a:t>ui-payroll-agent/src/evaluationSuites.js</a:t>
            </a:r>
          </a:p>
          <a:p>
            <a:r>
              <a:t>ui-payroll-agent/src/app/metrics.component.ts</a:t>
            </a:r>
          </a:p>
          <a:p>
            <a:r>
              <a:t>backend/agents/metrics.py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TALK TRACK</a:t>
            </a:r>
          </a:p>
          <a:p>
            <a:r>
              <a:t>Use Payroll as a concise proof point after the platform story. Anomaly Detection consumes authorized payrun data, detects changes, and investigates only after explicit Review. A calculated comparison explains the change. Incident Report consumes an authorized saved investigation and creates artifacts when selected. General Query answers from permitted data or saved context. These are several agents built and operated on shared services, demonstrating the reusable platform bundle.</a:t>
            </a:r>
          </a:p>
          <a:p/>
          <a:p>
            <a:r>
              <a:t>CODE EVIDENCE (repository snapshot, 03 October 2026)</a:t>
            </a:r>
          </a:p>
          <a:p>
            <a:r>
              <a:t>backend/agents/anomaly_detection/agent.py</a:t>
            </a:r>
          </a:p>
          <a:p>
            <a:r>
              <a:t>backend/agents/anomaly_detection/paycheck.py</a:t>
            </a:r>
          </a:p>
          <a:p>
            <a:r>
              <a:t>backend/agents/communication/incident.py</a:t>
            </a:r>
          </a:p>
          <a:p>
            <a:r>
              <a:t>backend/agents/question/context_answer.py</a:t>
            </a:r>
          </a:p>
          <a:p>
            <a:r>
              <a:t>ui-trinet-mock/src/LiveAlerts.jsx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TALK TRACK</a:t>
            </a:r>
          </a:p>
          <a:p>
            <a:r>
              <a:t>Summarize the business case around the platform. Templates and a guided form reduce repeated setup; central APIs and access controls make governance reusable; managed/private model support creates operating choice; common runtime and metrics reduce bespoke support. These are value hypotheses to test, not quantified realized savings. Track setup effort, reuse of existing services, control coverage and operating quality as more agents are added.</a:t>
            </a:r>
          </a:p>
          <a:p/>
          <a:p>
            <a:r>
              <a:t>CODE EVIDENCE (repository snapshot, 03 October 2026)</a:t>
            </a:r>
          </a:p>
          <a:p>
            <a:r>
              <a:t>backend/agent_factory/factory.py</a:t>
            </a:r>
          </a:p>
          <a:p>
            <a:r>
              <a:t>backend/template/config.py</a:t>
            </a:r>
          </a:p>
          <a:p>
            <a:r>
              <a:t>ui-payroll-agent/src/app/agent-editor.component.html</a:t>
            </a:r>
          </a:p>
          <a:p>
            <a:r>
              <a:t>backend/model/runtime.py</a:t>
            </a:r>
          </a:p>
          <a:p>
            <a:r>
              <a:t>backend/templates/Model_config/</a:t>
            </a:r>
          </a:p>
          <a:p>
            <a:r>
              <a:t>infra/deploy/platform.py</a:t>
            </a:r>
          </a:p>
          <a:p>
            <a:r>
              <a:t>backend/runtime/agent_access.py</a:t>
            </a:r>
          </a:p>
          <a:p>
            <a:r>
              <a:t>backend/runtime/access.py</a:t>
            </a:r>
          </a:p>
          <a:p>
            <a:r>
              <a:t>ui-payroll-agent/src/app/access-control.component.ts</a:t>
            </a:r>
          </a:p>
          <a:p>
            <a:r>
              <a:t>ui-payroll-agent/src/app/metrics.component.ts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TALK TRACK</a:t>
            </a:r>
          </a:p>
          <a:p>
            <a:r>
              <a:t>The ask is an infrastructure platform initiative. First prepare templates, approved model paths, APIs and access policies. Then enable a domain team to create and operate an agent through the guided form. Finally onboard a second use case/domain to demonstrate reuse and measure what still requires custom integration. Name both the platform owner and domain sponsor. The second-domain milestone is essential to proving the platform proposition.</a:t>
            </a:r>
          </a:p>
          <a:p/>
          <a:p>
            <a:r>
              <a:t>CODE EVIDENCE (repository snapshot, 03 October 2026)</a:t>
            </a:r>
          </a:p>
          <a:p>
            <a:r>
              <a:t>backend/agent_factory/factory.py</a:t>
            </a:r>
          </a:p>
          <a:p>
            <a:r>
              <a:t>backend/template/config.py</a:t>
            </a:r>
          </a:p>
          <a:p>
            <a:r>
              <a:t>ui-payroll-agent/src/app/agent-editor.component.html</a:t>
            </a:r>
          </a:p>
          <a:p>
            <a:r>
              <a:t>backend/model/runtime.py</a:t>
            </a:r>
          </a:p>
          <a:p>
            <a:r>
              <a:t>backend/templates/Model_config/</a:t>
            </a:r>
          </a:p>
          <a:p>
            <a:r>
              <a:t>infra/deploy/platform.py</a:t>
            </a:r>
          </a:p>
          <a:p>
            <a:r>
              <a:t>backend/runtime/agent_access.py</a:t>
            </a:r>
          </a:p>
          <a:p>
            <a:r>
              <a:t>backend/runtime/access.py</a:t>
            </a:r>
          </a:p>
          <a:p>
            <a:r>
              <a:t>ui-payroll-agent/src/app/access-control.component.ts</a:t>
            </a:r>
          </a:p>
          <a:p>
            <a:r>
              <a:t>backend/examples/anomaly/leaves-template.json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TALK TRACK</a:t>
            </a:r>
          </a:p>
          <a:p>
            <a:r>
              <a:t>Implementation: template/factory creation and saved agents, GraphQL over Python gRPC, domain-scoped API/role/context authorization, shared model runtime, limited health/evaluation/metrics, Payroll integration and generic record extension path. Managed runtime adapters are compatible-chat and Hugging Face; demo is not real inference. Private endpoints include Ollama, configurable local compatible APIs and vLLM. Ray/vLLM deployment assets exist but local inference remains unvalidated. Current platform.json selects Kubernetes and Ray disabled. Admin authentication is a shared-key mode; employee/field filtering and physical customer isolation are not delivered by domain permissions. Validate all outbound decision, embedding and fallback paths for a private-only deployment. No production-readiness or regulatory certification claim is made.</a:t>
            </a:r>
          </a:p>
          <a:p/>
          <a:p>
            <a:r>
              <a:t>CODE EVIDENCE (repository snapshot, 03 October 2026)</a:t>
            </a:r>
          </a:p>
          <a:p>
            <a:r>
              <a:t>backend/agent_factory/factory.py</a:t>
            </a:r>
          </a:p>
          <a:p>
            <a:r>
              <a:t>backend/template/config.py</a:t>
            </a:r>
          </a:p>
          <a:p>
            <a:r>
              <a:t>ui-payroll-agent/src/app/agent-editor.component.html</a:t>
            </a:r>
          </a:p>
          <a:p>
            <a:r>
              <a:t>backend/runtime/agent_access.py</a:t>
            </a:r>
          </a:p>
          <a:p>
            <a:r>
              <a:t>backend/runtime/access.py</a:t>
            </a:r>
          </a:p>
          <a:p>
            <a:r>
              <a:t>ui-payroll-agent/src/app/access-control.component.ts</a:t>
            </a:r>
          </a:p>
          <a:p>
            <a:r>
              <a:t>backend/model/runtime.py</a:t>
            </a:r>
          </a:p>
          <a:p>
            <a:r>
              <a:t>backend/templates/Model_config/</a:t>
            </a:r>
          </a:p>
          <a:p>
            <a:r>
              <a:t>infra/deploy/platform.py</a:t>
            </a:r>
          </a:p>
          <a:p>
            <a:r>
              <a:t>README.md</a:t>
            </a:r>
          </a:p>
          <a:p>
            <a:r>
              <a:t>backend/agents/anomaly_detection/fallback.py</a:t>
            </a:r>
          </a:p>
          <a:p>
            <a:r>
              <a:t>infra/deploy/platform.json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8FA"/>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539496"/>
            <a:ext cx="2606040" cy="3200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1">
                <a:solidFill>
                  <a:srgbClr val="007C83"/>
                </a:solidFill>
                <a:latin typeface="Aptos"/>
              </a:rPr>
              <a:t>THE PLATFORM</a:t>
            </a:r>
          </a:p>
        </p:txBody>
      </p:sp>
      <p:sp>
        <p:nvSpPr>
          <p:cNvPr id="5" name="Rectangle 4"/>
          <p:cNvSpPr/>
          <p:nvPr/>
        </p:nvSpPr>
        <p:spPr>
          <a:xfrm>
            <a:off x="3383280"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CREATE AGENTS</a:t>
            </a:r>
          </a:p>
        </p:txBody>
      </p:sp>
      <p:sp>
        <p:nvSpPr>
          <p:cNvPr id="7" name="Rectangle 6"/>
          <p:cNvSpPr/>
          <p:nvPr/>
        </p:nvSpPr>
        <p:spPr>
          <a:xfrm>
            <a:off x="6236208"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6208"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CONTROL + OPERATE</a:t>
            </a:r>
          </a:p>
        </p:txBody>
      </p:sp>
      <p:sp>
        <p:nvSpPr>
          <p:cNvPr id="9" name="Rectangle 8"/>
          <p:cNvSpPr/>
          <p:nvPr/>
        </p:nvSpPr>
        <p:spPr>
          <a:xfrm>
            <a:off x="9089136"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89136"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REUSE + SCALE</a:t>
            </a:r>
          </a:p>
        </p:txBody>
      </p:sp>
      <p:sp>
        <p:nvSpPr>
          <p:cNvPr id="11" name="TextBox 10"/>
          <p:cNvSpPr txBox="1"/>
          <p:nvPr/>
        </p:nvSpPr>
        <p:spPr>
          <a:xfrm>
            <a:off x="530352" y="768096"/>
            <a:ext cx="11128248" cy="210312"/>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007C83"/>
                </a:solidFill>
                <a:latin typeface="Aptos"/>
              </a:rPr>
              <a:t>AGENT TEMPLATE STUDIO</a:t>
            </a:r>
          </a:p>
        </p:txBody>
      </p:sp>
      <p:sp>
        <p:nvSpPr>
          <p:cNvPr id="12" name="TextBox 11"/>
          <p:cNvSpPr txBox="1"/>
          <p:nvPr/>
        </p:nvSpPr>
        <p:spPr>
          <a:xfrm>
            <a:off x="530352" y="1078992"/>
            <a:ext cx="11128248" cy="594360"/>
          </a:xfrm>
          <a:prstGeom prst="rect">
            <a:avLst/>
          </a:prstGeom>
          <a:noFill/>
        </p:spPr>
        <p:txBody>
          <a:bodyPr wrap="square" lIns="13716" rIns="13716" tIns="22860" bIns="22860">
            <a:spAutoFit/>
          </a:bodyPr>
          <a:lstStyle/>
          <a:p>
            <a:pPr algn="l">
              <a:lnSpc>
                <a:spcPts val="3360"/>
              </a:lnSpc>
              <a:spcBef>
                <a:spcPts val="0"/>
              </a:spcBef>
              <a:spcAft>
                <a:spcPts val="0"/>
              </a:spcAft>
            </a:pPr>
            <a:r>
              <a:rPr sz="3000" b="1">
                <a:solidFill>
                  <a:srgbClr val="122743"/>
                </a:solidFill>
                <a:latin typeface="Aptos"/>
              </a:rPr>
              <a:t>One infrastructure platform for domain agents.</a:t>
            </a:r>
          </a:p>
        </p:txBody>
      </p:sp>
      <p:sp>
        <p:nvSpPr>
          <p:cNvPr id="13" name="TextBox 12"/>
          <p:cNvSpPr txBox="1"/>
          <p:nvPr/>
        </p:nvSpPr>
        <p:spPr>
          <a:xfrm>
            <a:off x="548640" y="1746504"/>
            <a:ext cx="11064240" cy="5943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Template-driven creation. Governed access. Managed or privately hosted models.</a:t>
            </a:r>
          </a:p>
        </p:txBody>
      </p:sp>
      <p:sp>
        <p:nvSpPr>
          <p:cNvPr id="14" name="Rectangle 13"/>
          <p:cNvSpPr/>
          <p:nvPr/>
        </p:nvSpPr>
        <p:spPr>
          <a:xfrm>
            <a:off x="530352" y="6437376"/>
            <a:ext cx="11128248" cy="11887"/>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537960"/>
            <a:ext cx="7315200" cy="173736"/>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AGENT TEMPLATE STUDIO  /  CODEBASE UPDATE  /  03 OCT 2026</a:t>
            </a:r>
          </a:p>
        </p:txBody>
      </p:sp>
      <p:sp>
        <p:nvSpPr>
          <p:cNvPr id="16" name="TextBox 15"/>
          <p:cNvSpPr txBox="1"/>
          <p:nvPr/>
        </p:nvSpPr>
        <p:spPr>
          <a:xfrm>
            <a:off x="11000232" y="6492240"/>
            <a:ext cx="594360" cy="228600"/>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01</a:t>
            </a:r>
          </a:p>
        </p:txBody>
      </p:sp>
      <p:sp>
        <p:nvSpPr>
          <p:cNvPr id="17" name="Rounded Rectangle 16"/>
          <p:cNvSpPr/>
          <p:nvPr/>
        </p:nvSpPr>
        <p:spPr>
          <a:xfrm>
            <a:off x="548640" y="2587752"/>
            <a:ext cx="6547104" cy="3218688"/>
          </a:xfrm>
          <a:prstGeom prst="roundRect">
            <a:avLst>
              <a:gd name="adj" fmla="val 9000"/>
            </a:avLst>
          </a:prstGeom>
          <a:solidFill>
            <a:srgbClr val="1227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 y="2880360"/>
            <a:ext cx="5916168" cy="283464"/>
          </a:xfrm>
          <a:prstGeom prst="rect">
            <a:avLst/>
          </a:prstGeom>
          <a:noFill/>
        </p:spPr>
        <p:txBody>
          <a:bodyPr wrap="square" lIns="13716" rIns="13716" tIns="22860" bIns="22860">
            <a:spAutoFit/>
          </a:bodyPr>
          <a:lstStyle/>
          <a:p>
            <a:pPr algn="l">
              <a:lnSpc>
                <a:spcPts val="1568"/>
              </a:lnSpc>
              <a:spcBef>
                <a:spcPts val="0"/>
              </a:spcBef>
              <a:spcAft>
                <a:spcPts val="0"/>
              </a:spcAft>
            </a:pPr>
            <a:r>
              <a:rPr sz="1400" b="1">
                <a:solidFill>
                  <a:srgbClr val="65D5CF"/>
                </a:solidFill>
                <a:latin typeface="Aptos"/>
              </a:rPr>
              <a:t>A SHARED FOUNDATION FOR BUSINESS AI</a:t>
            </a:r>
          </a:p>
        </p:txBody>
      </p:sp>
      <p:sp>
        <p:nvSpPr>
          <p:cNvPr id="19" name="TextBox 18"/>
          <p:cNvSpPr txBox="1"/>
          <p:nvPr/>
        </p:nvSpPr>
        <p:spPr>
          <a:xfrm>
            <a:off x="859536" y="3511296"/>
            <a:ext cx="5824728" cy="1024128"/>
          </a:xfrm>
          <a:prstGeom prst="rect">
            <a:avLst/>
          </a:prstGeom>
          <a:noFill/>
        </p:spPr>
        <p:txBody>
          <a:bodyPr wrap="square" lIns="13716" rIns="13716" tIns="22860" bIns="22860">
            <a:spAutoFit/>
          </a:bodyPr>
          <a:lstStyle/>
          <a:p>
            <a:pPr algn="l">
              <a:lnSpc>
                <a:spcPts val="3136"/>
              </a:lnSpc>
              <a:spcBef>
                <a:spcPts val="0"/>
              </a:spcBef>
              <a:spcAft>
                <a:spcPts val="0"/>
              </a:spcAft>
            </a:pPr>
            <a:r>
              <a:rPr sz="2800" b="1">
                <a:solidFill>
                  <a:srgbClr val="FFFFFF"/>
                </a:solidFill>
                <a:latin typeface="Aptos"/>
              </a:rPr>
              <a:t>Create agents in a few steps.</a:t>
            </a:r>
          </a:p>
          <a:p>
            <a:pPr algn="l">
              <a:lnSpc>
                <a:spcPts val="3136"/>
              </a:lnSpc>
              <a:spcBef>
                <a:spcPts val="0"/>
              </a:spcBef>
              <a:spcAft>
                <a:spcPts val="0"/>
              </a:spcAft>
            </a:pPr>
            <a:r>
              <a:rPr sz="2800" b="1">
                <a:solidFill>
                  <a:srgbClr val="FFFFFF"/>
                </a:solidFill>
                <a:latin typeface="Aptos"/>
              </a:rPr>
              <a:t>Keep control in one place.</a:t>
            </a:r>
          </a:p>
        </p:txBody>
      </p:sp>
      <p:sp>
        <p:nvSpPr>
          <p:cNvPr id="20" name="TextBox 19"/>
          <p:cNvSpPr txBox="1"/>
          <p:nvPr/>
        </p:nvSpPr>
        <p:spPr>
          <a:xfrm>
            <a:off x="859536" y="4974336"/>
            <a:ext cx="5861304" cy="585216"/>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D8E6F3"/>
                </a:solidFill>
                <a:latin typeface="Aptos"/>
              </a:rPr>
              <a:t>Configure once. Reuse across teams and domains.</a:t>
            </a:r>
          </a:p>
        </p:txBody>
      </p:sp>
      <p:sp>
        <p:nvSpPr>
          <p:cNvPr id="21" name="Oval 20"/>
          <p:cNvSpPr/>
          <p:nvPr/>
        </p:nvSpPr>
        <p:spPr>
          <a:xfrm>
            <a:off x="7452360" y="2752344"/>
            <a:ext cx="393192" cy="393192"/>
          </a:xfrm>
          <a:prstGeom prst="ellipse">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52360" y="2807208"/>
            <a:ext cx="393192" cy="265176"/>
          </a:xfrm>
          <a:prstGeom prst="rect">
            <a:avLst/>
          </a:prstGeom>
          <a:noFill/>
        </p:spPr>
        <p:txBody>
          <a:bodyPr wrap="square" lIns="13716" rIns="13716" tIns="22860" bIns="22860">
            <a:spAutoFit/>
          </a:bodyPr>
          <a:lstStyle/>
          <a:p>
            <a:pPr algn="ctr">
              <a:lnSpc>
                <a:spcPts val="1456"/>
              </a:lnSpc>
              <a:spcBef>
                <a:spcPts val="0"/>
              </a:spcBef>
              <a:spcAft>
                <a:spcPts val="0"/>
              </a:spcAft>
            </a:pPr>
            <a:r>
              <a:rPr sz="1300" b="1">
                <a:solidFill>
                  <a:srgbClr val="FFFFFF"/>
                </a:solidFill>
                <a:latin typeface="Aptos"/>
              </a:rPr>
              <a:t>1</a:t>
            </a:r>
          </a:p>
        </p:txBody>
      </p:sp>
      <p:sp>
        <p:nvSpPr>
          <p:cNvPr id="23" name="TextBox 22"/>
          <p:cNvSpPr txBox="1"/>
          <p:nvPr/>
        </p:nvSpPr>
        <p:spPr>
          <a:xfrm>
            <a:off x="8046720" y="2743200"/>
            <a:ext cx="3410712" cy="265176"/>
          </a:xfrm>
          <a:prstGeom prst="rect">
            <a:avLst/>
          </a:prstGeom>
          <a:noFill/>
        </p:spPr>
        <p:txBody>
          <a:bodyPr wrap="square" lIns="13716" rIns="13716" tIns="22860" bIns="22860">
            <a:spAutoFit/>
          </a:bodyPr>
          <a:lstStyle/>
          <a:p>
            <a:pPr algn="l">
              <a:lnSpc>
                <a:spcPts val="1456"/>
              </a:lnSpc>
              <a:spcBef>
                <a:spcPts val="0"/>
              </a:spcBef>
              <a:spcAft>
                <a:spcPts val="0"/>
              </a:spcAft>
            </a:pPr>
            <a:r>
              <a:rPr sz="1300" b="1">
                <a:solidFill>
                  <a:srgbClr val="007C83"/>
                </a:solidFill>
                <a:latin typeface="Aptos"/>
              </a:rPr>
              <a:t>CREATE</a:t>
            </a:r>
          </a:p>
        </p:txBody>
      </p:sp>
      <p:sp>
        <p:nvSpPr>
          <p:cNvPr id="24" name="TextBox 23"/>
          <p:cNvSpPr txBox="1"/>
          <p:nvPr/>
        </p:nvSpPr>
        <p:spPr>
          <a:xfrm>
            <a:off x="8046720" y="3118104"/>
            <a:ext cx="3410712" cy="667512"/>
          </a:xfrm>
          <a:prstGeom prst="rect">
            <a:avLst/>
          </a:prstGeom>
          <a:noFill/>
        </p:spPr>
        <p:txBody>
          <a:bodyPr wrap="square" lIns="13716" rIns="13716" tIns="22860" bIns="22860">
            <a:spAutoFit/>
          </a:bodyPr>
          <a:lstStyle/>
          <a:p>
            <a:pPr algn="l">
              <a:lnSpc>
                <a:spcPts val="2240"/>
              </a:lnSpc>
              <a:spcBef>
                <a:spcPts val="0"/>
              </a:spcBef>
              <a:spcAft>
                <a:spcPts val="0"/>
              </a:spcAft>
            </a:pPr>
            <a:r>
              <a:rPr sz="2000" b="1">
                <a:solidFill>
                  <a:srgbClr val="122743"/>
                </a:solidFill>
                <a:latin typeface="Aptos"/>
              </a:rPr>
              <a:t>Templates + agent factory</a:t>
            </a:r>
          </a:p>
        </p:txBody>
      </p:sp>
      <p:sp>
        <p:nvSpPr>
          <p:cNvPr id="25" name="Oval 24"/>
          <p:cNvSpPr/>
          <p:nvPr/>
        </p:nvSpPr>
        <p:spPr>
          <a:xfrm>
            <a:off x="7452360" y="3758183"/>
            <a:ext cx="393192" cy="393192"/>
          </a:xfrm>
          <a:prstGeom prst="ellipse">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2360" y="3813047"/>
            <a:ext cx="393192" cy="265176"/>
          </a:xfrm>
          <a:prstGeom prst="rect">
            <a:avLst/>
          </a:prstGeom>
          <a:noFill/>
        </p:spPr>
        <p:txBody>
          <a:bodyPr wrap="square" lIns="13716" rIns="13716" tIns="22860" bIns="22860">
            <a:spAutoFit/>
          </a:bodyPr>
          <a:lstStyle/>
          <a:p>
            <a:pPr algn="ctr">
              <a:lnSpc>
                <a:spcPts val="1456"/>
              </a:lnSpc>
              <a:spcBef>
                <a:spcPts val="0"/>
              </a:spcBef>
              <a:spcAft>
                <a:spcPts val="0"/>
              </a:spcAft>
            </a:pPr>
            <a:r>
              <a:rPr sz="1300" b="1">
                <a:solidFill>
                  <a:srgbClr val="FFFFFF"/>
                </a:solidFill>
                <a:latin typeface="Aptos"/>
              </a:rPr>
              <a:t>2</a:t>
            </a:r>
          </a:p>
        </p:txBody>
      </p:sp>
      <p:sp>
        <p:nvSpPr>
          <p:cNvPr id="27" name="TextBox 26"/>
          <p:cNvSpPr txBox="1"/>
          <p:nvPr/>
        </p:nvSpPr>
        <p:spPr>
          <a:xfrm>
            <a:off x="8046720" y="3749039"/>
            <a:ext cx="3410712" cy="265176"/>
          </a:xfrm>
          <a:prstGeom prst="rect">
            <a:avLst/>
          </a:prstGeom>
          <a:noFill/>
        </p:spPr>
        <p:txBody>
          <a:bodyPr wrap="square" lIns="13716" rIns="13716" tIns="22860" bIns="22860">
            <a:spAutoFit/>
          </a:bodyPr>
          <a:lstStyle/>
          <a:p>
            <a:pPr algn="l">
              <a:lnSpc>
                <a:spcPts val="1456"/>
              </a:lnSpc>
              <a:spcBef>
                <a:spcPts val="0"/>
              </a:spcBef>
              <a:spcAft>
                <a:spcPts val="0"/>
              </a:spcAft>
            </a:pPr>
            <a:r>
              <a:rPr sz="1300" b="1">
                <a:solidFill>
                  <a:srgbClr val="007C83"/>
                </a:solidFill>
                <a:latin typeface="Aptos"/>
              </a:rPr>
              <a:t>CONTROL</a:t>
            </a:r>
          </a:p>
        </p:txBody>
      </p:sp>
      <p:sp>
        <p:nvSpPr>
          <p:cNvPr id="28" name="TextBox 27"/>
          <p:cNvSpPr txBox="1"/>
          <p:nvPr/>
        </p:nvSpPr>
        <p:spPr>
          <a:xfrm>
            <a:off x="8046720" y="4123944"/>
            <a:ext cx="3410712" cy="667512"/>
          </a:xfrm>
          <a:prstGeom prst="rect">
            <a:avLst/>
          </a:prstGeom>
          <a:noFill/>
        </p:spPr>
        <p:txBody>
          <a:bodyPr wrap="square" lIns="13716" rIns="13716" tIns="22860" bIns="22860">
            <a:spAutoFit/>
          </a:bodyPr>
          <a:lstStyle/>
          <a:p>
            <a:pPr algn="l">
              <a:lnSpc>
                <a:spcPts val="2240"/>
              </a:lnSpc>
              <a:spcBef>
                <a:spcPts val="0"/>
              </a:spcBef>
              <a:spcAft>
                <a:spcPts val="0"/>
              </a:spcAft>
            </a:pPr>
            <a:r>
              <a:rPr sz="2000" b="1">
                <a:solidFill>
                  <a:srgbClr val="122743"/>
                </a:solidFill>
                <a:latin typeface="Aptos"/>
              </a:rPr>
              <a:t>Models + data + API access</a:t>
            </a:r>
          </a:p>
        </p:txBody>
      </p:sp>
      <p:sp>
        <p:nvSpPr>
          <p:cNvPr id="29" name="Oval 28"/>
          <p:cNvSpPr/>
          <p:nvPr/>
        </p:nvSpPr>
        <p:spPr>
          <a:xfrm>
            <a:off x="7452360" y="4764024"/>
            <a:ext cx="393192" cy="393192"/>
          </a:xfrm>
          <a:prstGeom prst="ellipse">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52360" y="4818888"/>
            <a:ext cx="393192" cy="265176"/>
          </a:xfrm>
          <a:prstGeom prst="rect">
            <a:avLst/>
          </a:prstGeom>
          <a:noFill/>
        </p:spPr>
        <p:txBody>
          <a:bodyPr wrap="square" lIns="13716" rIns="13716" tIns="22860" bIns="22860">
            <a:spAutoFit/>
          </a:bodyPr>
          <a:lstStyle/>
          <a:p>
            <a:pPr algn="ctr">
              <a:lnSpc>
                <a:spcPts val="1456"/>
              </a:lnSpc>
              <a:spcBef>
                <a:spcPts val="0"/>
              </a:spcBef>
              <a:spcAft>
                <a:spcPts val="0"/>
              </a:spcAft>
            </a:pPr>
            <a:r>
              <a:rPr sz="1300" b="1">
                <a:solidFill>
                  <a:srgbClr val="FFFFFF"/>
                </a:solidFill>
                <a:latin typeface="Aptos"/>
              </a:rPr>
              <a:t>3</a:t>
            </a:r>
          </a:p>
        </p:txBody>
      </p:sp>
      <p:sp>
        <p:nvSpPr>
          <p:cNvPr id="31" name="TextBox 30"/>
          <p:cNvSpPr txBox="1"/>
          <p:nvPr/>
        </p:nvSpPr>
        <p:spPr>
          <a:xfrm>
            <a:off x="8046720" y="4754880"/>
            <a:ext cx="3410712" cy="265176"/>
          </a:xfrm>
          <a:prstGeom prst="rect">
            <a:avLst/>
          </a:prstGeom>
          <a:noFill/>
        </p:spPr>
        <p:txBody>
          <a:bodyPr wrap="square" lIns="13716" rIns="13716" tIns="22860" bIns="22860">
            <a:spAutoFit/>
          </a:bodyPr>
          <a:lstStyle/>
          <a:p>
            <a:pPr algn="l">
              <a:lnSpc>
                <a:spcPts val="1456"/>
              </a:lnSpc>
              <a:spcBef>
                <a:spcPts val="0"/>
              </a:spcBef>
              <a:spcAft>
                <a:spcPts val="0"/>
              </a:spcAft>
            </a:pPr>
            <a:r>
              <a:rPr sz="1300" b="1">
                <a:solidFill>
                  <a:srgbClr val="007C83"/>
                </a:solidFill>
                <a:latin typeface="Aptos"/>
              </a:rPr>
              <a:t>OPERATE</a:t>
            </a:r>
          </a:p>
        </p:txBody>
      </p:sp>
      <p:sp>
        <p:nvSpPr>
          <p:cNvPr id="32" name="TextBox 31"/>
          <p:cNvSpPr txBox="1"/>
          <p:nvPr/>
        </p:nvSpPr>
        <p:spPr>
          <a:xfrm>
            <a:off x="8046720" y="5129784"/>
            <a:ext cx="3410712" cy="667512"/>
          </a:xfrm>
          <a:prstGeom prst="rect">
            <a:avLst/>
          </a:prstGeom>
          <a:noFill/>
        </p:spPr>
        <p:txBody>
          <a:bodyPr wrap="square" lIns="13716" rIns="13716" tIns="22860" bIns="22860">
            <a:spAutoFit/>
          </a:bodyPr>
          <a:lstStyle/>
          <a:p>
            <a:pPr algn="l">
              <a:lnSpc>
                <a:spcPts val="2240"/>
              </a:lnSpc>
              <a:spcBef>
                <a:spcPts val="0"/>
              </a:spcBef>
              <a:spcAft>
                <a:spcPts val="0"/>
              </a:spcAft>
            </a:pPr>
            <a:r>
              <a:rPr sz="2000" b="1">
                <a:solidFill>
                  <a:srgbClr val="122743"/>
                </a:solidFill>
                <a:latin typeface="Aptos"/>
              </a:rPr>
              <a:t>Runtime + health + evaluation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539496"/>
            <a:ext cx="2606040" cy="3200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1">
                <a:solidFill>
                  <a:srgbClr val="007C83"/>
                </a:solidFill>
                <a:latin typeface="Aptos"/>
              </a:rPr>
              <a:t>THE PLATFORM</a:t>
            </a:r>
          </a:p>
        </p:txBody>
      </p:sp>
      <p:sp>
        <p:nvSpPr>
          <p:cNvPr id="5" name="Rectangle 4"/>
          <p:cNvSpPr/>
          <p:nvPr/>
        </p:nvSpPr>
        <p:spPr>
          <a:xfrm>
            <a:off x="3383280"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CREATE AGENTS</a:t>
            </a:r>
          </a:p>
        </p:txBody>
      </p:sp>
      <p:sp>
        <p:nvSpPr>
          <p:cNvPr id="7" name="Rectangle 6"/>
          <p:cNvSpPr/>
          <p:nvPr/>
        </p:nvSpPr>
        <p:spPr>
          <a:xfrm>
            <a:off x="6236208"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6208"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CONTROL + OPERATE</a:t>
            </a:r>
          </a:p>
        </p:txBody>
      </p:sp>
      <p:sp>
        <p:nvSpPr>
          <p:cNvPr id="9" name="Rectangle 8"/>
          <p:cNvSpPr/>
          <p:nvPr/>
        </p:nvSpPr>
        <p:spPr>
          <a:xfrm>
            <a:off x="9089136"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89136"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REUSE + SCALE</a:t>
            </a:r>
          </a:p>
        </p:txBody>
      </p:sp>
      <p:sp>
        <p:nvSpPr>
          <p:cNvPr id="11" name="TextBox 10"/>
          <p:cNvSpPr txBox="1"/>
          <p:nvPr/>
        </p:nvSpPr>
        <p:spPr>
          <a:xfrm>
            <a:off x="530352" y="768096"/>
            <a:ext cx="11128248" cy="210312"/>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007C83"/>
                </a:solidFill>
                <a:latin typeface="Aptos"/>
              </a:rPr>
              <a:t>WHY A SHARED PLATFORM</a:t>
            </a:r>
          </a:p>
        </p:txBody>
      </p:sp>
      <p:sp>
        <p:nvSpPr>
          <p:cNvPr id="12" name="TextBox 11"/>
          <p:cNvSpPr txBox="1"/>
          <p:nvPr/>
        </p:nvSpPr>
        <p:spPr>
          <a:xfrm>
            <a:off x="530352" y="1078992"/>
            <a:ext cx="11128248" cy="594360"/>
          </a:xfrm>
          <a:prstGeom prst="rect">
            <a:avLst/>
          </a:prstGeom>
          <a:noFill/>
        </p:spPr>
        <p:txBody>
          <a:bodyPr wrap="square" lIns="13716" rIns="13716" tIns="22860" bIns="22860">
            <a:spAutoFit/>
          </a:bodyPr>
          <a:lstStyle/>
          <a:p>
            <a:pPr algn="l">
              <a:lnSpc>
                <a:spcPts val="3360"/>
              </a:lnSpc>
              <a:spcBef>
                <a:spcPts val="0"/>
              </a:spcBef>
              <a:spcAft>
                <a:spcPts val="0"/>
              </a:spcAft>
            </a:pPr>
            <a:r>
              <a:rPr sz="3000" b="1">
                <a:solidFill>
                  <a:srgbClr val="122743"/>
                </a:solidFill>
                <a:latin typeface="Aptos"/>
              </a:rPr>
              <a:t>Every domain needs agents. The foundation should be shared.</a:t>
            </a:r>
          </a:p>
        </p:txBody>
      </p:sp>
      <p:sp>
        <p:nvSpPr>
          <p:cNvPr id="13" name="TextBox 12"/>
          <p:cNvSpPr txBox="1"/>
          <p:nvPr/>
        </p:nvSpPr>
        <p:spPr>
          <a:xfrm>
            <a:off x="548640" y="1746504"/>
            <a:ext cx="11064240" cy="5943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Agent creation repeatedly needs the same infrastructure, even when the business use case changes.</a:t>
            </a:r>
          </a:p>
        </p:txBody>
      </p:sp>
      <p:sp>
        <p:nvSpPr>
          <p:cNvPr id="14" name="Rectangle 13"/>
          <p:cNvSpPr/>
          <p:nvPr/>
        </p:nvSpPr>
        <p:spPr>
          <a:xfrm>
            <a:off x="530352" y="6437376"/>
            <a:ext cx="11128248" cy="11887"/>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537960"/>
            <a:ext cx="7315200" cy="173736"/>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AGENT TEMPLATE STUDIO  /  CODEBASE UPDATE  /  03 OCT 2026</a:t>
            </a:r>
          </a:p>
        </p:txBody>
      </p:sp>
      <p:sp>
        <p:nvSpPr>
          <p:cNvPr id="16" name="TextBox 15"/>
          <p:cNvSpPr txBox="1"/>
          <p:nvPr/>
        </p:nvSpPr>
        <p:spPr>
          <a:xfrm>
            <a:off x="11000232" y="6492240"/>
            <a:ext cx="594360" cy="228600"/>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02</a:t>
            </a:r>
          </a:p>
        </p:txBody>
      </p:sp>
      <p:sp>
        <p:nvSpPr>
          <p:cNvPr id="17" name="Rounded Rectangle 16"/>
          <p:cNvSpPr/>
          <p:nvPr/>
        </p:nvSpPr>
        <p:spPr>
          <a:xfrm>
            <a:off x="548640" y="2615184"/>
            <a:ext cx="3584448" cy="2624328"/>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2852928"/>
            <a:ext cx="41148" cy="402336"/>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2843784"/>
            <a:ext cx="3035808"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235CC4"/>
                </a:solidFill>
                <a:latin typeface="Aptos"/>
              </a:rPr>
              <a:t>BUILD EFFORT</a:t>
            </a:r>
          </a:p>
        </p:txBody>
      </p:sp>
      <p:sp>
        <p:nvSpPr>
          <p:cNvPr id="20" name="TextBox 19"/>
          <p:cNvSpPr txBox="1"/>
          <p:nvPr/>
        </p:nvSpPr>
        <p:spPr>
          <a:xfrm>
            <a:off x="758952" y="3419856"/>
            <a:ext cx="3163824"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Repeated setup</a:t>
            </a:r>
          </a:p>
        </p:txBody>
      </p:sp>
      <p:sp>
        <p:nvSpPr>
          <p:cNvPr id="21" name="TextBox 20"/>
          <p:cNvSpPr txBox="1"/>
          <p:nvPr/>
        </p:nvSpPr>
        <p:spPr>
          <a:xfrm>
            <a:off x="758952" y="4315968"/>
            <a:ext cx="3163824" cy="795528"/>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Agent configuration</a:t>
            </a:r>
          </a:p>
          <a:p>
            <a:pPr algn="l">
              <a:lnSpc>
                <a:spcPts val="1792"/>
              </a:lnSpc>
              <a:spcBef>
                <a:spcPts val="0"/>
              </a:spcBef>
              <a:spcAft>
                <a:spcPts val="0"/>
              </a:spcAft>
            </a:pPr>
            <a:r>
              <a:rPr sz="1600" b="0">
                <a:solidFill>
                  <a:srgbClr val="5C6F83"/>
                </a:solidFill>
                <a:latin typeface="Aptos"/>
              </a:rPr>
              <a:t>Model connections</a:t>
            </a:r>
          </a:p>
          <a:p>
            <a:pPr algn="l">
              <a:lnSpc>
                <a:spcPts val="1792"/>
              </a:lnSpc>
              <a:spcBef>
                <a:spcPts val="0"/>
              </a:spcBef>
              <a:spcAft>
                <a:spcPts val="0"/>
              </a:spcAft>
            </a:pPr>
            <a:r>
              <a:rPr sz="1600" b="0">
                <a:solidFill>
                  <a:srgbClr val="5C6F83"/>
                </a:solidFill>
                <a:latin typeface="Aptos"/>
              </a:rPr>
              <a:t>Application integration</a:t>
            </a:r>
          </a:p>
        </p:txBody>
      </p:sp>
      <p:sp>
        <p:nvSpPr>
          <p:cNvPr id="22" name="Rounded Rectangle 21"/>
          <p:cNvSpPr/>
          <p:nvPr/>
        </p:nvSpPr>
        <p:spPr>
          <a:xfrm>
            <a:off x="4297679" y="2615184"/>
            <a:ext cx="3584448" cy="2624328"/>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59" y="2852928"/>
            <a:ext cx="41148" cy="402336"/>
          </a:xfrm>
          <a:prstGeom prst="rect">
            <a:avLst/>
          </a:prstGeom>
          <a:solidFill>
            <a:srgbClr val="765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63440" y="2843784"/>
            <a:ext cx="3035808"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7650A6"/>
                </a:solidFill>
                <a:latin typeface="Aptos"/>
              </a:rPr>
              <a:t>CONTROL</a:t>
            </a:r>
          </a:p>
        </p:txBody>
      </p:sp>
      <p:sp>
        <p:nvSpPr>
          <p:cNvPr id="25" name="TextBox 24"/>
          <p:cNvSpPr txBox="1"/>
          <p:nvPr/>
        </p:nvSpPr>
        <p:spPr>
          <a:xfrm>
            <a:off x="4507992" y="3419856"/>
            <a:ext cx="3163824"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Scattered decisions</a:t>
            </a:r>
          </a:p>
        </p:txBody>
      </p:sp>
      <p:sp>
        <p:nvSpPr>
          <p:cNvPr id="26" name="TextBox 25"/>
          <p:cNvSpPr txBox="1"/>
          <p:nvPr/>
        </p:nvSpPr>
        <p:spPr>
          <a:xfrm>
            <a:off x="4507992" y="4315968"/>
            <a:ext cx="3163824" cy="795528"/>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Which models may run?</a:t>
            </a:r>
          </a:p>
          <a:p>
            <a:pPr algn="l">
              <a:lnSpc>
                <a:spcPts val="1792"/>
              </a:lnSpc>
              <a:spcBef>
                <a:spcPts val="0"/>
              </a:spcBef>
              <a:spcAft>
                <a:spcPts val="0"/>
              </a:spcAft>
            </a:pPr>
            <a:r>
              <a:rPr sz="1600" b="0">
                <a:solidFill>
                  <a:srgbClr val="5C6F83"/>
                </a:solidFill>
                <a:latin typeface="Aptos"/>
              </a:rPr>
              <a:t>Which APIs may be read?</a:t>
            </a:r>
          </a:p>
          <a:p>
            <a:pPr algn="l">
              <a:lnSpc>
                <a:spcPts val="1792"/>
              </a:lnSpc>
              <a:spcBef>
                <a:spcPts val="0"/>
              </a:spcBef>
              <a:spcAft>
                <a:spcPts val="0"/>
              </a:spcAft>
            </a:pPr>
            <a:r>
              <a:rPr sz="1600" b="0">
                <a:solidFill>
                  <a:srgbClr val="5C6F83"/>
                </a:solidFill>
                <a:latin typeface="Aptos"/>
              </a:rPr>
              <a:t>Which agents may share context?</a:t>
            </a:r>
          </a:p>
        </p:txBody>
      </p:sp>
      <p:sp>
        <p:nvSpPr>
          <p:cNvPr id="27" name="Rounded Rectangle 26"/>
          <p:cNvSpPr/>
          <p:nvPr/>
        </p:nvSpPr>
        <p:spPr>
          <a:xfrm>
            <a:off x="8046719" y="2615184"/>
            <a:ext cx="3584448" cy="2624328"/>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29599" y="2852928"/>
            <a:ext cx="41148" cy="402336"/>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0" y="2843784"/>
            <a:ext cx="3035808"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OPERATIONS</a:t>
            </a:r>
          </a:p>
        </p:txBody>
      </p:sp>
      <p:sp>
        <p:nvSpPr>
          <p:cNvPr id="30" name="TextBox 29"/>
          <p:cNvSpPr txBox="1"/>
          <p:nvPr/>
        </p:nvSpPr>
        <p:spPr>
          <a:xfrm>
            <a:off x="8257031" y="3419856"/>
            <a:ext cx="3163824"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Repeated support</a:t>
            </a:r>
          </a:p>
        </p:txBody>
      </p:sp>
      <p:sp>
        <p:nvSpPr>
          <p:cNvPr id="31" name="TextBox 30"/>
          <p:cNvSpPr txBox="1"/>
          <p:nvPr/>
        </p:nvSpPr>
        <p:spPr>
          <a:xfrm>
            <a:off x="8257031" y="4315968"/>
            <a:ext cx="3163824" cy="795528"/>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Connectivity checks</a:t>
            </a:r>
          </a:p>
          <a:p>
            <a:pPr algn="l">
              <a:lnSpc>
                <a:spcPts val="1792"/>
              </a:lnSpc>
              <a:spcBef>
                <a:spcPts val="0"/>
              </a:spcBef>
              <a:spcAft>
                <a:spcPts val="0"/>
              </a:spcAft>
            </a:pPr>
            <a:r>
              <a:rPr sz="1600" b="0">
                <a:solidFill>
                  <a:srgbClr val="5C6F83"/>
                </a:solidFill>
                <a:latin typeface="Aptos"/>
              </a:rPr>
              <a:t>Answer evaluation</a:t>
            </a:r>
          </a:p>
          <a:p>
            <a:pPr algn="l">
              <a:lnSpc>
                <a:spcPts val="1792"/>
              </a:lnSpc>
              <a:spcBef>
                <a:spcPts val="0"/>
              </a:spcBef>
              <a:spcAft>
                <a:spcPts val="0"/>
              </a:spcAft>
            </a:pPr>
            <a:r>
              <a:rPr sz="1600" b="0">
                <a:solidFill>
                  <a:srgbClr val="5C6F83"/>
                </a:solidFill>
                <a:latin typeface="Aptos"/>
              </a:rPr>
              <a:t>Usage and failure visibility</a:t>
            </a:r>
          </a:p>
        </p:txBody>
      </p:sp>
      <p:sp>
        <p:nvSpPr>
          <p:cNvPr id="32" name="Rounded Rectangle 31"/>
          <p:cNvSpPr/>
          <p:nvPr/>
        </p:nvSpPr>
        <p:spPr>
          <a:xfrm>
            <a:off x="548640" y="5358384"/>
            <a:ext cx="11091672" cy="484632"/>
          </a:xfrm>
          <a:prstGeom prst="roundRect">
            <a:avLst>
              <a:gd name="adj" fmla="val 9000"/>
            </a:avLst>
          </a:prstGeom>
          <a:solidFill>
            <a:srgbClr val="1227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8952" y="5458968"/>
            <a:ext cx="10652760" cy="283464"/>
          </a:xfrm>
          <a:prstGeom prst="rect">
            <a:avLst/>
          </a:prstGeom>
          <a:noFill/>
        </p:spPr>
        <p:txBody>
          <a:bodyPr wrap="square" lIns="13716" rIns="13716" tIns="22860" bIns="22860">
            <a:spAutoFit/>
          </a:bodyPr>
          <a:lstStyle/>
          <a:p>
            <a:pPr algn="l">
              <a:lnSpc>
                <a:spcPts val="1904"/>
              </a:lnSpc>
              <a:spcBef>
                <a:spcPts val="0"/>
              </a:spcBef>
              <a:spcAft>
                <a:spcPts val="0"/>
              </a:spcAft>
            </a:pPr>
            <a:r>
              <a:rPr sz="1700" b="1">
                <a:solidFill>
                  <a:srgbClr val="FFFFFF"/>
                </a:solidFill>
                <a:latin typeface="Aptos"/>
              </a:rPr>
              <a:t>Invest in the common foundation once. Reuse it for each additional agent and domain.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539496"/>
            <a:ext cx="2606040" cy="3200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1">
                <a:solidFill>
                  <a:srgbClr val="007C83"/>
                </a:solidFill>
                <a:latin typeface="Aptos"/>
              </a:rPr>
              <a:t>THE PLATFORM</a:t>
            </a:r>
          </a:p>
        </p:txBody>
      </p:sp>
      <p:sp>
        <p:nvSpPr>
          <p:cNvPr id="5" name="Rectangle 4"/>
          <p:cNvSpPr/>
          <p:nvPr/>
        </p:nvSpPr>
        <p:spPr>
          <a:xfrm>
            <a:off x="3383280"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CREATE AGENTS</a:t>
            </a:r>
          </a:p>
        </p:txBody>
      </p:sp>
      <p:sp>
        <p:nvSpPr>
          <p:cNvPr id="7" name="Rectangle 6"/>
          <p:cNvSpPr/>
          <p:nvPr/>
        </p:nvSpPr>
        <p:spPr>
          <a:xfrm>
            <a:off x="6236208"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6208"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CONTROL + OPERATE</a:t>
            </a:r>
          </a:p>
        </p:txBody>
      </p:sp>
      <p:sp>
        <p:nvSpPr>
          <p:cNvPr id="9" name="Rectangle 8"/>
          <p:cNvSpPr/>
          <p:nvPr/>
        </p:nvSpPr>
        <p:spPr>
          <a:xfrm>
            <a:off x="9089136"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89136"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REUSE + SCALE</a:t>
            </a:r>
          </a:p>
        </p:txBody>
      </p:sp>
      <p:sp>
        <p:nvSpPr>
          <p:cNvPr id="11" name="TextBox 10"/>
          <p:cNvSpPr txBox="1"/>
          <p:nvPr/>
        </p:nvSpPr>
        <p:spPr>
          <a:xfrm>
            <a:off x="530352" y="768096"/>
            <a:ext cx="11128248" cy="210312"/>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007C83"/>
                </a:solidFill>
                <a:latin typeface="Aptos"/>
              </a:rPr>
              <a:t>WHAT THE PLATFORM BUNDLES</a:t>
            </a:r>
          </a:p>
        </p:txBody>
      </p:sp>
      <p:sp>
        <p:nvSpPr>
          <p:cNvPr id="12" name="TextBox 11"/>
          <p:cNvSpPr txBox="1"/>
          <p:nvPr/>
        </p:nvSpPr>
        <p:spPr>
          <a:xfrm>
            <a:off x="530352" y="1078992"/>
            <a:ext cx="11128248" cy="594360"/>
          </a:xfrm>
          <a:prstGeom prst="rect">
            <a:avLst/>
          </a:prstGeom>
          <a:noFill/>
        </p:spPr>
        <p:txBody>
          <a:bodyPr wrap="square" lIns="13716" rIns="13716" tIns="22860" bIns="22860">
            <a:spAutoFit/>
          </a:bodyPr>
          <a:lstStyle/>
          <a:p>
            <a:pPr algn="l">
              <a:lnSpc>
                <a:spcPts val="3360"/>
              </a:lnSpc>
              <a:spcBef>
                <a:spcPts val="0"/>
              </a:spcBef>
              <a:spcAft>
                <a:spcPts val="0"/>
              </a:spcAft>
            </a:pPr>
            <a:r>
              <a:rPr sz="3000" b="1">
                <a:solidFill>
                  <a:srgbClr val="122743"/>
                </a:solidFill>
                <a:latin typeface="Aptos"/>
              </a:rPr>
              <a:t>One platform connects creation, control and execution.</a:t>
            </a:r>
          </a:p>
        </p:txBody>
      </p:sp>
      <p:sp>
        <p:nvSpPr>
          <p:cNvPr id="13" name="TextBox 12"/>
          <p:cNvSpPr txBox="1"/>
          <p:nvPr/>
        </p:nvSpPr>
        <p:spPr>
          <a:xfrm>
            <a:off x="548640" y="1746504"/>
            <a:ext cx="11064240" cy="5943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Domain applications consume agents; the platform supplies the shared capabilities beneath them.</a:t>
            </a:r>
          </a:p>
        </p:txBody>
      </p:sp>
      <p:sp>
        <p:nvSpPr>
          <p:cNvPr id="14" name="Rectangle 13"/>
          <p:cNvSpPr/>
          <p:nvPr/>
        </p:nvSpPr>
        <p:spPr>
          <a:xfrm>
            <a:off x="530352" y="6437376"/>
            <a:ext cx="11128248" cy="11887"/>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537960"/>
            <a:ext cx="7315200" cy="173736"/>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AGENT TEMPLATE STUDIO  /  CODEBASE UPDATE  /  03 OCT 2026</a:t>
            </a:r>
          </a:p>
        </p:txBody>
      </p:sp>
      <p:sp>
        <p:nvSpPr>
          <p:cNvPr id="16" name="TextBox 15"/>
          <p:cNvSpPr txBox="1"/>
          <p:nvPr/>
        </p:nvSpPr>
        <p:spPr>
          <a:xfrm>
            <a:off x="11000232" y="6492240"/>
            <a:ext cx="594360" cy="228600"/>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03</a:t>
            </a:r>
          </a:p>
        </p:txBody>
      </p:sp>
      <p:sp>
        <p:nvSpPr>
          <p:cNvPr id="17" name="TextBox 16"/>
          <p:cNvSpPr txBox="1"/>
          <p:nvPr/>
        </p:nvSpPr>
        <p:spPr>
          <a:xfrm>
            <a:off x="557784" y="6044184"/>
            <a:ext cx="11064240" cy="292608"/>
          </a:xfrm>
          <a:prstGeom prst="rect">
            <a:avLst/>
          </a:prstGeom>
          <a:noFill/>
        </p:spPr>
        <p:txBody>
          <a:bodyPr wrap="square" lIns="13716" rIns="13716" tIns="22860" bIns="22860">
            <a:spAutoFit/>
          </a:bodyPr>
          <a:lstStyle/>
          <a:p>
            <a:pPr algn="l">
              <a:lnSpc>
                <a:spcPts val="1232"/>
              </a:lnSpc>
              <a:spcBef>
                <a:spcPts val="0"/>
              </a:spcBef>
              <a:spcAft>
                <a:spcPts val="0"/>
              </a:spcAft>
            </a:pPr>
            <a:r>
              <a:rPr sz="1100" b="0">
                <a:solidFill>
                  <a:srgbClr val="5C6F83"/>
                </a:solidFill>
                <a:latin typeface="Aptos"/>
              </a:rPr>
              <a:t>Domain examples show the reuse opportunity. Each new source system needs its connection and domain configuration.</a:t>
            </a:r>
          </a:p>
        </p:txBody>
      </p:sp>
      <p:sp>
        <p:nvSpPr>
          <p:cNvPr id="18" name="Rounded Rectangle 17"/>
          <p:cNvSpPr/>
          <p:nvPr/>
        </p:nvSpPr>
        <p:spPr>
          <a:xfrm>
            <a:off x="548640" y="2514600"/>
            <a:ext cx="2048256" cy="292608"/>
          </a:xfrm>
          <a:prstGeom prst="roundRect">
            <a:avLst>
              <a:gd name="adj" fmla="val 9000"/>
            </a:avLst>
          </a:prstGeom>
          <a:solidFill>
            <a:srgbClr val="ED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 y="2546604"/>
            <a:ext cx="1901952" cy="219456"/>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235CC4"/>
                </a:solidFill>
                <a:latin typeface="Aptos"/>
              </a:rPr>
              <a:t>PAYROLL</a:t>
            </a:r>
          </a:p>
        </p:txBody>
      </p:sp>
      <p:sp>
        <p:nvSpPr>
          <p:cNvPr id="20" name="Rounded Rectangle 19"/>
          <p:cNvSpPr/>
          <p:nvPr/>
        </p:nvSpPr>
        <p:spPr>
          <a:xfrm>
            <a:off x="2807208" y="2514600"/>
            <a:ext cx="2048256" cy="292608"/>
          </a:xfrm>
          <a:prstGeom prst="roundRect">
            <a:avLst>
              <a:gd name="adj" fmla="val 9000"/>
            </a:avLst>
          </a:prstGeom>
          <a:solidFill>
            <a:srgbClr val="ED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80360" y="2546604"/>
            <a:ext cx="1901952" cy="219456"/>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235CC4"/>
                </a:solidFill>
                <a:latin typeface="Aptos"/>
              </a:rPr>
              <a:t>HR</a:t>
            </a:r>
          </a:p>
        </p:txBody>
      </p:sp>
      <p:sp>
        <p:nvSpPr>
          <p:cNvPr id="22" name="Rounded Rectangle 21"/>
          <p:cNvSpPr/>
          <p:nvPr/>
        </p:nvSpPr>
        <p:spPr>
          <a:xfrm>
            <a:off x="5065776" y="2514600"/>
            <a:ext cx="2048256" cy="292608"/>
          </a:xfrm>
          <a:prstGeom prst="roundRect">
            <a:avLst>
              <a:gd name="adj" fmla="val 9000"/>
            </a:avLst>
          </a:prstGeom>
          <a:solidFill>
            <a:srgbClr val="ED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38928" y="2546604"/>
            <a:ext cx="1901952" cy="219456"/>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235CC4"/>
                </a:solidFill>
                <a:latin typeface="Aptos"/>
              </a:rPr>
              <a:t>BENEFITS</a:t>
            </a:r>
          </a:p>
        </p:txBody>
      </p:sp>
      <p:sp>
        <p:nvSpPr>
          <p:cNvPr id="24" name="Rounded Rectangle 23"/>
          <p:cNvSpPr/>
          <p:nvPr/>
        </p:nvSpPr>
        <p:spPr>
          <a:xfrm>
            <a:off x="7324344" y="2514600"/>
            <a:ext cx="2048256" cy="292608"/>
          </a:xfrm>
          <a:prstGeom prst="roundRect">
            <a:avLst>
              <a:gd name="adj" fmla="val 9000"/>
            </a:avLst>
          </a:prstGeom>
          <a:solidFill>
            <a:srgbClr val="ED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97496" y="2546604"/>
            <a:ext cx="1901952" cy="219456"/>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235CC4"/>
                </a:solidFill>
                <a:latin typeface="Aptos"/>
              </a:rPr>
              <a:t>INSURANCE</a:t>
            </a:r>
          </a:p>
        </p:txBody>
      </p:sp>
      <p:sp>
        <p:nvSpPr>
          <p:cNvPr id="26" name="Rounded Rectangle 25"/>
          <p:cNvSpPr/>
          <p:nvPr/>
        </p:nvSpPr>
        <p:spPr>
          <a:xfrm>
            <a:off x="9582912" y="2514600"/>
            <a:ext cx="2048256" cy="292608"/>
          </a:xfrm>
          <a:prstGeom prst="roundRect">
            <a:avLst>
              <a:gd name="adj" fmla="val 9000"/>
            </a:avLst>
          </a:prstGeom>
          <a:solidFill>
            <a:srgbClr val="ED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56064" y="2546604"/>
            <a:ext cx="1901952" cy="219456"/>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235CC4"/>
                </a:solidFill>
                <a:latin typeface="Aptos"/>
              </a:rPr>
              <a:t>OTHER DOMAINS</a:t>
            </a:r>
          </a:p>
        </p:txBody>
      </p:sp>
      <p:sp>
        <p:nvSpPr>
          <p:cNvPr id="28" name="Rounded Rectangle 27"/>
          <p:cNvSpPr/>
          <p:nvPr/>
        </p:nvSpPr>
        <p:spPr>
          <a:xfrm>
            <a:off x="548640" y="3017520"/>
            <a:ext cx="11091672" cy="2057400"/>
          </a:xfrm>
          <a:prstGeom prst="roundRect">
            <a:avLst>
              <a:gd name="adj" fmla="val 9000"/>
            </a:avLst>
          </a:prstGeom>
          <a:solidFill>
            <a:srgbClr val="1227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3816" y="3191256"/>
            <a:ext cx="10570464" cy="292608"/>
          </a:xfrm>
          <a:prstGeom prst="rect">
            <a:avLst/>
          </a:prstGeom>
          <a:noFill/>
        </p:spPr>
        <p:txBody>
          <a:bodyPr wrap="square" lIns="13716" rIns="13716" tIns="22860" bIns="22860">
            <a:spAutoFit/>
          </a:bodyPr>
          <a:lstStyle/>
          <a:p>
            <a:pPr algn="l">
              <a:lnSpc>
                <a:spcPts val="1792"/>
              </a:lnSpc>
              <a:spcBef>
                <a:spcPts val="0"/>
              </a:spcBef>
              <a:spcAft>
                <a:spcPts val="0"/>
              </a:spcAft>
            </a:pPr>
            <a:r>
              <a:rPr sz="1600" b="1">
                <a:solidFill>
                  <a:srgbClr val="65D5CF"/>
                </a:solidFill>
                <a:latin typeface="Aptos"/>
              </a:rPr>
              <a:t>AGENT TEMPLATE STUDIO  |  SHARED AGENT INFRASTRUCTURE</a:t>
            </a:r>
          </a:p>
        </p:txBody>
      </p:sp>
      <p:sp>
        <p:nvSpPr>
          <p:cNvPr id="30" name="TextBox 29"/>
          <p:cNvSpPr txBox="1"/>
          <p:nvPr/>
        </p:nvSpPr>
        <p:spPr>
          <a:xfrm>
            <a:off x="822960" y="3675887"/>
            <a:ext cx="3337560" cy="246888"/>
          </a:xfrm>
          <a:prstGeom prst="rect">
            <a:avLst/>
          </a:prstGeom>
          <a:noFill/>
        </p:spPr>
        <p:txBody>
          <a:bodyPr wrap="square" lIns="13716" rIns="13716" tIns="22860" bIns="22860">
            <a:spAutoFit/>
          </a:bodyPr>
          <a:lstStyle/>
          <a:p>
            <a:pPr algn="l">
              <a:lnSpc>
                <a:spcPts val="1792"/>
              </a:lnSpc>
              <a:spcBef>
                <a:spcPts val="0"/>
              </a:spcBef>
              <a:spcAft>
                <a:spcPts val="0"/>
              </a:spcAft>
            </a:pPr>
            <a:r>
              <a:rPr sz="1600" b="1">
                <a:solidFill>
                  <a:srgbClr val="FFFFFF"/>
                </a:solidFill>
                <a:latin typeface="Aptos"/>
              </a:rPr>
              <a:t>Create</a:t>
            </a:r>
          </a:p>
        </p:txBody>
      </p:sp>
      <p:sp>
        <p:nvSpPr>
          <p:cNvPr id="31" name="TextBox 30"/>
          <p:cNvSpPr txBox="1"/>
          <p:nvPr/>
        </p:nvSpPr>
        <p:spPr>
          <a:xfrm>
            <a:off x="822960" y="3950207"/>
            <a:ext cx="3337560" cy="228600"/>
          </a:xfrm>
          <a:prstGeom prst="rect">
            <a:avLst/>
          </a:prstGeom>
          <a:noFill/>
        </p:spPr>
        <p:txBody>
          <a:bodyPr wrap="square" lIns="13716" rIns="13716" tIns="22860" bIns="22860">
            <a:spAutoFit/>
          </a:bodyPr>
          <a:lstStyle/>
          <a:p>
            <a:pPr algn="l">
              <a:lnSpc>
                <a:spcPts val="1456"/>
              </a:lnSpc>
              <a:spcBef>
                <a:spcPts val="0"/>
              </a:spcBef>
              <a:spcAft>
                <a:spcPts val="0"/>
              </a:spcAft>
            </a:pPr>
            <a:r>
              <a:rPr sz="1300" b="0">
                <a:solidFill>
                  <a:srgbClr val="D8E6F3"/>
                </a:solidFill>
                <a:latin typeface="Aptos"/>
              </a:rPr>
              <a:t>Templates + factory</a:t>
            </a:r>
          </a:p>
        </p:txBody>
      </p:sp>
      <p:sp>
        <p:nvSpPr>
          <p:cNvPr id="32" name="TextBox 31"/>
          <p:cNvSpPr txBox="1"/>
          <p:nvPr/>
        </p:nvSpPr>
        <p:spPr>
          <a:xfrm>
            <a:off x="4462272" y="3675887"/>
            <a:ext cx="3337560" cy="246888"/>
          </a:xfrm>
          <a:prstGeom prst="rect">
            <a:avLst/>
          </a:prstGeom>
          <a:noFill/>
        </p:spPr>
        <p:txBody>
          <a:bodyPr wrap="square" lIns="13716" rIns="13716" tIns="22860" bIns="22860">
            <a:spAutoFit/>
          </a:bodyPr>
          <a:lstStyle/>
          <a:p>
            <a:pPr algn="l">
              <a:lnSpc>
                <a:spcPts val="1792"/>
              </a:lnSpc>
              <a:spcBef>
                <a:spcPts val="0"/>
              </a:spcBef>
              <a:spcAft>
                <a:spcPts val="0"/>
              </a:spcAft>
            </a:pPr>
            <a:r>
              <a:rPr sz="1600" b="1">
                <a:solidFill>
                  <a:srgbClr val="FFFFFF"/>
                </a:solidFill>
                <a:latin typeface="Aptos"/>
              </a:rPr>
              <a:t>Run</a:t>
            </a:r>
          </a:p>
        </p:txBody>
      </p:sp>
      <p:sp>
        <p:nvSpPr>
          <p:cNvPr id="33" name="TextBox 32"/>
          <p:cNvSpPr txBox="1"/>
          <p:nvPr/>
        </p:nvSpPr>
        <p:spPr>
          <a:xfrm>
            <a:off x="4462272" y="3950207"/>
            <a:ext cx="3337560" cy="228600"/>
          </a:xfrm>
          <a:prstGeom prst="rect">
            <a:avLst/>
          </a:prstGeom>
          <a:noFill/>
        </p:spPr>
        <p:txBody>
          <a:bodyPr wrap="square" lIns="13716" rIns="13716" tIns="22860" bIns="22860">
            <a:spAutoFit/>
          </a:bodyPr>
          <a:lstStyle/>
          <a:p>
            <a:pPr algn="l">
              <a:lnSpc>
                <a:spcPts val="1456"/>
              </a:lnSpc>
              <a:spcBef>
                <a:spcPts val="0"/>
              </a:spcBef>
              <a:spcAft>
                <a:spcPts val="0"/>
              </a:spcAft>
            </a:pPr>
            <a:r>
              <a:rPr sz="1300" b="0">
                <a:solidFill>
                  <a:srgbClr val="D8E6F3"/>
                </a:solidFill>
                <a:latin typeface="Aptos"/>
              </a:rPr>
              <a:t>Registry + runtime</a:t>
            </a:r>
          </a:p>
        </p:txBody>
      </p:sp>
      <p:sp>
        <p:nvSpPr>
          <p:cNvPr id="34" name="TextBox 33"/>
          <p:cNvSpPr txBox="1"/>
          <p:nvPr/>
        </p:nvSpPr>
        <p:spPr>
          <a:xfrm>
            <a:off x="8101583" y="3675887"/>
            <a:ext cx="3337560" cy="246888"/>
          </a:xfrm>
          <a:prstGeom prst="rect">
            <a:avLst/>
          </a:prstGeom>
          <a:noFill/>
        </p:spPr>
        <p:txBody>
          <a:bodyPr wrap="square" lIns="13716" rIns="13716" tIns="22860" bIns="22860">
            <a:spAutoFit/>
          </a:bodyPr>
          <a:lstStyle/>
          <a:p>
            <a:pPr algn="l">
              <a:lnSpc>
                <a:spcPts val="1792"/>
              </a:lnSpc>
              <a:spcBef>
                <a:spcPts val="0"/>
              </a:spcBef>
              <a:spcAft>
                <a:spcPts val="0"/>
              </a:spcAft>
            </a:pPr>
            <a:r>
              <a:rPr sz="1600" b="1">
                <a:solidFill>
                  <a:srgbClr val="FFFFFF"/>
                </a:solidFill>
                <a:latin typeface="Aptos"/>
              </a:rPr>
              <a:t>Choose models</a:t>
            </a:r>
          </a:p>
        </p:txBody>
      </p:sp>
      <p:sp>
        <p:nvSpPr>
          <p:cNvPr id="35" name="TextBox 34"/>
          <p:cNvSpPr txBox="1"/>
          <p:nvPr/>
        </p:nvSpPr>
        <p:spPr>
          <a:xfrm>
            <a:off x="8101583" y="3950207"/>
            <a:ext cx="3337560" cy="228600"/>
          </a:xfrm>
          <a:prstGeom prst="rect">
            <a:avLst/>
          </a:prstGeom>
          <a:noFill/>
        </p:spPr>
        <p:txBody>
          <a:bodyPr wrap="square" lIns="13716" rIns="13716" tIns="22860" bIns="22860">
            <a:spAutoFit/>
          </a:bodyPr>
          <a:lstStyle/>
          <a:p>
            <a:pPr algn="l">
              <a:lnSpc>
                <a:spcPts val="1456"/>
              </a:lnSpc>
              <a:spcBef>
                <a:spcPts val="0"/>
              </a:spcBef>
              <a:spcAft>
                <a:spcPts val="0"/>
              </a:spcAft>
            </a:pPr>
            <a:r>
              <a:rPr sz="1300" b="0">
                <a:solidFill>
                  <a:srgbClr val="D8E6F3"/>
                </a:solidFill>
                <a:latin typeface="Aptos"/>
              </a:rPr>
              <a:t>Managed + private</a:t>
            </a:r>
          </a:p>
        </p:txBody>
      </p:sp>
      <p:sp>
        <p:nvSpPr>
          <p:cNvPr id="36" name="TextBox 35"/>
          <p:cNvSpPr txBox="1"/>
          <p:nvPr/>
        </p:nvSpPr>
        <p:spPr>
          <a:xfrm>
            <a:off x="822960" y="4325112"/>
            <a:ext cx="3337560" cy="246888"/>
          </a:xfrm>
          <a:prstGeom prst="rect">
            <a:avLst/>
          </a:prstGeom>
          <a:noFill/>
        </p:spPr>
        <p:txBody>
          <a:bodyPr wrap="square" lIns="13716" rIns="13716" tIns="22860" bIns="22860">
            <a:spAutoFit/>
          </a:bodyPr>
          <a:lstStyle/>
          <a:p>
            <a:pPr algn="l">
              <a:lnSpc>
                <a:spcPts val="1792"/>
              </a:lnSpc>
              <a:spcBef>
                <a:spcPts val="0"/>
              </a:spcBef>
              <a:spcAft>
                <a:spcPts val="0"/>
              </a:spcAft>
            </a:pPr>
            <a:r>
              <a:rPr sz="1600" b="1">
                <a:solidFill>
                  <a:srgbClr val="FFFFFF"/>
                </a:solidFill>
                <a:latin typeface="Aptos"/>
              </a:rPr>
              <a:t>Connect data</a:t>
            </a:r>
          </a:p>
        </p:txBody>
      </p:sp>
      <p:sp>
        <p:nvSpPr>
          <p:cNvPr id="37" name="TextBox 36"/>
          <p:cNvSpPr txBox="1"/>
          <p:nvPr/>
        </p:nvSpPr>
        <p:spPr>
          <a:xfrm>
            <a:off x="822960" y="4599431"/>
            <a:ext cx="3337560" cy="228600"/>
          </a:xfrm>
          <a:prstGeom prst="rect">
            <a:avLst/>
          </a:prstGeom>
          <a:noFill/>
        </p:spPr>
        <p:txBody>
          <a:bodyPr wrap="square" lIns="13716" rIns="13716" tIns="22860" bIns="22860">
            <a:spAutoFit/>
          </a:bodyPr>
          <a:lstStyle/>
          <a:p>
            <a:pPr algn="l">
              <a:lnSpc>
                <a:spcPts val="1456"/>
              </a:lnSpc>
              <a:spcBef>
                <a:spcPts val="0"/>
              </a:spcBef>
              <a:spcAft>
                <a:spcPts val="0"/>
              </a:spcAft>
            </a:pPr>
            <a:r>
              <a:rPr sz="1300" b="0">
                <a:solidFill>
                  <a:srgbClr val="D8E6F3"/>
                </a:solidFill>
                <a:latin typeface="Aptos"/>
              </a:rPr>
              <a:t>APIs + tools</a:t>
            </a:r>
          </a:p>
        </p:txBody>
      </p:sp>
      <p:sp>
        <p:nvSpPr>
          <p:cNvPr id="38" name="TextBox 37"/>
          <p:cNvSpPr txBox="1"/>
          <p:nvPr/>
        </p:nvSpPr>
        <p:spPr>
          <a:xfrm>
            <a:off x="4462272" y="4325112"/>
            <a:ext cx="3337560" cy="246888"/>
          </a:xfrm>
          <a:prstGeom prst="rect">
            <a:avLst/>
          </a:prstGeom>
          <a:noFill/>
        </p:spPr>
        <p:txBody>
          <a:bodyPr wrap="square" lIns="13716" rIns="13716" tIns="22860" bIns="22860">
            <a:spAutoFit/>
          </a:bodyPr>
          <a:lstStyle/>
          <a:p>
            <a:pPr algn="l">
              <a:lnSpc>
                <a:spcPts val="1792"/>
              </a:lnSpc>
              <a:spcBef>
                <a:spcPts val="0"/>
              </a:spcBef>
              <a:spcAft>
                <a:spcPts val="0"/>
              </a:spcAft>
            </a:pPr>
            <a:r>
              <a:rPr sz="1600" b="1">
                <a:solidFill>
                  <a:srgbClr val="FFFFFF"/>
                </a:solidFill>
                <a:latin typeface="Aptos"/>
              </a:rPr>
              <a:t>Control access</a:t>
            </a:r>
          </a:p>
        </p:txBody>
      </p:sp>
      <p:sp>
        <p:nvSpPr>
          <p:cNvPr id="39" name="TextBox 38"/>
          <p:cNvSpPr txBox="1"/>
          <p:nvPr/>
        </p:nvSpPr>
        <p:spPr>
          <a:xfrm>
            <a:off x="4462272" y="4599431"/>
            <a:ext cx="3337560" cy="228600"/>
          </a:xfrm>
          <a:prstGeom prst="rect">
            <a:avLst/>
          </a:prstGeom>
          <a:noFill/>
        </p:spPr>
        <p:txBody>
          <a:bodyPr wrap="square" lIns="13716" rIns="13716" tIns="22860" bIns="22860">
            <a:spAutoFit/>
          </a:bodyPr>
          <a:lstStyle/>
          <a:p>
            <a:pPr algn="l">
              <a:lnSpc>
                <a:spcPts val="1456"/>
              </a:lnSpc>
              <a:spcBef>
                <a:spcPts val="0"/>
              </a:spcBef>
              <a:spcAft>
                <a:spcPts val="0"/>
              </a:spcAft>
            </a:pPr>
            <a:r>
              <a:rPr sz="1300" b="0">
                <a:solidFill>
                  <a:srgbClr val="D8E6F3"/>
                </a:solidFill>
                <a:latin typeface="Aptos"/>
              </a:rPr>
              <a:t>Roles + context</a:t>
            </a:r>
          </a:p>
        </p:txBody>
      </p:sp>
      <p:sp>
        <p:nvSpPr>
          <p:cNvPr id="40" name="TextBox 39"/>
          <p:cNvSpPr txBox="1"/>
          <p:nvPr/>
        </p:nvSpPr>
        <p:spPr>
          <a:xfrm>
            <a:off x="8101583" y="4325112"/>
            <a:ext cx="3337560" cy="246888"/>
          </a:xfrm>
          <a:prstGeom prst="rect">
            <a:avLst/>
          </a:prstGeom>
          <a:noFill/>
        </p:spPr>
        <p:txBody>
          <a:bodyPr wrap="square" lIns="13716" rIns="13716" tIns="22860" bIns="22860">
            <a:spAutoFit/>
          </a:bodyPr>
          <a:lstStyle/>
          <a:p>
            <a:pPr algn="l">
              <a:lnSpc>
                <a:spcPts val="1792"/>
              </a:lnSpc>
              <a:spcBef>
                <a:spcPts val="0"/>
              </a:spcBef>
              <a:spcAft>
                <a:spcPts val="0"/>
              </a:spcAft>
            </a:pPr>
            <a:r>
              <a:rPr sz="1600" b="1">
                <a:solidFill>
                  <a:srgbClr val="FFFFFF"/>
                </a:solidFill>
                <a:latin typeface="Aptos"/>
              </a:rPr>
              <a:t>Operate</a:t>
            </a:r>
          </a:p>
        </p:txBody>
      </p:sp>
      <p:sp>
        <p:nvSpPr>
          <p:cNvPr id="41" name="TextBox 40"/>
          <p:cNvSpPr txBox="1"/>
          <p:nvPr/>
        </p:nvSpPr>
        <p:spPr>
          <a:xfrm>
            <a:off x="8101583" y="4599431"/>
            <a:ext cx="3337560" cy="228600"/>
          </a:xfrm>
          <a:prstGeom prst="rect">
            <a:avLst/>
          </a:prstGeom>
          <a:noFill/>
        </p:spPr>
        <p:txBody>
          <a:bodyPr wrap="square" lIns="13716" rIns="13716" tIns="22860" bIns="22860">
            <a:spAutoFit/>
          </a:bodyPr>
          <a:lstStyle/>
          <a:p>
            <a:pPr algn="l">
              <a:lnSpc>
                <a:spcPts val="1456"/>
              </a:lnSpc>
              <a:spcBef>
                <a:spcPts val="0"/>
              </a:spcBef>
              <a:spcAft>
                <a:spcPts val="0"/>
              </a:spcAft>
            </a:pPr>
            <a:r>
              <a:rPr sz="1300" b="0">
                <a:solidFill>
                  <a:srgbClr val="D8E6F3"/>
                </a:solidFill>
                <a:latin typeface="Aptos"/>
              </a:rPr>
              <a:t>Health + metrics</a:t>
            </a:r>
          </a:p>
        </p:txBody>
      </p:sp>
      <p:sp>
        <p:nvSpPr>
          <p:cNvPr id="42" name="Rounded Rectangle 41"/>
          <p:cNvSpPr/>
          <p:nvPr/>
        </p:nvSpPr>
        <p:spPr>
          <a:xfrm>
            <a:off x="548640" y="5367528"/>
            <a:ext cx="3584448" cy="429768"/>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4944" y="5468112"/>
            <a:ext cx="3291840" cy="246888"/>
          </a:xfrm>
          <a:prstGeom prst="rect">
            <a:avLst/>
          </a:prstGeom>
          <a:noFill/>
        </p:spPr>
        <p:txBody>
          <a:bodyPr wrap="square" lIns="13716" rIns="13716" tIns="22860" bIns="22860">
            <a:spAutoFit/>
          </a:bodyPr>
          <a:lstStyle/>
          <a:p>
            <a:pPr algn="ctr">
              <a:lnSpc>
                <a:spcPts val="1344"/>
              </a:lnSpc>
              <a:spcBef>
                <a:spcPts val="0"/>
              </a:spcBef>
              <a:spcAft>
                <a:spcPts val="0"/>
              </a:spcAft>
            </a:pPr>
            <a:r>
              <a:rPr sz="1200" b="1">
                <a:solidFill>
                  <a:srgbClr val="007C83"/>
                </a:solidFill>
                <a:latin typeface="Aptos"/>
              </a:rPr>
              <a:t>APPROVED DOMAIN APIs</a:t>
            </a:r>
          </a:p>
        </p:txBody>
      </p:sp>
      <p:sp>
        <p:nvSpPr>
          <p:cNvPr id="44" name="Rounded Rectangle 43"/>
          <p:cNvSpPr/>
          <p:nvPr/>
        </p:nvSpPr>
        <p:spPr>
          <a:xfrm>
            <a:off x="4297679" y="5367528"/>
            <a:ext cx="3584448" cy="429768"/>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443983" y="5468112"/>
            <a:ext cx="3291840" cy="246888"/>
          </a:xfrm>
          <a:prstGeom prst="rect">
            <a:avLst/>
          </a:prstGeom>
          <a:noFill/>
        </p:spPr>
        <p:txBody>
          <a:bodyPr wrap="square" lIns="13716" rIns="13716" tIns="22860" bIns="22860">
            <a:spAutoFit/>
          </a:bodyPr>
          <a:lstStyle/>
          <a:p>
            <a:pPr algn="ctr">
              <a:lnSpc>
                <a:spcPts val="1344"/>
              </a:lnSpc>
              <a:spcBef>
                <a:spcPts val="0"/>
              </a:spcBef>
              <a:spcAft>
                <a:spcPts val="0"/>
              </a:spcAft>
            </a:pPr>
            <a:r>
              <a:rPr sz="1200" b="1">
                <a:solidFill>
                  <a:srgbClr val="007C83"/>
                </a:solidFill>
                <a:latin typeface="Aptos"/>
              </a:rPr>
              <a:t>MANAGED MODEL SERVICES</a:t>
            </a:r>
          </a:p>
        </p:txBody>
      </p:sp>
      <p:sp>
        <p:nvSpPr>
          <p:cNvPr id="46" name="Rounded Rectangle 45"/>
          <p:cNvSpPr/>
          <p:nvPr/>
        </p:nvSpPr>
        <p:spPr>
          <a:xfrm>
            <a:off x="8046719" y="5367528"/>
            <a:ext cx="3584448" cy="429768"/>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193023" y="5468112"/>
            <a:ext cx="3291840" cy="246888"/>
          </a:xfrm>
          <a:prstGeom prst="rect">
            <a:avLst/>
          </a:prstGeom>
          <a:noFill/>
        </p:spPr>
        <p:txBody>
          <a:bodyPr wrap="square" lIns="13716" rIns="13716" tIns="22860" bIns="22860">
            <a:spAutoFit/>
          </a:bodyPr>
          <a:lstStyle/>
          <a:p>
            <a:pPr algn="ctr">
              <a:lnSpc>
                <a:spcPts val="1344"/>
              </a:lnSpc>
              <a:spcBef>
                <a:spcPts val="0"/>
              </a:spcBef>
              <a:spcAft>
                <a:spcPts val="0"/>
              </a:spcAft>
            </a:pPr>
            <a:r>
              <a:rPr sz="1200" b="1">
                <a:solidFill>
                  <a:srgbClr val="007C83"/>
                </a:solidFill>
                <a:latin typeface="Aptos"/>
              </a:rPr>
              <a:t>PRIVATE MODEL ENDPOINTS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THE PLATFORM</a:t>
            </a:r>
          </a:p>
        </p:txBody>
      </p:sp>
      <p:sp>
        <p:nvSpPr>
          <p:cNvPr id="5" name="Rectangle 4"/>
          <p:cNvSpPr/>
          <p:nvPr/>
        </p:nvSpPr>
        <p:spPr>
          <a:xfrm>
            <a:off x="3383280" y="539496"/>
            <a:ext cx="2606040" cy="3200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1">
                <a:solidFill>
                  <a:srgbClr val="007C83"/>
                </a:solidFill>
                <a:latin typeface="Aptos"/>
              </a:rPr>
              <a:t>CREATE AGENTS</a:t>
            </a:r>
          </a:p>
        </p:txBody>
      </p:sp>
      <p:sp>
        <p:nvSpPr>
          <p:cNvPr id="7" name="Rectangle 6"/>
          <p:cNvSpPr/>
          <p:nvPr/>
        </p:nvSpPr>
        <p:spPr>
          <a:xfrm>
            <a:off x="6236208"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6208"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CONTROL + OPERATE</a:t>
            </a:r>
          </a:p>
        </p:txBody>
      </p:sp>
      <p:sp>
        <p:nvSpPr>
          <p:cNvPr id="9" name="Rectangle 8"/>
          <p:cNvSpPr/>
          <p:nvPr/>
        </p:nvSpPr>
        <p:spPr>
          <a:xfrm>
            <a:off x="9089136"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89136"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REUSE + SCALE</a:t>
            </a:r>
          </a:p>
        </p:txBody>
      </p:sp>
      <p:sp>
        <p:nvSpPr>
          <p:cNvPr id="11" name="TextBox 10"/>
          <p:cNvSpPr txBox="1"/>
          <p:nvPr/>
        </p:nvSpPr>
        <p:spPr>
          <a:xfrm>
            <a:off x="530352" y="768096"/>
            <a:ext cx="11128248" cy="210312"/>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007C83"/>
                </a:solidFill>
                <a:latin typeface="Aptos"/>
              </a:rPr>
              <a:t>FAST CREATION ON PREPARED INFRASTRUCTURE</a:t>
            </a:r>
          </a:p>
        </p:txBody>
      </p:sp>
      <p:sp>
        <p:nvSpPr>
          <p:cNvPr id="12" name="TextBox 11"/>
          <p:cNvSpPr txBox="1"/>
          <p:nvPr/>
        </p:nvSpPr>
        <p:spPr>
          <a:xfrm>
            <a:off x="530352" y="1078992"/>
            <a:ext cx="11128248" cy="594360"/>
          </a:xfrm>
          <a:prstGeom prst="rect">
            <a:avLst/>
          </a:prstGeom>
          <a:noFill/>
        </p:spPr>
        <p:txBody>
          <a:bodyPr wrap="square" lIns="13716" rIns="13716" tIns="22860" bIns="22860">
            <a:spAutoFit/>
          </a:bodyPr>
          <a:lstStyle/>
          <a:p>
            <a:pPr algn="l">
              <a:lnSpc>
                <a:spcPts val="3360"/>
              </a:lnSpc>
              <a:spcBef>
                <a:spcPts val="0"/>
              </a:spcBef>
              <a:spcAft>
                <a:spcPts val="0"/>
              </a:spcAft>
            </a:pPr>
            <a:r>
              <a:rPr sz="3000" b="1">
                <a:solidFill>
                  <a:srgbClr val="122743"/>
                </a:solidFill>
                <a:latin typeface="Aptos"/>
              </a:rPr>
              <a:t>From template to registered agent in a few guided steps.</a:t>
            </a:r>
          </a:p>
        </p:txBody>
      </p:sp>
      <p:sp>
        <p:nvSpPr>
          <p:cNvPr id="13" name="TextBox 12"/>
          <p:cNvSpPr txBox="1"/>
          <p:nvPr/>
        </p:nvSpPr>
        <p:spPr>
          <a:xfrm>
            <a:off x="548640" y="1746504"/>
            <a:ext cx="11064240" cy="5943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Approved templates, model choices and service connections turn repeat setup into configuration.</a:t>
            </a:r>
          </a:p>
        </p:txBody>
      </p:sp>
      <p:sp>
        <p:nvSpPr>
          <p:cNvPr id="14" name="Rectangle 13"/>
          <p:cNvSpPr/>
          <p:nvPr/>
        </p:nvSpPr>
        <p:spPr>
          <a:xfrm>
            <a:off x="530352" y="6437376"/>
            <a:ext cx="11128248" cy="11887"/>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537960"/>
            <a:ext cx="7315200" cy="173736"/>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AGENT TEMPLATE STUDIO  /  CODEBASE UPDATE  /  03 OCT 2026</a:t>
            </a:r>
          </a:p>
        </p:txBody>
      </p:sp>
      <p:sp>
        <p:nvSpPr>
          <p:cNvPr id="16" name="TextBox 15"/>
          <p:cNvSpPr txBox="1"/>
          <p:nvPr/>
        </p:nvSpPr>
        <p:spPr>
          <a:xfrm>
            <a:off x="11000232" y="6492240"/>
            <a:ext cx="594360" cy="228600"/>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04</a:t>
            </a:r>
          </a:p>
        </p:txBody>
      </p:sp>
      <p:sp>
        <p:nvSpPr>
          <p:cNvPr id="17" name="TextBox 16"/>
          <p:cNvSpPr txBox="1"/>
          <p:nvPr/>
        </p:nvSpPr>
        <p:spPr>
          <a:xfrm>
            <a:off x="557784" y="6044184"/>
            <a:ext cx="11064240" cy="292608"/>
          </a:xfrm>
          <a:prstGeom prst="rect">
            <a:avLst/>
          </a:prstGeom>
          <a:noFill/>
        </p:spPr>
        <p:txBody>
          <a:bodyPr wrap="square" lIns="13716" rIns="13716" tIns="22860" bIns="22860">
            <a:spAutoFit/>
          </a:bodyPr>
          <a:lstStyle/>
          <a:p>
            <a:pPr algn="l">
              <a:lnSpc>
                <a:spcPts val="1232"/>
              </a:lnSpc>
              <a:spcBef>
                <a:spcPts val="0"/>
              </a:spcBef>
              <a:spcAft>
                <a:spcPts val="0"/>
              </a:spcAft>
            </a:pPr>
            <a:r>
              <a:rPr sz="1100" b="0">
                <a:solidFill>
                  <a:srgbClr val="5C6F83"/>
                </a:solidFill>
                <a:latin typeface="Aptos"/>
              </a:rPr>
              <a:t>The platform team prepares the catalogs and integrations; domain teams then create agents through the guided form.</a:t>
            </a:r>
          </a:p>
        </p:txBody>
      </p:sp>
      <p:sp>
        <p:nvSpPr>
          <p:cNvPr id="18" name="Rounded Rectangle 17"/>
          <p:cNvSpPr/>
          <p:nvPr/>
        </p:nvSpPr>
        <p:spPr>
          <a:xfrm>
            <a:off x="548640" y="2670048"/>
            <a:ext cx="2578608" cy="2432304"/>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31520" y="2889504"/>
            <a:ext cx="393192" cy="393192"/>
          </a:xfrm>
          <a:prstGeom prst="ellipse">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944368"/>
            <a:ext cx="393192" cy="265176"/>
          </a:xfrm>
          <a:prstGeom prst="rect">
            <a:avLst/>
          </a:prstGeom>
          <a:noFill/>
        </p:spPr>
        <p:txBody>
          <a:bodyPr wrap="square" lIns="13716" rIns="13716" tIns="22860" bIns="22860">
            <a:spAutoFit/>
          </a:bodyPr>
          <a:lstStyle/>
          <a:p>
            <a:pPr algn="ctr">
              <a:lnSpc>
                <a:spcPts val="1456"/>
              </a:lnSpc>
              <a:spcBef>
                <a:spcPts val="0"/>
              </a:spcBef>
              <a:spcAft>
                <a:spcPts val="0"/>
              </a:spcAft>
            </a:pPr>
            <a:r>
              <a:rPr sz="1300" b="1">
                <a:solidFill>
                  <a:srgbClr val="FFFFFF"/>
                </a:solidFill>
                <a:latin typeface="Aptos"/>
              </a:rPr>
              <a:t>1</a:t>
            </a:r>
          </a:p>
        </p:txBody>
      </p:sp>
      <p:sp>
        <p:nvSpPr>
          <p:cNvPr id="21" name="TextBox 20"/>
          <p:cNvSpPr txBox="1"/>
          <p:nvPr/>
        </p:nvSpPr>
        <p:spPr>
          <a:xfrm>
            <a:off x="731520" y="3575304"/>
            <a:ext cx="2212848" cy="658368"/>
          </a:xfrm>
          <a:prstGeom prst="rect">
            <a:avLst/>
          </a:prstGeom>
          <a:noFill/>
        </p:spPr>
        <p:txBody>
          <a:bodyPr wrap="square" lIns="13716" rIns="13716" tIns="22860" bIns="22860">
            <a:spAutoFit/>
          </a:bodyPr>
          <a:lstStyle/>
          <a:p>
            <a:pPr algn="l">
              <a:lnSpc>
                <a:spcPts val="2128"/>
              </a:lnSpc>
              <a:spcBef>
                <a:spcPts val="0"/>
              </a:spcBef>
              <a:spcAft>
                <a:spcPts val="0"/>
              </a:spcAft>
            </a:pPr>
            <a:r>
              <a:rPr sz="1900" b="1">
                <a:solidFill>
                  <a:srgbClr val="122743"/>
                </a:solidFill>
                <a:latin typeface="Aptos"/>
              </a:rPr>
              <a:t>Choose template</a:t>
            </a:r>
          </a:p>
        </p:txBody>
      </p:sp>
      <p:sp>
        <p:nvSpPr>
          <p:cNvPr id="22" name="TextBox 21"/>
          <p:cNvSpPr txBox="1"/>
          <p:nvPr/>
        </p:nvSpPr>
        <p:spPr>
          <a:xfrm>
            <a:off x="731520" y="4379976"/>
            <a:ext cx="2212848" cy="557784"/>
          </a:xfrm>
          <a:prstGeom prst="rect">
            <a:avLst/>
          </a:prstGeom>
          <a:noFill/>
        </p:spPr>
        <p:txBody>
          <a:bodyPr wrap="square" lIns="13716" rIns="13716" tIns="22860" bIns="22860">
            <a:spAutoFit/>
          </a:bodyPr>
          <a:lstStyle/>
          <a:p>
            <a:pPr algn="l">
              <a:lnSpc>
                <a:spcPts val="1680"/>
              </a:lnSpc>
              <a:spcBef>
                <a:spcPts val="0"/>
              </a:spcBef>
              <a:spcAft>
                <a:spcPts val="0"/>
              </a:spcAft>
            </a:pPr>
            <a:r>
              <a:rPr sz="1500" b="0">
                <a:solidFill>
                  <a:srgbClr val="5C6F83"/>
                </a:solidFill>
                <a:latin typeface="Aptos"/>
              </a:rPr>
              <a:t>Start with a reusable</a:t>
            </a:r>
          </a:p>
          <a:p>
            <a:pPr algn="l">
              <a:lnSpc>
                <a:spcPts val="1680"/>
              </a:lnSpc>
              <a:spcBef>
                <a:spcPts val="0"/>
              </a:spcBef>
              <a:spcAft>
                <a:spcPts val="0"/>
              </a:spcAft>
            </a:pPr>
            <a:r>
              <a:rPr sz="1500" b="0">
                <a:solidFill>
                  <a:srgbClr val="5C6F83"/>
                </a:solidFill>
                <a:latin typeface="Aptos"/>
              </a:rPr>
              <a:t>agent behavior.</a:t>
            </a:r>
          </a:p>
        </p:txBody>
      </p:sp>
      <p:sp>
        <p:nvSpPr>
          <p:cNvPr id="23" name="Chevron 22"/>
          <p:cNvSpPr/>
          <p:nvPr/>
        </p:nvSpPr>
        <p:spPr>
          <a:xfrm>
            <a:off x="3182112" y="3739896"/>
            <a:ext cx="155448" cy="228600"/>
          </a:xfrm>
          <a:prstGeom prst="chevron">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383280" y="2670048"/>
            <a:ext cx="2578608" cy="2432304"/>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566160" y="2889504"/>
            <a:ext cx="393192" cy="393192"/>
          </a:xfrm>
          <a:prstGeom prst="ellipse">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66160" y="2944368"/>
            <a:ext cx="393192" cy="265176"/>
          </a:xfrm>
          <a:prstGeom prst="rect">
            <a:avLst/>
          </a:prstGeom>
          <a:noFill/>
        </p:spPr>
        <p:txBody>
          <a:bodyPr wrap="square" lIns="13716" rIns="13716" tIns="22860" bIns="22860">
            <a:spAutoFit/>
          </a:bodyPr>
          <a:lstStyle/>
          <a:p>
            <a:pPr algn="ctr">
              <a:lnSpc>
                <a:spcPts val="1456"/>
              </a:lnSpc>
              <a:spcBef>
                <a:spcPts val="0"/>
              </a:spcBef>
              <a:spcAft>
                <a:spcPts val="0"/>
              </a:spcAft>
            </a:pPr>
            <a:r>
              <a:rPr sz="1300" b="1">
                <a:solidFill>
                  <a:srgbClr val="FFFFFF"/>
                </a:solidFill>
                <a:latin typeface="Aptos"/>
              </a:rPr>
              <a:t>2</a:t>
            </a:r>
          </a:p>
        </p:txBody>
      </p:sp>
      <p:sp>
        <p:nvSpPr>
          <p:cNvPr id="27" name="TextBox 26"/>
          <p:cNvSpPr txBox="1"/>
          <p:nvPr/>
        </p:nvSpPr>
        <p:spPr>
          <a:xfrm>
            <a:off x="3566160" y="3575304"/>
            <a:ext cx="2212848" cy="658368"/>
          </a:xfrm>
          <a:prstGeom prst="rect">
            <a:avLst/>
          </a:prstGeom>
          <a:noFill/>
        </p:spPr>
        <p:txBody>
          <a:bodyPr wrap="square" lIns="13716" rIns="13716" tIns="22860" bIns="22860">
            <a:spAutoFit/>
          </a:bodyPr>
          <a:lstStyle/>
          <a:p>
            <a:pPr algn="l">
              <a:lnSpc>
                <a:spcPts val="2128"/>
              </a:lnSpc>
              <a:spcBef>
                <a:spcPts val="0"/>
              </a:spcBef>
              <a:spcAft>
                <a:spcPts val="0"/>
              </a:spcAft>
            </a:pPr>
            <a:r>
              <a:rPr sz="1900" b="1">
                <a:solidFill>
                  <a:srgbClr val="122743"/>
                </a:solidFill>
                <a:latin typeface="Aptos"/>
              </a:rPr>
              <a:t>Set purpose + model</a:t>
            </a:r>
          </a:p>
        </p:txBody>
      </p:sp>
      <p:sp>
        <p:nvSpPr>
          <p:cNvPr id="28" name="TextBox 27"/>
          <p:cNvSpPr txBox="1"/>
          <p:nvPr/>
        </p:nvSpPr>
        <p:spPr>
          <a:xfrm>
            <a:off x="3566160" y="4379976"/>
            <a:ext cx="2212848" cy="557784"/>
          </a:xfrm>
          <a:prstGeom prst="rect">
            <a:avLst/>
          </a:prstGeom>
          <a:noFill/>
        </p:spPr>
        <p:txBody>
          <a:bodyPr wrap="square" lIns="13716" rIns="13716" tIns="22860" bIns="22860">
            <a:spAutoFit/>
          </a:bodyPr>
          <a:lstStyle/>
          <a:p>
            <a:pPr algn="l">
              <a:lnSpc>
                <a:spcPts val="1680"/>
              </a:lnSpc>
              <a:spcBef>
                <a:spcPts val="0"/>
              </a:spcBef>
              <a:spcAft>
                <a:spcPts val="0"/>
              </a:spcAft>
            </a:pPr>
            <a:r>
              <a:rPr sz="1500" b="0">
                <a:solidFill>
                  <a:srgbClr val="5C6F83"/>
                </a:solidFill>
                <a:latin typeface="Aptos"/>
              </a:rPr>
              <a:t>Name the agent; select</a:t>
            </a:r>
          </a:p>
          <a:p>
            <a:pPr algn="l">
              <a:lnSpc>
                <a:spcPts val="1680"/>
              </a:lnSpc>
              <a:spcBef>
                <a:spcPts val="0"/>
              </a:spcBef>
              <a:spcAft>
                <a:spcPts val="0"/>
              </a:spcAft>
            </a:pPr>
            <a:r>
              <a:rPr sz="1500" b="0">
                <a:solidFill>
                  <a:srgbClr val="5C6F83"/>
                </a:solidFill>
                <a:latin typeface="Aptos"/>
              </a:rPr>
              <a:t>instructions and model.</a:t>
            </a:r>
          </a:p>
        </p:txBody>
      </p:sp>
      <p:sp>
        <p:nvSpPr>
          <p:cNvPr id="29" name="Chevron 28"/>
          <p:cNvSpPr/>
          <p:nvPr/>
        </p:nvSpPr>
        <p:spPr>
          <a:xfrm>
            <a:off x="6016752" y="3739896"/>
            <a:ext cx="155448" cy="228600"/>
          </a:xfrm>
          <a:prstGeom prst="chevron">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217920" y="2670048"/>
            <a:ext cx="2578608" cy="2432304"/>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400800" y="2889504"/>
            <a:ext cx="393192" cy="393192"/>
          </a:xfrm>
          <a:prstGeom prst="ellipse">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0" y="2944368"/>
            <a:ext cx="393192" cy="265176"/>
          </a:xfrm>
          <a:prstGeom prst="rect">
            <a:avLst/>
          </a:prstGeom>
          <a:noFill/>
        </p:spPr>
        <p:txBody>
          <a:bodyPr wrap="square" lIns="13716" rIns="13716" tIns="22860" bIns="22860">
            <a:spAutoFit/>
          </a:bodyPr>
          <a:lstStyle/>
          <a:p>
            <a:pPr algn="ctr">
              <a:lnSpc>
                <a:spcPts val="1456"/>
              </a:lnSpc>
              <a:spcBef>
                <a:spcPts val="0"/>
              </a:spcBef>
              <a:spcAft>
                <a:spcPts val="0"/>
              </a:spcAft>
            </a:pPr>
            <a:r>
              <a:rPr sz="1300" b="1">
                <a:solidFill>
                  <a:srgbClr val="FFFFFF"/>
                </a:solidFill>
                <a:latin typeface="Aptos"/>
              </a:rPr>
              <a:t>3</a:t>
            </a:r>
          </a:p>
        </p:txBody>
      </p:sp>
      <p:sp>
        <p:nvSpPr>
          <p:cNvPr id="33" name="TextBox 32"/>
          <p:cNvSpPr txBox="1"/>
          <p:nvPr/>
        </p:nvSpPr>
        <p:spPr>
          <a:xfrm>
            <a:off x="6400800" y="3575304"/>
            <a:ext cx="2212848" cy="658368"/>
          </a:xfrm>
          <a:prstGeom prst="rect">
            <a:avLst/>
          </a:prstGeom>
          <a:noFill/>
        </p:spPr>
        <p:txBody>
          <a:bodyPr wrap="square" lIns="13716" rIns="13716" tIns="22860" bIns="22860">
            <a:spAutoFit/>
          </a:bodyPr>
          <a:lstStyle/>
          <a:p>
            <a:pPr algn="l">
              <a:lnSpc>
                <a:spcPts val="2128"/>
              </a:lnSpc>
              <a:spcBef>
                <a:spcPts val="0"/>
              </a:spcBef>
              <a:spcAft>
                <a:spcPts val="0"/>
              </a:spcAft>
            </a:pPr>
            <a:r>
              <a:rPr sz="1900" b="1">
                <a:solidFill>
                  <a:srgbClr val="122743"/>
                </a:solidFill>
                <a:latin typeface="Aptos"/>
              </a:rPr>
              <a:t>Attach + authorize</a:t>
            </a:r>
          </a:p>
        </p:txBody>
      </p:sp>
      <p:sp>
        <p:nvSpPr>
          <p:cNvPr id="34" name="TextBox 33"/>
          <p:cNvSpPr txBox="1"/>
          <p:nvPr/>
        </p:nvSpPr>
        <p:spPr>
          <a:xfrm>
            <a:off x="6400800" y="4379976"/>
            <a:ext cx="2212848" cy="557784"/>
          </a:xfrm>
          <a:prstGeom prst="rect">
            <a:avLst/>
          </a:prstGeom>
          <a:noFill/>
        </p:spPr>
        <p:txBody>
          <a:bodyPr wrap="square" lIns="13716" rIns="13716" tIns="22860" bIns="22860">
            <a:spAutoFit/>
          </a:bodyPr>
          <a:lstStyle/>
          <a:p>
            <a:pPr algn="l">
              <a:lnSpc>
                <a:spcPts val="1680"/>
              </a:lnSpc>
              <a:spcBef>
                <a:spcPts val="0"/>
              </a:spcBef>
              <a:spcAft>
                <a:spcPts val="0"/>
              </a:spcAft>
            </a:pPr>
            <a:r>
              <a:rPr sz="1500" b="0">
                <a:solidFill>
                  <a:srgbClr val="5C6F83"/>
                </a:solidFill>
                <a:latin typeface="Aptos"/>
              </a:rPr>
              <a:t>Choose the app, APIs</a:t>
            </a:r>
          </a:p>
          <a:p>
            <a:pPr algn="l">
              <a:lnSpc>
                <a:spcPts val="1680"/>
              </a:lnSpc>
              <a:spcBef>
                <a:spcPts val="0"/>
              </a:spcBef>
              <a:spcAft>
                <a:spcPts val="0"/>
              </a:spcAft>
            </a:pPr>
            <a:r>
              <a:rPr sz="1500" b="0">
                <a:solidFill>
                  <a:srgbClr val="5C6F83"/>
                </a:solidFill>
                <a:latin typeface="Aptos"/>
              </a:rPr>
              <a:t>and permitted context.</a:t>
            </a:r>
          </a:p>
        </p:txBody>
      </p:sp>
      <p:sp>
        <p:nvSpPr>
          <p:cNvPr id="35" name="Chevron 34"/>
          <p:cNvSpPr/>
          <p:nvPr/>
        </p:nvSpPr>
        <p:spPr>
          <a:xfrm>
            <a:off x="8851392" y="3739896"/>
            <a:ext cx="155448" cy="228600"/>
          </a:xfrm>
          <a:prstGeom prst="chevron">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052560" y="2670048"/>
            <a:ext cx="2578608" cy="2432304"/>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235440" y="2889504"/>
            <a:ext cx="393192" cy="393192"/>
          </a:xfrm>
          <a:prstGeom prst="ellipse">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35440" y="2944368"/>
            <a:ext cx="393192" cy="265176"/>
          </a:xfrm>
          <a:prstGeom prst="rect">
            <a:avLst/>
          </a:prstGeom>
          <a:noFill/>
        </p:spPr>
        <p:txBody>
          <a:bodyPr wrap="square" lIns="13716" rIns="13716" tIns="22860" bIns="22860">
            <a:spAutoFit/>
          </a:bodyPr>
          <a:lstStyle/>
          <a:p>
            <a:pPr algn="ctr">
              <a:lnSpc>
                <a:spcPts val="1456"/>
              </a:lnSpc>
              <a:spcBef>
                <a:spcPts val="0"/>
              </a:spcBef>
              <a:spcAft>
                <a:spcPts val="0"/>
              </a:spcAft>
            </a:pPr>
            <a:r>
              <a:rPr sz="1300" b="1">
                <a:solidFill>
                  <a:srgbClr val="FFFFFF"/>
                </a:solidFill>
                <a:latin typeface="Aptos"/>
              </a:rPr>
              <a:t>4</a:t>
            </a:r>
          </a:p>
        </p:txBody>
      </p:sp>
      <p:sp>
        <p:nvSpPr>
          <p:cNvPr id="39" name="TextBox 38"/>
          <p:cNvSpPr txBox="1"/>
          <p:nvPr/>
        </p:nvSpPr>
        <p:spPr>
          <a:xfrm>
            <a:off x="9235440" y="3575304"/>
            <a:ext cx="2212848" cy="658368"/>
          </a:xfrm>
          <a:prstGeom prst="rect">
            <a:avLst/>
          </a:prstGeom>
          <a:noFill/>
        </p:spPr>
        <p:txBody>
          <a:bodyPr wrap="square" lIns="13716" rIns="13716" tIns="22860" bIns="22860">
            <a:spAutoFit/>
          </a:bodyPr>
          <a:lstStyle/>
          <a:p>
            <a:pPr algn="l">
              <a:lnSpc>
                <a:spcPts val="2128"/>
              </a:lnSpc>
              <a:spcBef>
                <a:spcPts val="0"/>
              </a:spcBef>
              <a:spcAft>
                <a:spcPts val="0"/>
              </a:spcAft>
            </a:pPr>
            <a:r>
              <a:rPr sz="1900" b="1">
                <a:solidFill>
                  <a:srgbClr val="122743"/>
                </a:solidFill>
                <a:latin typeface="Aptos"/>
              </a:rPr>
              <a:t>Save + use</a:t>
            </a:r>
          </a:p>
        </p:txBody>
      </p:sp>
      <p:sp>
        <p:nvSpPr>
          <p:cNvPr id="40" name="TextBox 39"/>
          <p:cNvSpPr txBox="1"/>
          <p:nvPr/>
        </p:nvSpPr>
        <p:spPr>
          <a:xfrm>
            <a:off x="9235440" y="4379976"/>
            <a:ext cx="2212848" cy="557784"/>
          </a:xfrm>
          <a:prstGeom prst="rect">
            <a:avLst/>
          </a:prstGeom>
          <a:noFill/>
        </p:spPr>
        <p:txBody>
          <a:bodyPr wrap="square" lIns="13716" rIns="13716" tIns="22860" bIns="22860">
            <a:spAutoFit/>
          </a:bodyPr>
          <a:lstStyle/>
          <a:p>
            <a:pPr algn="l">
              <a:lnSpc>
                <a:spcPts val="1680"/>
              </a:lnSpc>
              <a:spcBef>
                <a:spcPts val="0"/>
              </a:spcBef>
              <a:spcAft>
                <a:spcPts val="0"/>
              </a:spcAft>
            </a:pPr>
            <a:r>
              <a:rPr sz="1500" b="0">
                <a:solidFill>
                  <a:srgbClr val="5C6F83"/>
                </a:solidFill>
                <a:latin typeface="Aptos"/>
              </a:rPr>
              <a:t>Validate and register;</a:t>
            </a:r>
          </a:p>
          <a:p>
            <a:pPr algn="l">
              <a:lnSpc>
                <a:spcPts val="1680"/>
              </a:lnSpc>
              <a:spcBef>
                <a:spcPts val="0"/>
              </a:spcBef>
              <a:spcAft>
                <a:spcPts val="0"/>
              </a:spcAft>
            </a:pPr>
            <a:r>
              <a:rPr sz="1500" b="0">
                <a:solidFill>
                  <a:srgbClr val="5C6F83"/>
                </a:solidFill>
                <a:latin typeface="Aptos"/>
              </a:rPr>
              <a:t>open in the host app.</a:t>
            </a:r>
          </a:p>
        </p:txBody>
      </p:sp>
      <p:sp>
        <p:nvSpPr>
          <p:cNvPr id="41" name="Rounded Rectangle 40"/>
          <p:cNvSpPr/>
          <p:nvPr/>
        </p:nvSpPr>
        <p:spPr>
          <a:xfrm>
            <a:off x="548640" y="5358384"/>
            <a:ext cx="11091672" cy="484632"/>
          </a:xfrm>
          <a:prstGeom prst="roundRect">
            <a:avLst>
              <a:gd name="adj" fmla="val 9000"/>
            </a:avLst>
          </a:prstGeom>
          <a:solidFill>
            <a:srgbClr val="1227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8952" y="5458968"/>
            <a:ext cx="10652760" cy="283464"/>
          </a:xfrm>
          <a:prstGeom prst="rect">
            <a:avLst/>
          </a:prstGeom>
          <a:noFill/>
        </p:spPr>
        <p:txBody>
          <a:bodyPr wrap="square" lIns="13716" rIns="13716" tIns="22860" bIns="22860">
            <a:spAutoFit/>
          </a:bodyPr>
          <a:lstStyle/>
          <a:p>
            <a:pPr algn="l">
              <a:lnSpc>
                <a:spcPts val="1904"/>
              </a:lnSpc>
              <a:spcBef>
                <a:spcPts val="0"/>
              </a:spcBef>
              <a:spcAft>
                <a:spcPts val="0"/>
              </a:spcAft>
            </a:pPr>
            <a:r>
              <a:rPr sz="1700" b="1">
                <a:solidFill>
                  <a:srgbClr val="FFFFFF"/>
                </a:solidFill>
                <a:latin typeface="Aptos"/>
              </a:rPr>
              <a:t>One guided creation experience. A saved, governed agent for the domain.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THE PLATFORM</a:t>
            </a:r>
          </a:p>
        </p:txBody>
      </p:sp>
      <p:sp>
        <p:nvSpPr>
          <p:cNvPr id="5" name="Rectangle 4"/>
          <p:cNvSpPr/>
          <p:nvPr/>
        </p:nvSpPr>
        <p:spPr>
          <a:xfrm>
            <a:off x="3383280" y="539496"/>
            <a:ext cx="2606040" cy="3200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1">
                <a:solidFill>
                  <a:srgbClr val="007C83"/>
                </a:solidFill>
                <a:latin typeface="Aptos"/>
              </a:rPr>
              <a:t>CREATE AGENTS</a:t>
            </a:r>
          </a:p>
        </p:txBody>
      </p:sp>
      <p:sp>
        <p:nvSpPr>
          <p:cNvPr id="7" name="Rectangle 6"/>
          <p:cNvSpPr/>
          <p:nvPr/>
        </p:nvSpPr>
        <p:spPr>
          <a:xfrm>
            <a:off x="6236208"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6208"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CONTROL + OPERATE</a:t>
            </a:r>
          </a:p>
        </p:txBody>
      </p:sp>
      <p:sp>
        <p:nvSpPr>
          <p:cNvPr id="9" name="Rectangle 8"/>
          <p:cNvSpPr/>
          <p:nvPr/>
        </p:nvSpPr>
        <p:spPr>
          <a:xfrm>
            <a:off x="9089136"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89136"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REUSE + SCALE</a:t>
            </a:r>
          </a:p>
        </p:txBody>
      </p:sp>
      <p:sp>
        <p:nvSpPr>
          <p:cNvPr id="11" name="TextBox 10"/>
          <p:cNvSpPr txBox="1"/>
          <p:nvPr/>
        </p:nvSpPr>
        <p:spPr>
          <a:xfrm>
            <a:off x="530352" y="768096"/>
            <a:ext cx="11128248" cy="210312"/>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007C83"/>
                </a:solidFill>
                <a:latin typeface="Aptos"/>
              </a:rPr>
              <a:t>TEMPLATE-DRIVEN BY DESIGN</a:t>
            </a:r>
          </a:p>
        </p:txBody>
      </p:sp>
      <p:sp>
        <p:nvSpPr>
          <p:cNvPr id="12" name="TextBox 11"/>
          <p:cNvSpPr txBox="1"/>
          <p:nvPr/>
        </p:nvSpPr>
        <p:spPr>
          <a:xfrm>
            <a:off x="530352" y="1078992"/>
            <a:ext cx="11128248" cy="594360"/>
          </a:xfrm>
          <a:prstGeom prst="rect">
            <a:avLst/>
          </a:prstGeom>
          <a:noFill/>
        </p:spPr>
        <p:txBody>
          <a:bodyPr wrap="square" lIns="13716" rIns="13716" tIns="22860" bIns="22860">
            <a:spAutoFit/>
          </a:bodyPr>
          <a:lstStyle/>
          <a:p>
            <a:pPr algn="l">
              <a:lnSpc>
                <a:spcPts val="3360"/>
              </a:lnSpc>
              <a:spcBef>
                <a:spcPts val="0"/>
              </a:spcBef>
              <a:spcAft>
                <a:spcPts val="0"/>
              </a:spcAft>
            </a:pPr>
            <a:r>
              <a:rPr sz="3000" b="1">
                <a:solidFill>
                  <a:srgbClr val="122743"/>
                </a:solidFill>
                <a:latin typeface="Aptos"/>
              </a:rPr>
              <a:t>Reuse the behavior. Configure it for the business.</a:t>
            </a:r>
          </a:p>
        </p:txBody>
      </p:sp>
      <p:sp>
        <p:nvSpPr>
          <p:cNvPr id="13" name="TextBox 12"/>
          <p:cNvSpPr txBox="1"/>
          <p:nvPr/>
        </p:nvSpPr>
        <p:spPr>
          <a:xfrm>
            <a:off x="548640" y="1746504"/>
            <a:ext cx="11064240" cy="5943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A template supplies defaults; the saved agent adds its domain, instructions, model and authorized services.</a:t>
            </a:r>
          </a:p>
        </p:txBody>
      </p:sp>
      <p:sp>
        <p:nvSpPr>
          <p:cNvPr id="14" name="Rectangle 13"/>
          <p:cNvSpPr/>
          <p:nvPr/>
        </p:nvSpPr>
        <p:spPr>
          <a:xfrm>
            <a:off x="530352" y="6437376"/>
            <a:ext cx="11128248" cy="11887"/>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537960"/>
            <a:ext cx="7315200" cy="173736"/>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AGENT TEMPLATE STUDIO  /  CODEBASE UPDATE  /  03 OCT 2026</a:t>
            </a:r>
          </a:p>
        </p:txBody>
      </p:sp>
      <p:sp>
        <p:nvSpPr>
          <p:cNvPr id="16" name="TextBox 15"/>
          <p:cNvSpPr txBox="1"/>
          <p:nvPr/>
        </p:nvSpPr>
        <p:spPr>
          <a:xfrm>
            <a:off x="11000232" y="6492240"/>
            <a:ext cx="594360" cy="228600"/>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05</a:t>
            </a:r>
          </a:p>
        </p:txBody>
      </p:sp>
      <p:sp>
        <p:nvSpPr>
          <p:cNvPr id="17" name="Rounded Rectangle 16"/>
          <p:cNvSpPr/>
          <p:nvPr/>
        </p:nvSpPr>
        <p:spPr>
          <a:xfrm>
            <a:off x="548640" y="2651760"/>
            <a:ext cx="2048256" cy="1179576"/>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2834640"/>
            <a:ext cx="1737360" cy="292608"/>
          </a:xfrm>
          <a:prstGeom prst="rect">
            <a:avLst/>
          </a:prstGeom>
          <a:noFill/>
        </p:spPr>
        <p:txBody>
          <a:bodyPr wrap="square" lIns="13716" rIns="13716" tIns="22860" bIns="22860">
            <a:spAutoFit/>
          </a:bodyPr>
          <a:lstStyle/>
          <a:p>
            <a:pPr algn="l">
              <a:lnSpc>
                <a:spcPts val="2128"/>
              </a:lnSpc>
              <a:spcBef>
                <a:spcPts val="0"/>
              </a:spcBef>
              <a:spcAft>
                <a:spcPts val="0"/>
              </a:spcAft>
            </a:pPr>
            <a:r>
              <a:rPr sz="1900" b="1">
                <a:solidFill>
                  <a:srgbClr val="122743"/>
                </a:solidFill>
                <a:latin typeface="Aptos"/>
              </a:rPr>
              <a:t>Detect</a:t>
            </a:r>
          </a:p>
        </p:txBody>
      </p:sp>
      <p:sp>
        <p:nvSpPr>
          <p:cNvPr id="19" name="TextBox 18"/>
          <p:cNvSpPr txBox="1"/>
          <p:nvPr/>
        </p:nvSpPr>
        <p:spPr>
          <a:xfrm>
            <a:off x="704088" y="3310128"/>
            <a:ext cx="1737360" cy="356616"/>
          </a:xfrm>
          <a:prstGeom prst="rect">
            <a:avLst/>
          </a:prstGeom>
          <a:noFill/>
        </p:spPr>
        <p:txBody>
          <a:bodyPr wrap="square" lIns="13716" rIns="13716" tIns="22860" bIns="22860">
            <a:spAutoFit/>
          </a:bodyPr>
          <a:lstStyle/>
          <a:p>
            <a:pPr algn="l">
              <a:lnSpc>
                <a:spcPts val="1456"/>
              </a:lnSpc>
              <a:spcBef>
                <a:spcPts val="0"/>
              </a:spcBef>
              <a:spcAft>
                <a:spcPts val="0"/>
              </a:spcAft>
            </a:pPr>
            <a:r>
              <a:rPr sz="1300" b="0">
                <a:solidFill>
                  <a:srgbClr val="5C6F83"/>
                </a:solidFill>
                <a:latin typeface="Aptos"/>
              </a:rPr>
              <a:t>Anomaly Detection</a:t>
            </a:r>
          </a:p>
        </p:txBody>
      </p:sp>
      <p:sp>
        <p:nvSpPr>
          <p:cNvPr id="20" name="Rounded Rectangle 19"/>
          <p:cNvSpPr/>
          <p:nvPr/>
        </p:nvSpPr>
        <p:spPr>
          <a:xfrm>
            <a:off x="2807208" y="2651760"/>
            <a:ext cx="2048256" cy="1179576"/>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62656" y="2834640"/>
            <a:ext cx="1737360" cy="292608"/>
          </a:xfrm>
          <a:prstGeom prst="rect">
            <a:avLst/>
          </a:prstGeom>
          <a:noFill/>
        </p:spPr>
        <p:txBody>
          <a:bodyPr wrap="square" lIns="13716" rIns="13716" tIns="22860" bIns="22860">
            <a:spAutoFit/>
          </a:bodyPr>
          <a:lstStyle/>
          <a:p>
            <a:pPr algn="l">
              <a:lnSpc>
                <a:spcPts val="2128"/>
              </a:lnSpc>
              <a:spcBef>
                <a:spcPts val="0"/>
              </a:spcBef>
              <a:spcAft>
                <a:spcPts val="0"/>
              </a:spcAft>
            </a:pPr>
            <a:r>
              <a:rPr sz="1900" b="1">
                <a:solidFill>
                  <a:srgbClr val="122743"/>
                </a:solidFill>
                <a:latin typeface="Aptos"/>
              </a:rPr>
              <a:t>Answer</a:t>
            </a:r>
          </a:p>
        </p:txBody>
      </p:sp>
      <p:sp>
        <p:nvSpPr>
          <p:cNvPr id="22" name="TextBox 21"/>
          <p:cNvSpPr txBox="1"/>
          <p:nvPr/>
        </p:nvSpPr>
        <p:spPr>
          <a:xfrm>
            <a:off x="2962656" y="3310128"/>
            <a:ext cx="1737360" cy="356616"/>
          </a:xfrm>
          <a:prstGeom prst="rect">
            <a:avLst/>
          </a:prstGeom>
          <a:noFill/>
        </p:spPr>
        <p:txBody>
          <a:bodyPr wrap="square" lIns="13716" rIns="13716" tIns="22860" bIns="22860">
            <a:spAutoFit/>
          </a:bodyPr>
          <a:lstStyle/>
          <a:p>
            <a:pPr algn="l">
              <a:lnSpc>
                <a:spcPts val="1456"/>
              </a:lnSpc>
              <a:spcBef>
                <a:spcPts val="0"/>
              </a:spcBef>
              <a:spcAft>
                <a:spcPts val="0"/>
              </a:spcAft>
            </a:pPr>
            <a:r>
              <a:rPr sz="1300" b="0">
                <a:solidFill>
                  <a:srgbClr val="5C6F83"/>
                </a:solidFill>
                <a:latin typeface="Aptos"/>
              </a:rPr>
              <a:t>General Query</a:t>
            </a:r>
          </a:p>
        </p:txBody>
      </p:sp>
      <p:sp>
        <p:nvSpPr>
          <p:cNvPr id="23" name="Rounded Rectangle 22"/>
          <p:cNvSpPr/>
          <p:nvPr/>
        </p:nvSpPr>
        <p:spPr>
          <a:xfrm>
            <a:off x="5065776" y="2651760"/>
            <a:ext cx="2048256" cy="1179576"/>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21224" y="2834640"/>
            <a:ext cx="1737360" cy="292608"/>
          </a:xfrm>
          <a:prstGeom prst="rect">
            <a:avLst/>
          </a:prstGeom>
          <a:noFill/>
        </p:spPr>
        <p:txBody>
          <a:bodyPr wrap="square" lIns="13716" rIns="13716" tIns="22860" bIns="22860">
            <a:spAutoFit/>
          </a:bodyPr>
          <a:lstStyle/>
          <a:p>
            <a:pPr algn="l">
              <a:lnSpc>
                <a:spcPts val="2128"/>
              </a:lnSpc>
              <a:spcBef>
                <a:spcPts val="0"/>
              </a:spcBef>
              <a:spcAft>
                <a:spcPts val="0"/>
              </a:spcAft>
            </a:pPr>
            <a:r>
              <a:rPr sz="1900" b="1">
                <a:solidFill>
                  <a:srgbClr val="122743"/>
                </a:solidFill>
                <a:latin typeface="Aptos"/>
              </a:rPr>
              <a:t>Summarize</a:t>
            </a:r>
          </a:p>
        </p:txBody>
      </p:sp>
      <p:sp>
        <p:nvSpPr>
          <p:cNvPr id="25" name="TextBox 24"/>
          <p:cNvSpPr txBox="1"/>
          <p:nvPr/>
        </p:nvSpPr>
        <p:spPr>
          <a:xfrm>
            <a:off x="5221224" y="3310128"/>
            <a:ext cx="1737360" cy="356616"/>
          </a:xfrm>
          <a:prstGeom prst="rect">
            <a:avLst/>
          </a:prstGeom>
          <a:noFill/>
        </p:spPr>
        <p:txBody>
          <a:bodyPr wrap="square" lIns="13716" rIns="13716" tIns="22860" bIns="22860">
            <a:spAutoFit/>
          </a:bodyPr>
          <a:lstStyle/>
          <a:p>
            <a:pPr algn="l">
              <a:lnSpc>
                <a:spcPts val="1456"/>
              </a:lnSpc>
              <a:spcBef>
                <a:spcPts val="0"/>
              </a:spcBef>
              <a:spcAft>
                <a:spcPts val="0"/>
              </a:spcAft>
            </a:pPr>
            <a:r>
              <a:rPr sz="1300" b="0">
                <a:solidFill>
                  <a:srgbClr val="5C6F83"/>
                </a:solidFill>
                <a:latin typeface="Aptos"/>
              </a:rPr>
              <a:t>Summarizer</a:t>
            </a:r>
          </a:p>
        </p:txBody>
      </p:sp>
      <p:sp>
        <p:nvSpPr>
          <p:cNvPr id="26" name="Rounded Rectangle 25"/>
          <p:cNvSpPr/>
          <p:nvPr/>
        </p:nvSpPr>
        <p:spPr>
          <a:xfrm>
            <a:off x="7324344" y="2651760"/>
            <a:ext cx="2048256" cy="1179576"/>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79792" y="2834640"/>
            <a:ext cx="1737360" cy="292608"/>
          </a:xfrm>
          <a:prstGeom prst="rect">
            <a:avLst/>
          </a:prstGeom>
          <a:noFill/>
        </p:spPr>
        <p:txBody>
          <a:bodyPr wrap="square" lIns="13716" rIns="13716" tIns="22860" bIns="22860">
            <a:spAutoFit/>
          </a:bodyPr>
          <a:lstStyle/>
          <a:p>
            <a:pPr algn="l">
              <a:lnSpc>
                <a:spcPts val="2128"/>
              </a:lnSpc>
              <a:spcBef>
                <a:spcPts val="0"/>
              </a:spcBef>
              <a:spcAft>
                <a:spcPts val="0"/>
              </a:spcAft>
            </a:pPr>
            <a:r>
              <a:rPr sz="1900" b="1">
                <a:solidFill>
                  <a:srgbClr val="122743"/>
                </a:solidFill>
                <a:latin typeface="Aptos"/>
              </a:rPr>
              <a:t>Document</a:t>
            </a:r>
          </a:p>
        </p:txBody>
      </p:sp>
      <p:sp>
        <p:nvSpPr>
          <p:cNvPr id="28" name="TextBox 27"/>
          <p:cNvSpPr txBox="1"/>
          <p:nvPr/>
        </p:nvSpPr>
        <p:spPr>
          <a:xfrm>
            <a:off x="7479792" y="3310128"/>
            <a:ext cx="1737360" cy="356616"/>
          </a:xfrm>
          <a:prstGeom prst="rect">
            <a:avLst/>
          </a:prstGeom>
          <a:noFill/>
        </p:spPr>
        <p:txBody>
          <a:bodyPr wrap="square" lIns="13716" rIns="13716" tIns="22860" bIns="22860">
            <a:spAutoFit/>
          </a:bodyPr>
          <a:lstStyle/>
          <a:p>
            <a:pPr algn="l">
              <a:lnSpc>
                <a:spcPts val="1456"/>
              </a:lnSpc>
              <a:spcBef>
                <a:spcPts val="0"/>
              </a:spcBef>
              <a:spcAft>
                <a:spcPts val="0"/>
              </a:spcAft>
            </a:pPr>
            <a:r>
              <a:rPr sz="1300" b="0">
                <a:solidFill>
                  <a:srgbClr val="5C6F83"/>
                </a:solidFill>
                <a:latin typeface="Aptos"/>
              </a:rPr>
              <a:t>Incident Report</a:t>
            </a:r>
          </a:p>
        </p:txBody>
      </p:sp>
      <p:sp>
        <p:nvSpPr>
          <p:cNvPr id="29" name="Rounded Rectangle 28"/>
          <p:cNvSpPr/>
          <p:nvPr/>
        </p:nvSpPr>
        <p:spPr>
          <a:xfrm>
            <a:off x="9582912" y="2651760"/>
            <a:ext cx="2048256" cy="1179576"/>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2834640"/>
            <a:ext cx="1737360" cy="292608"/>
          </a:xfrm>
          <a:prstGeom prst="rect">
            <a:avLst/>
          </a:prstGeom>
          <a:noFill/>
        </p:spPr>
        <p:txBody>
          <a:bodyPr wrap="square" lIns="13716" rIns="13716" tIns="22860" bIns="22860">
            <a:spAutoFit/>
          </a:bodyPr>
          <a:lstStyle/>
          <a:p>
            <a:pPr algn="l">
              <a:lnSpc>
                <a:spcPts val="2128"/>
              </a:lnSpc>
              <a:spcBef>
                <a:spcPts val="0"/>
              </a:spcBef>
              <a:spcAft>
                <a:spcPts val="0"/>
              </a:spcAft>
            </a:pPr>
            <a:r>
              <a:rPr sz="1900" b="1">
                <a:solidFill>
                  <a:srgbClr val="122743"/>
                </a:solidFill>
                <a:latin typeface="Aptos"/>
              </a:rPr>
              <a:t>Investigate</a:t>
            </a:r>
          </a:p>
        </p:txBody>
      </p:sp>
      <p:sp>
        <p:nvSpPr>
          <p:cNvPr id="31" name="TextBox 30"/>
          <p:cNvSpPr txBox="1"/>
          <p:nvPr/>
        </p:nvSpPr>
        <p:spPr>
          <a:xfrm>
            <a:off x="9738360" y="3310128"/>
            <a:ext cx="1737360" cy="356616"/>
          </a:xfrm>
          <a:prstGeom prst="rect">
            <a:avLst/>
          </a:prstGeom>
          <a:noFill/>
        </p:spPr>
        <p:txBody>
          <a:bodyPr wrap="square" lIns="13716" rIns="13716" tIns="22860" bIns="22860">
            <a:spAutoFit/>
          </a:bodyPr>
          <a:lstStyle/>
          <a:p>
            <a:pPr algn="l">
              <a:lnSpc>
                <a:spcPts val="1456"/>
              </a:lnSpc>
              <a:spcBef>
                <a:spcPts val="0"/>
              </a:spcBef>
              <a:spcAft>
                <a:spcPts val="0"/>
              </a:spcAft>
            </a:pPr>
            <a:r>
              <a:rPr sz="1300" b="0">
                <a:solidFill>
                  <a:srgbClr val="5C6F83"/>
                </a:solidFill>
                <a:latin typeface="Aptos"/>
              </a:rPr>
              <a:t>Failure Investigation</a:t>
            </a:r>
          </a:p>
        </p:txBody>
      </p:sp>
      <p:sp>
        <p:nvSpPr>
          <p:cNvPr id="32" name="Rounded Rectangle 31"/>
          <p:cNvSpPr/>
          <p:nvPr/>
        </p:nvSpPr>
        <p:spPr>
          <a:xfrm>
            <a:off x="548640" y="4142232"/>
            <a:ext cx="11091672" cy="1609344"/>
          </a:xfrm>
          <a:prstGeom prst="roundRect">
            <a:avLst>
              <a:gd name="adj" fmla="val 9000"/>
            </a:avLst>
          </a:prstGeom>
          <a:solidFill>
            <a:srgbClr val="1227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2104" y="4416552"/>
            <a:ext cx="3246120" cy="246888"/>
          </a:xfrm>
          <a:prstGeom prst="rect">
            <a:avLst/>
          </a:prstGeom>
          <a:noFill/>
        </p:spPr>
        <p:txBody>
          <a:bodyPr wrap="square" lIns="13716" rIns="13716" tIns="22860" bIns="22860">
            <a:spAutoFit/>
          </a:bodyPr>
          <a:lstStyle/>
          <a:p>
            <a:pPr algn="l">
              <a:lnSpc>
                <a:spcPts val="1344"/>
              </a:lnSpc>
              <a:spcBef>
                <a:spcPts val="0"/>
              </a:spcBef>
              <a:spcAft>
                <a:spcPts val="0"/>
              </a:spcAft>
            </a:pPr>
            <a:r>
              <a:rPr sz="1200" b="1">
                <a:solidFill>
                  <a:srgbClr val="65D5CF"/>
                </a:solidFill>
                <a:latin typeface="Aptos"/>
              </a:rPr>
              <a:t>TEMPLATE</a:t>
            </a:r>
          </a:p>
        </p:txBody>
      </p:sp>
      <p:sp>
        <p:nvSpPr>
          <p:cNvPr id="34" name="TextBox 33"/>
          <p:cNvSpPr txBox="1"/>
          <p:nvPr/>
        </p:nvSpPr>
        <p:spPr>
          <a:xfrm>
            <a:off x="832104" y="4910328"/>
            <a:ext cx="3246120" cy="658368"/>
          </a:xfrm>
          <a:prstGeom prst="rect">
            <a:avLst/>
          </a:prstGeom>
          <a:noFill/>
        </p:spPr>
        <p:txBody>
          <a:bodyPr wrap="square" lIns="13716" rIns="13716" tIns="22860" bIns="22860">
            <a:spAutoFit/>
          </a:bodyPr>
          <a:lstStyle/>
          <a:p>
            <a:pPr algn="l">
              <a:lnSpc>
                <a:spcPts val="2240"/>
              </a:lnSpc>
              <a:spcBef>
                <a:spcPts val="0"/>
              </a:spcBef>
              <a:spcAft>
                <a:spcPts val="0"/>
              </a:spcAft>
            </a:pPr>
            <a:r>
              <a:rPr sz="2000" b="1">
                <a:solidFill>
                  <a:srgbClr val="FFFFFF"/>
                </a:solidFill>
                <a:latin typeface="Aptos"/>
              </a:rPr>
              <a:t>Reusable starting behavior</a:t>
            </a:r>
          </a:p>
        </p:txBody>
      </p:sp>
      <p:sp>
        <p:nvSpPr>
          <p:cNvPr id="35" name="Chevron 34"/>
          <p:cNvSpPr/>
          <p:nvPr/>
        </p:nvSpPr>
        <p:spPr>
          <a:xfrm>
            <a:off x="4169663" y="4882896"/>
            <a:ext cx="182880" cy="228600"/>
          </a:xfrm>
          <a:prstGeom prst="chevron">
            <a:avLst/>
          </a:prstGeom>
          <a:solidFill>
            <a:srgbClr val="65D5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26280" y="4416552"/>
            <a:ext cx="3246120" cy="246888"/>
          </a:xfrm>
          <a:prstGeom prst="rect">
            <a:avLst/>
          </a:prstGeom>
          <a:noFill/>
        </p:spPr>
        <p:txBody>
          <a:bodyPr wrap="square" lIns="13716" rIns="13716" tIns="22860" bIns="22860">
            <a:spAutoFit/>
          </a:bodyPr>
          <a:lstStyle/>
          <a:p>
            <a:pPr algn="l">
              <a:lnSpc>
                <a:spcPts val="1344"/>
              </a:lnSpc>
              <a:spcBef>
                <a:spcPts val="0"/>
              </a:spcBef>
              <a:spcAft>
                <a:spcPts val="0"/>
              </a:spcAft>
            </a:pPr>
            <a:r>
              <a:rPr sz="1200" b="1">
                <a:solidFill>
                  <a:srgbClr val="65D5CF"/>
                </a:solidFill>
                <a:latin typeface="Aptos"/>
              </a:rPr>
              <a:t>DOMAIN CONFIGURATION</a:t>
            </a:r>
          </a:p>
        </p:txBody>
      </p:sp>
      <p:sp>
        <p:nvSpPr>
          <p:cNvPr id="37" name="TextBox 36"/>
          <p:cNvSpPr txBox="1"/>
          <p:nvPr/>
        </p:nvSpPr>
        <p:spPr>
          <a:xfrm>
            <a:off x="4526280" y="4910328"/>
            <a:ext cx="3246120" cy="658368"/>
          </a:xfrm>
          <a:prstGeom prst="rect">
            <a:avLst/>
          </a:prstGeom>
          <a:noFill/>
        </p:spPr>
        <p:txBody>
          <a:bodyPr wrap="square" lIns="13716" rIns="13716" tIns="22860" bIns="22860">
            <a:spAutoFit/>
          </a:bodyPr>
          <a:lstStyle/>
          <a:p>
            <a:pPr algn="l">
              <a:lnSpc>
                <a:spcPts val="2240"/>
              </a:lnSpc>
              <a:spcBef>
                <a:spcPts val="0"/>
              </a:spcBef>
              <a:spcAft>
                <a:spcPts val="0"/>
              </a:spcAft>
            </a:pPr>
            <a:r>
              <a:rPr sz="2000" b="1">
                <a:solidFill>
                  <a:srgbClr val="FFFFFF"/>
                </a:solidFill>
                <a:latin typeface="Aptos"/>
              </a:rPr>
              <a:t>Business purpose + data + access</a:t>
            </a:r>
          </a:p>
        </p:txBody>
      </p:sp>
      <p:sp>
        <p:nvSpPr>
          <p:cNvPr id="38" name="Chevron 37"/>
          <p:cNvSpPr/>
          <p:nvPr/>
        </p:nvSpPr>
        <p:spPr>
          <a:xfrm>
            <a:off x="7863840" y="4882896"/>
            <a:ext cx="182880" cy="228600"/>
          </a:xfrm>
          <a:prstGeom prst="chevron">
            <a:avLst/>
          </a:prstGeom>
          <a:solidFill>
            <a:srgbClr val="65D5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0456" y="4416552"/>
            <a:ext cx="3246120" cy="246888"/>
          </a:xfrm>
          <a:prstGeom prst="rect">
            <a:avLst/>
          </a:prstGeom>
          <a:noFill/>
        </p:spPr>
        <p:txBody>
          <a:bodyPr wrap="square" lIns="13716" rIns="13716" tIns="22860" bIns="22860">
            <a:spAutoFit/>
          </a:bodyPr>
          <a:lstStyle/>
          <a:p>
            <a:pPr algn="l">
              <a:lnSpc>
                <a:spcPts val="1344"/>
              </a:lnSpc>
              <a:spcBef>
                <a:spcPts val="0"/>
              </a:spcBef>
              <a:spcAft>
                <a:spcPts val="0"/>
              </a:spcAft>
            </a:pPr>
            <a:r>
              <a:rPr sz="1200" b="1">
                <a:solidFill>
                  <a:srgbClr val="65D5CF"/>
                </a:solidFill>
                <a:latin typeface="Aptos"/>
              </a:rPr>
              <a:t>SAVED AGENT</a:t>
            </a:r>
          </a:p>
        </p:txBody>
      </p:sp>
      <p:sp>
        <p:nvSpPr>
          <p:cNvPr id="40" name="TextBox 39"/>
          <p:cNvSpPr txBox="1"/>
          <p:nvPr/>
        </p:nvSpPr>
        <p:spPr>
          <a:xfrm>
            <a:off x="8220456" y="4910328"/>
            <a:ext cx="3246120" cy="658368"/>
          </a:xfrm>
          <a:prstGeom prst="rect">
            <a:avLst/>
          </a:prstGeom>
          <a:noFill/>
        </p:spPr>
        <p:txBody>
          <a:bodyPr wrap="square" lIns="13716" rIns="13716" tIns="22860" bIns="22860">
            <a:spAutoFit/>
          </a:bodyPr>
          <a:lstStyle/>
          <a:p>
            <a:pPr algn="l">
              <a:lnSpc>
                <a:spcPts val="2240"/>
              </a:lnSpc>
              <a:spcBef>
                <a:spcPts val="0"/>
              </a:spcBef>
              <a:spcAft>
                <a:spcPts val="0"/>
              </a:spcAft>
            </a:pPr>
            <a:r>
              <a:rPr sz="2000" b="1">
                <a:solidFill>
                  <a:srgbClr val="FFFFFF"/>
                </a:solidFill>
                <a:latin typeface="Aptos"/>
              </a:rPr>
              <a:t>Validated settings + registry entry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THE PLATFORM</a:t>
            </a:r>
          </a:p>
        </p:txBody>
      </p:sp>
      <p:sp>
        <p:nvSpPr>
          <p:cNvPr id="5" name="Rectangle 4"/>
          <p:cNvSpPr/>
          <p:nvPr/>
        </p:nvSpPr>
        <p:spPr>
          <a:xfrm>
            <a:off x="3383280" y="539496"/>
            <a:ext cx="2606040" cy="3200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1">
                <a:solidFill>
                  <a:srgbClr val="007C83"/>
                </a:solidFill>
                <a:latin typeface="Aptos"/>
              </a:rPr>
              <a:t>CREATE AGENTS</a:t>
            </a:r>
          </a:p>
        </p:txBody>
      </p:sp>
      <p:sp>
        <p:nvSpPr>
          <p:cNvPr id="7" name="Rectangle 6"/>
          <p:cNvSpPr/>
          <p:nvPr/>
        </p:nvSpPr>
        <p:spPr>
          <a:xfrm>
            <a:off x="6236208"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6208"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CONTROL + OPERATE</a:t>
            </a:r>
          </a:p>
        </p:txBody>
      </p:sp>
      <p:sp>
        <p:nvSpPr>
          <p:cNvPr id="9" name="Rectangle 8"/>
          <p:cNvSpPr/>
          <p:nvPr/>
        </p:nvSpPr>
        <p:spPr>
          <a:xfrm>
            <a:off x="9089136"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89136"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REUSE + SCALE</a:t>
            </a:r>
          </a:p>
        </p:txBody>
      </p:sp>
      <p:sp>
        <p:nvSpPr>
          <p:cNvPr id="11" name="TextBox 10"/>
          <p:cNvSpPr txBox="1"/>
          <p:nvPr/>
        </p:nvSpPr>
        <p:spPr>
          <a:xfrm>
            <a:off x="530352" y="768096"/>
            <a:ext cx="11128248" cy="210312"/>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007C83"/>
                </a:solidFill>
                <a:latin typeface="Aptos"/>
              </a:rPr>
              <a:t>MODEL CHOICE IS A PLATFORM CAPABILITY</a:t>
            </a:r>
          </a:p>
        </p:txBody>
      </p:sp>
      <p:sp>
        <p:nvSpPr>
          <p:cNvPr id="12" name="TextBox 11"/>
          <p:cNvSpPr txBox="1"/>
          <p:nvPr/>
        </p:nvSpPr>
        <p:spPr>
          <a:xfrm>
            <a:off x="530352" y="1078992"/>
            <a:ext cx="11128248" cy="594360"/>
          </a:xfrm>
          <a:prstGeom prst="rect">
            <a:avLst/>
          </a:prstGeom>
          <a:noFill/>
        </p:spPr>
        <p:txBody>
          <a:bodyPr wrap="square" lIns="13716" rIns="13716" tIns="22860" bIns="22860">
            <a:spAutoFit/>
          </a:bodyPr>
          <a:lstStyle/>
          <a:p>
            <a:pPr algn="l">
              <a:lnSpc>
                <a:spcPts val="3360"/>
              </a:lnSpc>
              <a:spcBef>
                <a:spcPts val="0"/>
              </a:spcBef>
              <a:spcAft>
                <a:spcPts val="0"/>
              </a:spcAft>
            </a:pPr>
            <a:r>
              <a:rPr sz="3000" b="1">
                <a:solidFill>
                  <a:srgbClr val="122743"/>
                </a:solidFill>
                <a:latin typeface="Aptos"/>
              </a:rPr>
              <a:t>Managed or private models. One agent creation experience.</a:t>
            </a:r>
          </a:p>
        </p:txBody>
      </p:sp>
      <p:sp>
        <p:nvSpPr>
          <p:cNvPr id="13" name="TextBox 12"/>
          <p:cNvSpPr txBox="1"/>
          <p:nvPr/>
        </p:nvSpPr>
        <p:spPr>
          <a:xfrm>
            <a:off x="548640" y="1746504"/>
            <a:ext cx="11064240" cy="5943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Select an enabled model from the catalog; the runtime connects through its configured provider or endpoint.</a:t>
            </a:r>
          </a:p>
        </p:txBody>
      </p:sp>
      <p:sp>
        <p:nvSpPr>
          <p:cNvPr id="14" name="Rectangle 13"/>
          <p:cNvSpPr/>
          <p:nvPr/>
        </p:nvSpPr>
        <p:spPr>
          <a:xfrm>
            <a:off x="530352" y="6437376"/>
            <a:ext cx="11128248" cy="11887"/>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537960"/>
            <a:ext cx="7315200" cy="173736"/>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AGENT TEMPLATE STUDIO  /  CODEBASE UPDATE  /  03 OCT 2026</a:t>
            </a:r>
          </a:p>
        </p:txBody>
      </p:sp>
      <p:sp>
        <p:nvSpPr>
          <p:cNvPr id="16" name="TextBox 15"/>
          <p:cNvSpPr txBox="1"/>
          <p:nvPr/>
        </p:nvSpPr>
        <p:spPr>
          <a:xfrm>
            <a:off x="11000232" y="6492240"/>
            <a:ext cx="594360" cy="228600"/>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06</a:t>
            </a:r>
          </a:p>
        </p:txBody>
      </p:sp>
      <p:sp>
        <p:nvSpPr>
          <p:cNvPr id="17" name="TextBox 16"/>
          <p:cNvSpPr txBox="1"/>
          <p:nvPr/>
        </p:nvSpPr>
        <p:spPr>
          <a:xfrm>
            <a:off x="557784" y="6044184"/>
            <a:ext cx="11064240" cy="292608"/>
          </a:xfrm>
          <a:prstGeom prst="rect">
            <a:avLst/>
          </a:prstGeom>
          <a:noFill/>
        </p:spPr>
        <p:txBody>
          <a:bodyPr wrap="square" lIns="13716" rIns="13716" tIns="22860" bIns="22860">
            <a:spAutoFit/>
          </a:bodyPr>
          <a:lstStyle/>
          <a:p>
            <a:pPr algn="l">
              <a:lnSpc>
                <a:spcPts val="1232"/>
              </a:lnSpc>
              <a:spcBef>
                <a:spcPts val="0"/>
              </a:spcBef>
              <a:spcAft>
                <a:spcPts val="0"/>
              </a:spcAft>
            </a:pPr>
            <a:r>
              <a:rPr sz="1100" b="0">
                <a:solidFill>
                  <a:srgbClr val="5C6F83"/>
                </a:solidFill>
                <a:latin typeface="Aptos"/>
              </a:rPr>
              <a:t>Private endpoints and deployment assets are supported. Local Ray Serve / vLLM inference remains unvalidated.</a:t>
            </a:r>
          </a:p>
        </p:txBody>
      </p:sp>
      <p:sp>
        <p:nvSpPr>
          <p:cNvPr id="18" name="Rounded Rectangle 17"/>
          <p:cNvSpPr/>
          <p:nvPr/>
        </p:nvSpPr>
        <p:spPr>
          <a:xfrm>
            <a:off x="548640" y="2596896"/>
            <a:ext cx="5422392" cy="2670048"/>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2834639"/>
            <a:ext cx="41148" cy="402336"/>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25496"/>
            <a:ext cx="4873752"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235CC4"/>
                </a:solidFill>
                <a:latin typeface="Aptos"/>
              </a:rPr>
              <a:t>MANAGED MODEL SERVICES</a:t>
            </a:r>
          </a:p>
        </p:txBody>
      </p:sp>
      <p:sp>
        <p:nvSpPr>
          <p:cNvPr id="21" name="TextBox 20"/>
          <p:cNvSpPr txBox="1"/>
          <p:nvPr/>
        </p:nvSpPr>
        <p:spPr>
          <a:xfrm>
            <a:off x="758952" y="3401568"/>
            <a:ext cx="5001768"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Use hosted inference</a:t>
            </a:r>
          </a:p>
        </p:txBody>
      </p:sp>
      <p:sp>
        <p:nvSpPr>
          <p:cNvPr id="22" name="TextBox 21"/>
          <p:cNvSpPr txBox="1"/>
          <p:nvPr/>
        </p:nvSpPr>
        <p:spPr>
          <a:xfrm>
            <a:off x="758952" y="4297680"/>
            <a:ext cx="5001768" cy="841247"/>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Connect an approved provider.</a:t>
            </a:r>
          </a:p>
          <a:p>
            <a:pPr algn="l">
              <a:lnSpc>
                <a:spcPts val="1792"/>
              </a:lnSpc>
              <a:spcBef>
                <a:spcPts val="0"/>
              </a:spcBef>
              <a:spcAft>
                <a:spcPts val="0"/>
              </a:spcAft>
            </a:pPr>
            <a:r>
              <a:rPr sz="1600" b="0">
                <a:solidFill>
                  <a:srgbClr val="5C6F83"/>
                </a:solidFill>
                <a:latin typeface="Aptos"/>
              </a:rPr>
              <a:t>Configure endpoint and credentials.</a:t>
            </a:r>
          </a:p>
          <a:p>
            <a:pPr algn="l">
              <a:lnSpc>
                <a:spcPts val="1792"/>
              </a:lnSpc>
              <a:spcBef>
                <a:spcPts val="0"/>
              </a:spcBef>
              <a:spcAft>
                <a:spcPts val="0"/>
              </a:spcAft>
            </a:pPr>
            <a:r>
              <a:rPr sz="1600" b="0">
                <a:solidFill>
                  <a:srgbClr val="5C6F83"/>
                </a:solidFill>
                <a:latin typeface="Aptos"/>
              </a:rPr>
              <a:t>Choose the model in the agent form.</a:t>
            </a:r>
          </a:p>
        </p:txBody>
      </p:sp>
      <p:sp>
        <p:nvSpPr>
          <p:cNvPr id="23" name="Rounded Rectangle 22"/>
          <p:cNvSpPr/>
          <p:nvPr/>
        </p:nvSpPr>
        <p:spPr>
          <a:xfrm>
            <a:off x="6227064" y="2596896"/>
            <a:ext cx="5413248" cy="2670048"/>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9944" y="2834639"/>
            <a:ext cx="41148" cy="402336"/>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92824" y="2825496"/>
            <a:ext cx="4864608"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PRIVATE MODEL DEPLOYMENT</a:t>
            </a:r>
          </a:p>
        </p:txBody>
      </p:sp>
      <p:sp>
        <p:nvSpPr>
          <p:cNvPr id="26" name="TextBox 25"/>
          <p:cNvSpPr txBox="1"/>
          <p:nvPr/>
        </p:nvSpPr>
        <p:spPr>
          <a:xfrm>
            <a:off x="6437376" y="3401568"/>
            <a:ext cx="4992624"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Operate inference yourself</a:t>
            </a:r>
          </a:p>
        </p:txBody>
      </p:sp>
      <p:sp>
        <p:nvSpPr>
          <p:cNvPr id="27" name="TextBox 26"/>
          <p:cNvSpPr txBox="1"/>
          <p:nvPr/>
        </p:nvSpPr>
        <p:spPr>
          <a:xfrm>
            <a:off x="6437376" y="4297680"/>
            <a:ext cx="4992624" cy="841247"/>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Connect your model endpoint.</a:t>
            </a:r>
          </a:p>
          <a:p>
            <a:pPr algn="l">
              <a:lnSpc>
                <a:spcPts val="1792"/>
              </a:lnSpc>
              <a:spcBef>
                <a:spcPts val="0"/>
              </a:spcBef>
              <a:spcAft>
                <a:spcPts val="0"/>
              </a:spcAft>
            </a:pPr>
            <a:r>
              <a:rPr sz="1600" b="0">
                <a:solidFill>
                  <a:srgbClr val="5C6F83"/>
                </a:solidFill>
                <a:latin typeface="Aptos"/>
              </a:rPr>
              <a:t>Use Ollama or vLLM / Ray options.</a:t>
            </a:r>
          </a:p>
          <a:p>
            <a:pPr algn="l">
              <a:lnSpc>
                <a:spcPts val="1792"/>
              </a:lnSpc>
              <a:spcBef>
                <a:spcPts val="0"/>
              </a:spcBef>
              <a:spcAft>
                <a:spcPts val="0"/>
              </a:spcAft>
            </a:pPr>
            <a:r>
              <a:rPr sz="1600" b="0">
                <a:solidFill>
                  <a:srgbClr val="5C6F83"/>
                </a:solidFill>
                <a:latin typeface="Aptos"/>
              </a:rPr>
              <a:t>Manage capacity and network controls.</a:t>
            </a:r>
          </a:p>
        </p:txBody>
      </p:sp>
      <p:sp>
        <p:nvSpPr>
          <p:cNvPr id="28" name="Rounded Rectangle 27"/>
          <p:cNvSpPr/>
          <p:nvPr/>
        </p:nvSpPr>
        <p:spPr>
          <a:xfrm>
            <a:off x="548640" y="5358384"/>
            <a:ext cx="11091672" cy="484632"/>
          </a:xfrm>
          <a:prstGeom prst="roundRect">
            <a:avLst>
              <a:gd name="adj" fmla="val 9000"/>
            </a:avLst>
          </a:prstGeom>
          <a:solidFill>
            <a:srgbClr val="1227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8952" y="5458968"/>
            <a:ext cx="10652760" cy="283464"/>
          </a:xfrm>
          <a:prstGeom prst="rect">
            <a:avLst/>
          </a:prstGeom>
          <a:noFill/>
        </p:spPr>
        <p:txBody>
          <a:bodyPr wrap="square" lIns="13716" rIns="13716" tIns="22860" bIns="22860">
            <a:spAutoFit/>
          </a:bodyPr>
          <a:lstStyle/>
          <a:p>
            <a:pPr algn="l">
              <a:lnSpc>
                <a:spcPts val="1904"/>
              </a:lnSpc>
              <a:spcBef>
                <a:spcPts val="0"/>
              </a:spcBef>
              <a:spcAft>
                <a:spcPts val="0"/>
              </a:spcAft>
            </a:pPr>
            <a:r>
              <a:rPr sz="1700" b="1">
                <a:solidFill>
                  <a:srgbClr val="FFFFFF"/>
                </a:solidFill>
                <a:latin typeface="Aptos"/>
              </a:rPr>
              <a:t>Choose the model operating model without rebuilding the domain’s agent setup.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THE PLATFORM</a:t>
            </a:r>
          </a:p>
        </p:txBody>
      </p:sp>
      <p:sp>
        <p:nvSpPr>
          <p:cNvPr id="5" name="Rectangle 4"/>
          <p:cNvSpPr/>
          <p:nvPr/>
        </p:nvSpPr>
        <p:spPr>
          <a:xfrm>
            <a:off x="3383280"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CREATE AGENTS</a:t>
            </a:r>
          </a:p>
        </p:txBody>
      </p:sp>
      <p:sp>
        <p:nvSpPr>
          <p:cNvPr id="7" name="Rectangle 6"/>
          <p:cNvSpPr/>
          <p:nvPr/>
        </p:nvSpPr>
        <p:spPr>
          <a:xfrm>
            <a:off x="6236208" y="539496"/>
            <a:ext cx="2606040" cy="3200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6208"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1">
                <a:solidFill>
                  <a:srgbClr val="007C83"/>
                </a:solidFill>
                <a:latin typeface="Aptos"/>
              </a:rPr>
              <a:t>CONTROL + OPERATE</a:t>
            </a:r>
          </a:p>
        </p:txBody>
      </p:sp>
      <p:sp>
        <p:nvSpPr>
          <p:cNvPr id="9" name="Rectangle 8"/>
          <p:cNvSpPr/>
          <p:nvPr/>
        </p:nvSpPr>
        <p:spPr>
          <a:xfrm>
            <a:off x="9089136"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89136"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REUSE + SCALE</a:t>
            </a:r>
          </a:p>
        </p:txBody>
      </p:sp>
      <p:sp>
        <p:nvSpPr>
          <p:cNvPr id="11" name="TextBox 10"/>
          <p:cNvSpPr txBox="1"/>
          <p:nvPr/>
        </p:nvSpPr>
        <p:spPr>
          <a:xfrm>
            <a:off x="530352" y="768096"/>
            <a:ext cx="11128248" cy="210312"/>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007C83"/>
                </a:solidFill>
                <a:latin typeface="Aptos"/>
              </a:rPr>
              <a:t>DEPLOY THE SHARED FOUNDATION</a:t>
            </a:r>
          </a:p>
        </p:txBody>
      </p:sp>
      <p:sp>
        <p:nvSpPr>
          <p:cNvPr id="12" name="TextBox 11"/>
          <p:cNvSpPr txBox="1"/>
          <p:nvPr/>
        </p:nvSpPr>
        <p:spPr>
          <a:xfrm>
            <a:off x="530352" y="1078992"/>
            <a:ext cx="11128248" cy="594360"/>
          </a:xfrm>
          <a:prstGeom prst="rect">
            <a:avLst/>
          </a:prstGeom>
          <a:noFill/>
        </p:spPr>
        <p:txBody>
          <a:bodyPr wrap="square" lIns="13716" rIns="13716" tIns="22860" bIns="22860">
            <a:spAutoFit/>
          </a:bodyPr>
          <a:lstStyle/>
          <a:p>
            <a:pPr algn="l">
              <a:lnSpc>
                <a:spcPts val="3360"/>
              </a:lnSpc>
              <a:spcBef>
                <a:spcPts val="0"/>
              </a:spcBef>
              <a:spcAft>
                <a:spcPts val="0"/>
              </a:spcAft>
            </a:pPr>
            <a:r>
              <a:rPr sz="3000" b="1">
                <a:solidFill>
                  <a:srgbClr val="122743"/>
                </a:solidFill>
                <a:latin typeface="Aptos"/>
              </a:rPr>
              <a:t>Choose how the platform runs and where models are served.</a:t>
            </a:r>
          </a:p>
        </p:txBody>
      </p:sp>
      <p:sp>
        <p:nvSpPr>
          <p:cNvPr id="13" name="TextBox 12"/>
          <p:cNvSpPr txBox="1"/>
          <p:nvPr/>
        </p:nvSpPr>
        <p:spPr>
          <a:xfrm>
            <a:off x="548640" y="1746504"/>
            <a:ext cx="11064240" cy="5943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Application services and model serving have separate configuration and infrastructure requirements.</a:t>
            </a:r>
          </a:p>
        </p:txBody>
      </p:sp>
      <p:sp>
        <p:nvSpPr>
          <p:cNvPr id="14" name="Rectangle 13"/>
          <p:cNvSpPr/>
          <p:nvPr/>
        </p:nvSpPr>
        <p:spPr>
          <a:xfrm>
            <a:off x="530352" y="6437376"/>
            <a:ext cx="11128248" cy="11887"/>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537960"/>
            <a:ext cx="7315200" cy="173736"/>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AGENT TEMPLATE STUDIO  /  CODEBASE UPDATE  /  03 OCT 2026</a:t>
            </a:r>
          </a:p>
        </p:txBody>
      </p:sp>
      <p:sp>
        <p:nvSpPr>
          <p:cNvPr id="16" name="TextBox 15"/>
          <p:cNvSpPr txBox="1"/>
          <p:nvPr/>
        </p:nvSpPr>
        <p:spPr>
          <a:xfrm>
            <a:off x="11000232" y="6492240"/>
            <a:ext cx="594360" cy="228600"/>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07</a:t>
            </a:r>
          </a:p>
        </p:txBody>
      </p:sp>
      <p:sp>
        <p:nvSpPr>
          <p:cNvPr id="17" name="TextBox 16"/>
          <p:cNvSpPr txBox="1"/>
          <p:nvPr/>
        </p:nvSpPr>
        <p:spPr>
          <a:xfrm>
            <a:off x="557784" y="6044184"/>
            <a:ext cx="11064240" cy="292608"/>
          </a:xfrm>
          <a:prstGeom prst="rect">
            <a:avLst/>
          </a:prstGeom>
          <a:noFill/>
        </p:spPr>
        <p:txBody>
          <a:bodyPr wrap="square" lIns="13716" rIns="13716" tIns="22860" bIns="22860">
            <a:spAutoFit/>
          </a:bodyPr>
          <a:lstStyle/>
          <a:p>
            <a:pPr algn="l">
              <a:lnSpc>
                <a:spcPts val="1232"/>
              </a:lnSpc>
              <a:spcBef>
                <a:spcPts val="0"/>
              </a:spcBef>
              <a:spcAft>
                <a:spcPts val="0"/>
              </a:spcAft>
            </a:pPr>
            <a:r>
              <a:rPr sz="1100" b="0">
                <a:solidFill>
                  <a:srgbClr val="5C6F83"/>
                </a:solidFill>
                <a:latin typeface="Aptos"/>
              </a:rPr>
              <a:t>The launcher supports Compose and an existing Kind cluster. GPU inference requires its own readiness validation.</a:t>
            </a:r>
          </a:p>
        </p:txBody>
      </p:sp>
      <p:sp>
        <p:nvSpPr>
          <p:cNvPr id="18" name="Rounded Rectangle 17"/>
          <p:cNvSpPr/>
          <p:nvPr/>
        </p:nvSpPr>
        <p:spPr>
          <a:xfrm>
            <a:off x="548640" y="2615184"/>
            <a:ext cx="3584448" cy="3108960"/>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2852928"/>
            <a:ext cx="41148" cy="402336"/>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43784"/>
            <a:ext cx="3035808"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235CC4"/>
                </a:solidFill>
                <a:latin typeface="Aptos"/>
              </a:rPr>
              <a:t>PLATFORM SERVICES</a:t>
            </a:r>
          </a:p>
        </p:txBody>
      </p:sp>
      <p:sp>
        <p:nvSpPr>
          <p:cNvPr id="21" name="TextBox 20"/>
          <p:cNvSpPr txBox="1"/>
          <p:nvPr/>
        </p:nvSpPr>
        <p:spPr>
          <a:xfrm>
            <a:off x="758952" y="3419856"/>
            <a:ext cx="3163824"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Run the foundation</a:t>
            </a:r>
          </a:p>
        </p:txBody>
      </p:sp>
      <p:sp>
        <p:nvSpPr>
          <p:cNvPr id="22" name="TextBox 21"/>
          <p:cNvSpPr txBox="1"/>
          <p:nvPr/>
        </p:nvSpPr>
        <p:spPr>
          <a:xfrm>
            <a:off x="758952" y="4315968"/>
            <a:ext cx="3163824" cy="12801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Studio + host integration</a:t>
            </a:r>
          </a:p>
          <a:p>
            <a:pPr algn="l">
              <a:lnSpc>
                <a:spcPts val="1792"/>
              </a:lnSpc>
              <a:spcBef>
                <a:spcPts val="0"/>
              </a:spcBef>
              <a:spcAft>
                <a:spcPts val="0"/>
              </a:spcAft>
            </a:pPr>
            <a:r>
              <a:rPr sz="1600" b="0">
                <a:solidFill>
                  <a:srgbClr val="5C6F83"/>
                </a:solidFill>
                <a:latin typeface="Aptos"/>
              </a:rPr>
              <a:t>Agent APIs and runtime</a:t>
            </a:r>
          </a:p>
          <a:p>
            <a:pPr algn="l">
              <a:lnSpc>
                <a:spcPts val="1792"/>
              </a:lnSpc>
              <a:spcBef>
                <a:spcPts val="0"/>
              </a:spcBef>
              <a:spcAft>
                <a:spcPts val="0"/>
              </a:spcAft>
            </a:pPr>
            <a:r>
              <a:rPr sz="1600" b="0">
                <a:solidFill>
                  <a:srgbClr val="5C6F83"/>
                </a:solidFill>
                <a:latin typeface="Aptos"/>
              </a:rPr>
              <a:t>Database and event services</a:t>
            </a:r>
          </a:p>
        </p:txBody>
      </p:sp>
      <p:sp>
        <p:nvSpPr>
          <p:cNvPr id="23" name="Rounded Rectangle 22"/>
          <p:cNvSpPr/>
          <p:nvPr/>
        </p:nvSpPr>
        <p:spPr>
          <a:xfrm>
            <a:off x="4297679" y="2615184"/>
            <a:ext cx="3584448" cy="3108960"/>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80559" y="2852928"/>
            <a:ext cx="41148" cy="402336"/>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3440" y="2843784"/>
            <a:ext cx="3035808"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MODEL SERVICES</a:t>
            </a:r>
          </a:p>
        </p:txBody>
      </p:sp>
      <p:sp>
        <p:nvSpPr>
          <p:cNvPr id="26" name="TextBox 25"/>
          <p:cNvSpPr txBox="1"/>
          <p:nvPr/>
        </p:nvSpPr>
        <p:spPr>
          <a:xfrm>
            <a:off x="4507992" y="3419856"/>
            <a:ext cx="3163824"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Choose inference</a:t>
            </a:r>
          </a:p>
        </p:txBody>
      </p:sp>
      <p:sp>
        <p:nvSpPr>
          <p:cNvPr id="27" name="TextBox 26"/>
          <p:cNvSpPr txBox="1"/>
          <p:nvPr/>
        </p:nvSpPr>
        <p:spPr>
          <a:xfrm>
            <a:off x="4507992" y="4315968"/>
            <a:ext cx="3163824" cy="12801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Approved managed endpoints</a:t>
            </a:r>
          </a:p>
          <a:p>
            <a:pPr algn="l">
              <a:lnSpc>
                <a:spcPts val="1792"/>
              </a:lnSpc>
              <a:spcBef>
                <a:spcPts val="0"/>
              </a:spcBef>
              <a:spcAft>
                <a:spcPts val="0"/>
              </a:spcAft>
            </a:pPr>
            <a:r>
              <a:rPr sz="1600" b="0">
                <a:solidFill>
                  <a:srgbClr val="5C6F83"/>
                </a:solidFill>
                <a:latin typeface="Aptos"/>
              </a:rPr>
              <a:t>Private compatible endpoints</a:t>
            </a:r>
          </a:p>
          <a:p>
            <a:pPr algn="l">
              <a:lnSpc>
                <a:spcPts val="1792"/>
              </a:lnSpc>
              <a:spcBef>
                <a:spcPts val="0"/>
              </a:spcBef>
              <a:spcAft>
                <a:spcPts val="0"/>
              </a:spcAft>
            </a:pPr>
            <a:r>
              <a:rPr sz="1600" b="0">
                <a:solidFill>
                  <a:srgbClr val="5C6F83"/>
                </a:solidFill>
                <a:latin typeface="Aptos"/>
              </a:rPr>
              <a:t>Optional GPU model serving</a:t>
            </a:r>
          </a:p>
        </p:txBody>
      </p:sp>
      <p:sp>
        <p:nvSpPr>
          <p:cNvPr id="28" name="Rounded Rectangle 27"/>
          <p:cNvSpPr/>
          <p:nvPr/>
        </p:nvSpPr>
        <p:spPr>
          <a:xfrm>
            <a:off x="8046719" y="2615184"/>
            <a:ext cx="3584448" cy="3108960"/>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29599" y="2852928"/>
            <a:ext cx="41148" cy="402336"/>
          </a:xfrm>
          <a:prstGeom prst="rect">
            <a:avLst/>
          </a:prstGeom>
          <a:solidFill>
            <a:srgbClr val="765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80" y="2843784"/>
            <a:ext cx="3035808"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7650A6"/>
                </a:solidFill>
                <a:latin typeface="Aptos"/>
              </a:rPr>
              <a:t>OPERATING OWNERSHIP</a:t>
            </a:r>
          </a:p>
        </p:txBody>
      </p:sp>
      <p:sp>
        <p:nvSpPr>
          <p:cNvPr id="31" name="TextBox 30"/>
          <p:cNvSpPr txBox="1"/>
          <p:nvPr/>
        </p:nvSpPr>
        <p:spPr>
          <a:xfrm>
            <a:off x="8257031" y="3419856"/>
            <a:ext cx="3163824"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Manage centrally</a:t>
            </a:r>
          </a:p>
        </p:txBody>
      </p:sp>
      <p:sp>
        <p:nvSpPr>
          <p:cNvPr id="32" name="TextBox 31"/>
          <p:cNvSpPr txBox="1"/>
          <p:nvPr/>
        </p:nvSpPr>
        <p:spPr>
          <a:xfrm>
            <a:off x="8257031" y="4315968"/>
            <a:ext cx="3163824" cy="12801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Deployment configuration</a:t>
            </a:r>
          </a:p>
          <a:p>
            <a:pPr algn="l">
              <a:lnSpc>
                <a:spcPts val="1792"/>
              </a:lnSpc>
              <a:spcBef>
                <a:spcPts val="0"/>
              </a:spcBef>
              <a:spcAft>
                <a:spcPts val="0"/>
              </a:spcAft>
            </a:pPr>
            <a:r>
              <a:rPr sz="1600" b="0">
                <a:solidFill>
                  <a:srgbClr val="5C6F83"/>
                </a:solidFill>
                <a:latin typeface="Aptos"/>
              </a:rPr>
              <a:t>Credentials and connections</a:t>
            </a:r>
          </a:p>
          <a:p>
            <a:pPr algn="l">
              <a:lnSpc>
                <a:spcPts val="1792"/>
              </a:lnSpc>
              <a:spcBef>
                <a:spcPts val="0"/>
              </a:spcBef>
              <a:spcAft>
                <a:spcPts val="0"/>
              </a:spcAft>
            </a:pPr>
            <a:r>
              <a:rPr sz="1600" b="0">
                <a:solidFill>
                  <a:srgbClr val="5C6F83"/>
                </a:solidFill>
                <a:latin typeface="Aptos"/>
              </a:rPr>
              <a:t>Health and usage visibility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THE PLATFORM</a:t>
            </a:r>
          </a:p>
        </p:txBody>
      </p:sp>
      <p:sp>
        <p:nvSpPr>
          <p:cNvPr id="5" name="Rectangle 4"/>
          <p:cNvSpPr/>
          <p:nvPr/>
        </p:nvSpPr>
        <p:spPr>
          <a:xfrm>
            <a:off x="3383280"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CREATE AGENTS</a:t>
            </a:r>
          </a:p>
        </p:txBody>
      </p:sp>
      <p:sp>
        <p:nvSpPr>
          <p:cNvPr id="7" name="Rectangle 6"/>
          <p:cNvSpPr/>
          <p:nvPr/>
        </p:nvSpPr>
        <p:spPr>
          <a:xfrm>
            <a:off x="6236208" y="539496"/>
            <a:ext cx="2606040" cy="3200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6208"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1">
                <a:solidFill>
                  <a:srgbClr val="007C83"/>
                </a:solidFill>
                <a:latin typeface="Aptos"/>
              </a:rPr>
              <a:t>CONTROL + OPERATE</a:t>
            </a:r>
          </a:p>
        </p:txBody>
      </p:sp>
      <p:sp>
        <p:nvSpPr>
          <p:cNvPr id="9" name="Rectangle 8"/>
          <p:cNvSpPr/>
          <p:nvPr/>
        </p:nvSpPr>
        <p:spPr>
          <a:xfrm>
            <a:off x="9089136"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89136"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REUSE + SCALE</a:t>
            </a:r>
          </a:p>
        </p:txBody>
      </p:sp>
      <p:sp>
        <p:nvSpPr>
          <p:cNvPr id="11" name="TextBox 10"/>
          <p:cNvSpPr txBox="1"/>
          <p:nvPr/>
        </p:nvSpPr>
        <p:spPr>
          <a:xfrm>
            <a:off x="530352" y="768096"/>
            <a:ext cx="11128248" cy="210312"/>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007C83"/>
                </a:solidFill>
                <a:latin typeface="Aptos"/>
              </a:rPr>
              <a:t>DATA AND API CONTROL</a:t>
            </a:r>
          </a:p>
        </p:txBody>
      </p:sp>
      <p:sp>
        <p:nvSpPr>
          <p:cNvPr id="12" name="TextBox 11"/>
          <p:cNvSpPr txBox="1"/>
          <p:nvPr/>
        </p:nvSpPr>
        <p:spPr>
          <a:xfrm>
            <a:off x="530352" y="1078992"/>
            <a:ext cx="11128248" cy="594360"/>
          </a:xfrm>
          <a:prstGeom prst="rect">
            <a:avLst/>
          </a:prstGeom>
          <a:noFill/>
        </p:spPr>
        <p:txBody>
          <a:bodyPr wrap="square" lIns="13716" rIns="13716" tIns="22860" bIns="22860">
            <a:spAutoFit/>
          </a:bodyPr>
          <a:lstStyle/>
          <a:p>
            <a:pPr algn="l">
              <a:lnSpc>
                <a:spcPts val="3360"/>
              </a:lnSpc>
              <a:spcBef>
                <a:spcPts val="0"/>
              </a:spcBef>
              <a:spcAft>
                <a:spcPts val="0"/>
              </a:spcAft>
            </a:pPr>
            <a:r>
              <a:rPr sz="3000" b="1">
                <a:solidFill>
                  <a:srgbClr val="122743"/>
                </a:solidFill>
                <a:latin typeface="Aptos"/>
              </a:rPr>
              <a:t>Connect domain data through approved services.</a:t>
            </a:r>
          </a:p>
        </p:txBody>
      </p:sp>
      <p:sp>
        <p:nvSpPr>
          <p:cNvPr id="13" name="TextBox 12"/>
          <p:cNvSpPr txBox="1"/>
          <p:nvPr/>
        </p:nvSpPr>
        <p:spPr>
          <a:xfrm>
            <a:off x="548640" y="1746504"/>
            <a:ext cx="11064240" cy="5943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The platform connects an agent’s purpose to registered APIs and explicit business access permissions.</a:t>
            </a:r>
          </a:p>
        </p:txBody>
      </p:sp>
      <p:sp>
        <p:nvSpPr>
          <p:cNvPr id="14" name="Rectangle 13"/>
          <p:cNvSpPr/>
          <p:nvPr/>
        </p:nvSpPr>
        <p:spPr>
          <a:xfrm>
            <a:off x="530352" y="6437376"/>
            <a:ext cx="11128248" cy="11887"/>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537960"/>
            <a:ext cx="7315200" cy="173736"/>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AGENT TEMPLATE STUDIO  /  CODEBASE UPDATE  /  03 OCT 2026</a:t>
            </a:r>
          </a:p>
        </p:txBody>
      </p:sp>
      <p:sp>
        <p:nvSpPr>
          <p:cNvPr id="16" name="TextBox 15"/>
          <p:cNvSpPr txBox="1"/>
          <p:nvPr/>
        </p:nvSpPr>
        <p:spPr>
          <a:xfrm>
            <a:off x="11000232" y="6492240"/>
            <a:ext cx="594360" cy="228600"/>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08</a:t>
            </a:r>
          </a:p>
        </p:txBody>
      </p:sp>
      <p:sp>
        <p:nvSpPr>
          <p:cNvPr id="17" name="TextBox 16"/>
          <p:cNvSpPr txBox="1"/>
          <p:nvPr/>
        </p:nvSpPr>
        <p:spPr>
          <a:xfrm>
            <a:off x="557784" y="6044184"/>
            <a:ext cx="11064240" cy="292608"/>
          </a:xfrm>
          <a:prstGeom prst="rect">
            <a:avLst/>
          </a:prstGeom>
          <a:noFill/>
        </p:spPr>
        <p:txBody>
          <a:bodyPr wrap="square" lIns="13716" rIns="13716" tIns="22860" bIns="22860">
            <a:spAutoFit/>
          </a:bodyPr>
          <a:lstStyle/>
          <a:p>
            <a:pPr algn="l">
              <a:lnSpc>
                <a:spcPts val="1232"/>
              </a:lnSpc>
              <a:spcBef>
                <a:spcPts val="0"/>
              </a:spcBef>
              <a:spcAft>
                <a:spcPts val="0"/>
              </a:spcAft>
            </a:pPr>
            <a:r>
              <a:rPr sz="1100" b="0">
                <a:solidFill>
                  <a:srgbClr val="5C6F83"/>
                </a:solidFill>
                <a:latin typeface="Aptos"/>
              </a:rPr>
              <a:t>New systems require an implemented adapter or integration. Selecting an API does not create new business actions.</a:t>
            </a:r>
          </a:p>
        </p:txBody>
      </p:sp>
      <p:sp>
        <p:nvSpPr>
          <p:cNvPr id="18" name="Rounded Rectangle 17"/>
          <p:cNvSpPr/>
          <p:nvPr/>
        </p:nvSpPr>
        <p:spPr>
          <a:xfrm>
            <a:off x="548640" y="2615184"/>
            <a:ext cx="3584448" cy="2633472"/>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2852928"/>
            <a:ext cx="41148" cy="402336"/>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43784"/>
            <a:ext cx="3035808"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235CC4"/>
                </a:solidFill>
                <a:latin typeface="Aptos"/>
              </a:rPr>
              <a:t>REGISTER</a:t>
            </a:r>
          </a:p>
        </p:txBody>
      </p:sp>
      <p:sp>
        <p:nvSpPr>
          <p:cNvPr id="21" name="TextBox 20"/>
          <p:cNvSpPr txBox="1"/>
          <p:nvPr/>
        </p:nvSpPr>
        <p:spPr>
          <a:xfrm>
            <a:off x="758952" y="3419856"/>
            <a:ext cx="3163824"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Approved API catalog</a:t>
            </a:r>
          </a:p>
        </p:txBody>
      </p:sp>
      <p:sp>
        <p:nvSpPr>
          <p:cNvPr id="22" name="TextBox 21"/>
          <p:cNvSpPr txBox="1"/>
          <p:nvPr/>
        </p:nvSpPr>
        <p:spPr>
          <a:xfrm>
            <a:off x="758952" y="4315968"/>
            <a:ext cx="3163824" cy="804671"/>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Define available services.</a:t>
            </a:r>
          </a:p>
          <a:p>
            <a:pPr algn="l">
              <a:lnSpc>
                <a:spcPts val="1792"/>
              </a:lnSpc>
              <a:spcBef>
                <a:spcPts val="0"/>
              </a:spcBef>
              <a:spcAft>
                <a:spcPts val="0"/>
              </a:spcAft>
            </a:pPr>
            <a:r>
              <a:rPr sz="1600" b="0">
                <a:solidFill>
                  <a:srgbClr val="5C6F83"/>
                </a:solidFill>
                <a:latin typeface="Aptos"/>
              </a:rPr>
              <a:t>Describe operations.</a:t>
            </a:r>
          </a:p>
          <a:p>
            <a:pPr algn="l">
              <a:lnSpc>
                <a:spcPts val="1792"/>
              </a:lnSpc>
              <a:spcBef>
                <a:spcPts val="0"/>
              </a:spcBef>
              <a:spcAft>
                <a:spcPts val="0"/>
              </a:spcAft>
            </a:pPr>
            <a:r>
              <a:rPr sz="1600" b="0">
                <a:solidFill>
                  <a:srgbClr val="5C6F83"/>
                </a:solidFill>
                <a:latin typeface="Aptos"/>
              </a:rPr>
              <a:t>Make choices visible in setup.</a:t>
            </a:r>
          </a:p>
        </p:txBody>
      </p:sp>
      <p:sp>
        <p:nvSpPr>
          <p:cNvPr id="23" name="Rounded Rectangle 22"/>
          <p:cNvSpPr/>
          <p:nvPr/>
        </p:nvSpPr>
        <p:spPr>
          <a:xfrm>
            <a:off x="4297679" y="2615184"/>
            <a:ext cx="3584448" cy="2633472"/>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80559" y="2852928"/>
            <a:ext cx="41148" cy="402336"/>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3440" y="2843784"/>
            <a:ext cx="3035808"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CONFIGURE</a:t>
            </a:r>
          </a:p>
        </p:txBody>
      </p:sp>
      <p:sp>
        <p:nvSpPr>
          <p:cNvPr id="26" name="TextBox 25"/>
          <p:cNvSpPr txBox="1"/>
          <p:nvPr/>
        </p:nvSpPr>
        <p:spPr>
          <a:xfrm>
            <a:off x="4507992" y="3419856"/>
            <a:ext cx="3163824"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Agent data needs</a:t>
            </a:r>
          </a:p>
        </p:txBody>
      </p:sp>
      <p:sp>
        <p:nvSpPr>
          <p:cNvPr id="27" name="TextBox 26"/>
          <p:cNvSpPr txBox="1"/>
          <p:nvPr/>
        </p:nvSpPr>
        <p:spPr>
          <a:xfrm>
            <a:off x="4507992" y="4315968"/>
            <a:ext cx="3163824" cy="804671"/>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Select app and source APIs.</a:t>
            </a:r>
          </a:p>
          <a:p>
            <a:pPr algn="l">
              <a:lnSpc>
                <a:spcPts val="1792"/>
              </a:lnSpc>
              <a:spcBef>
                <a:spcPts val="0"/>
              </a:spcBef>
              <a:spcAft>
                <a:spcPts val="0"/>
              </a:spcAft>
            </a:pPr>
            <a:r>
              <a:rPr sz="1600" b="0">
                <a:solidFill>
                  <a:srgbClr val="5C6F83"/>
                </a:solidFill>
                <a:latin typeface="Aptos"/>
              </a:rPr>
              <a:t>Choose direct grants or roles.</a:t>
            </a:r>
          </a:p>
          <a:p>
            <a:pPr algn="l">
              <a:lnSpc>
                <a:spcPts val="1792"/>
              </a:lnSpc>
              <a:spcBef>
                <a:spcPts val="0"/>
              </a:spcBef>
              <a:spcAft>
                <a:spcPts val="0"/>
              </a:spcAft>
            </a:pPr>
            <a:r>
              <a:rPr sz="1600" b="0">
                <a:solidFill>
                  <a:srgbClr val="5C6F83"/>
                </a:solidFill>
                <a:latin typeface="Aptos"/>
              </a:rPr>
              <a:t>Save configuration together.</a:t>
            </a:r>
          </a:p>
        </p:txBody>
      </p:sp>
      <p:sp>
        <p:nvSpPr>
          <p:cNvPr id="28" name="Rounded Rectangle 27"/>
          <p:cNvSpPr/>
          <p:nvPr/>
        </p:nvSpPr>
        <p:spPr>
          <a:xfrm>
            <a:off x="8046719" y="2615184"/>
            <a:ext cx="3584448" cy="2633472"/>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29599" y="2852928"/>
            <a:ext cx="41148" cy="402336"/>
          </a:xfrm>
          <a:prstGeom prst="rect">
            <a:avLst/>
          </a:prstGeom>
          <a:solidFill>
            <a:srgbClr val="765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80" y="2843784"/>
            <a:ext cx="3035808"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7650A6"/>
                </a:solidFill>
                <a:latin typeface="Aptos"/>
              </a:rPr>
              <a:t>ENFORCE</a:t>
            </a:r>
          </a:p>
        </p:txBody>
      </p:sp>
      <p:sp>
        <p:nvSpPr>
          <p:cNvPr id="31" name="TextBox 30"/>
          <p:cNvSpPr txBox="1"/>
          <p:nvPr/>
        </p:nvSpPr>
        <p:spPr>
          <a:xfrm>
            <a:off x="8257031" y="3419856"/>
            <a:ext cx="3163824"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Runtime access checks</a:t>
            </a:r>
          </a:p>
        </p:txBody>
      </p:sp>
      <p:sp>
        <p:nvSpPr>
          <p:cNvPr id="32" name="TextBox 31"/>
          <p:cNvSpPr txBox="1"/>
          <p:nvPr/>
        </p:nvSpPr>
        <p:spPr>
          <a:xfrm>
            <a:off x="8257031" y="4315968"/>
            <a:ext cx="3163824" cy="804671"/>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Check permissions before use.</a:t>
            </a:r>
          </a:p>
          <a:p>
            <a:pPr algn="l">
              <a:lnSpc>
                <a:spcPts val="1792"/>
              </a:lnSpc>
              <a:spcBef>
                <a:spcPts val="0"/>
              </a:spcBef>
              <a:spcAft>
                <a:spcPts val="0"/>
              </a:spcAft>
            </a:pPr>
            <a:r>
              <a:rPr sz="1600" b="0">
                <a:solidFill>
                  <a:srgbClr val="5C6F83"/>
                </a:solidFill>
                <a:latin typeface="Aptos"/>
              </a:rPr>
              <a:t>Keep data in the right domain.</a:t>
            </a:r>
          </a:p>
          <a:p>
            <a:pPr algn="l">
              <a:lnSpc>
                <a:spcPts val="1792"/>
              </a:lnSpc>
              <a:spcBef>
                <a:spcPts val="0"/>
              </a:spcBef>
              <a:spcAft>
                <a:spcPts val="0"/>
              </a:spcAft>
            </a:pPr>
            <a:r>
              <a:rPr sz="1600" b="0">
                <a:solidFill>
                  <a:srgbClr val="5C6F83"/>
                </a:solidFill>
                <a:latin typeface="Aptos"/>
              </a:rPr>
              <a:t>Apply changes on the next check.</a:t>
            </a:r>
          </a:p>
        </p:txBody>
      </p:sp>
      <p:sp>
        <p:nvSpPr>
          <p:cNvPr id="33" name="Rounded Rectangle 32"/>
          <p:cNvSpPr/>
          <p:nvPr/>
        </p:nvSpPr>
        <p:spPr>
          <a:xfrm>
            <a:off x="548640" y="5358384"/>
            <a:ext cx="11091672" cy="484632"/>
          </a:xfrm>
          <a:prstGeom prst="roundRect">
            <a:avLst>
              <a:gd name="adj" fmla="val 9000"/>
            </a:avLst>
          </a:prstGeom>
          <a:solidFill>
            <a:srgbClr val="1227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8952" y="5458968"/>
            <a:ext cx="10652760" cy="283464"/>
          </a:xfrm>
          <a:prstGeom prst="rect">
            <a:avLst/>
          </a:prstGeom>
          <a:noFill/>
        </p:spPr>
        <p:txBody>
          <a:bodyPr wrap="square" lIns="13716" rIns="13716" tIns="22860" bIns="22860">
            <a:spAutoFit/>
          </a:bodyPr>
          <a:lstStyle/>
          <a:p>
            <a:pPr algn="l">
              <a:lnSpc>
                <a:spcPts val="1904"/>
              </a:lnSpc>
              <a:spcBef>
                <a:spcPts val="0"/>
              </a:spcBef>
              <a:spcAft>
                <a:spcPts val="0"/>
              </a:spcAft>
            </a:pPr>
            <a:r>
              <a:rPr sz="1700" b="1">
                <a:solidFill>
                  <a:srgbClr val="FFFFFF"/>
                </a:solidFill>
                <a:latin typeface="Aptos"/>
              </a:rPr>
              <a:t>A reusable access path for each domain’s data and integrations.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THE PLATFORM</a:t>
            </a:r>
          </a:p>
        </p:txBody>
      </p:sp>
      <p:sp>
        <p:nvSpPr>
          <p:cNvPr id="5" name="Rectangle 4"/>
          <p:cNvSpPr/>
          <p:nvPr/>
        </p:nvSpPr>
        <p:spPr>
          <a:xfrm>
            <a:off x="3383280"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CREATE AGENTS</a:t>
            </a:r>
          </a:p>
        </p:txBody>
      </p:sp>
      <p:sp>
        <p:nvSpPr>
          <p:cNvPr id="7" name="Rectangle 6"/>
          <p:cNvSpPr/>
          <p:nvPr/>
        </p:nvSpPr>
        <p:spPr>
          <a:xfrm>
            <a:off x="6236208" y="539496"/>
            <a:ext cx="2606040" cy="3200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6208"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1">
                <a:solidFill>
                  <a:srgbClr val="007C83"/>
                </a:solidFill>
                <a:latin typeface="Aptos"/>
              </a:rPr>
              <a:t>CONTROL + OPERATE</a:t>
            </a:r>
          </a:p>
        </p:txBody>
      </p:sp>
      <p:sp>
        <p:nvSpPr>
          <p:cNvPr id="9" name="Rectangle 8"/>
          <p:cNvSpPr/>
          <p:nvPr/>
        </p:nvSpPr>
        <p:spPr>
          <a:xfrm>
            <a:off x="9089136"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89136"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REUSE + SCALE</a:t>
            </a:r>
          </a:p>
        </p:txBody>
      </p:sp>
      <p:sp>
        <p:nvSpPr>
          <p:cNvPr id="11" name="TextBox 10"/>
          <p:cNvSpPr txBox="1"/>
          <p:nvPr/>
        </p:nvSpPr>
        <p:spPr>
          <a:xfrm>
            <a:off x="530352" y="768096"/>
            <a:ext cx="11128248" cy="210312"/>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007C83"/>
                </a:solidFill>
                <a:latin typeface="Aptos"/>
              </a:rPr>
              <a:t>SECURITY THROUGH EXPLICIT CONTROLS</a:t>
            </a:r>
          </a:p>
        </p:txBody>
      </p:sp>
      <p:sp>
        <p:nvSpPr>
          <p:cNvPr id="12" name="TextBox 11"/>
          <p:cNvSpPr txBox="1"/>
          <p:nvPr/>
        </p:nvSpPr>
        <p:spPr>
          <a:xfrm>
            <a:off x="530352" y="1078992"/>
            <a:ext cx="11128248" cy="594360"/>
          </a:xfrm>
          <a:prstGeom prst="rect">
            <a:avLst/>
          </a:prstGeom>
          <a:noFill/>
        </p:spPr>
        <p:txBody>
          <a:bodyPr wrap="square" lIns="13716" rIns="13716" tIns="22860" bIns="22860">
            <a:spAutoFit/>
          </a:bodyPr>
          <a:lstStyle/>
          <a:p>
            <a:pPr algn="l">
              <a:lnSpc>
                <a:spcPts val="3360"/>
              </a:lnSpc>
              <a:spcBef>
                <a:spcPts val="0"/>
              </a:spcBef>
              <a:spcAft>
                <a:spcPts val="0"/>
              </a:spcAft>
            </a:pPr>
            <a:r>
              <a:rPr sz="3000" b="1">
                <a:solidFill>
                  <a:srgbClr val="122743"/>
                </a:solidFill>
                <a:latin typeface="Aptos"/>
              </a:rPr>
              <a:t>Give each agent only the access its task requires.</a:t>
            </a:r>
          </a:p>
        </p:txBody>
      </p:sp>
      <p:sp>
        <p:nvSpPr>
          <p:cNvPr id="13" name="TextBox 12"/>
          <p:cNvSpPr txBox="1"/>
          <p:nvPr/>
        </p:nvSpPr>
        <p:spPr>
          <a:xfrm>
            <a:off x="548640" y="1746504"/>
            <a:ext cx="11064240" cy="5943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Application placement, API permissions and agent-to-agent context reads are separate choices.</a:t>
            </a:r>
          </a:p>
        </p:txBody>
      </p:sp>
      <p:sp>
        <p:nvSpPr>
          <p:cNvPr id="14" name="Rectangle 13"/>
          <p:cNvSpPr/>
          <p:nvPr/>
        </p:nvSpPr>
        <p:spPr>
          <a:xfrm>
            <a:off x="530352" y="6437376"/>
            <a:ext cx="11128248" cy="11887"/>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537960"/>
            <a:ext cx="7315200" cy="173736"/>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AGENT TEMPLATE STUDIO  /  CODEBASE UPDATE  /  03 OCT 2026</a:t>
            </a:r>
          </a:p>
        </p:txBody>
      </p:sp>
      <p:sp>
        <p:nvSpPr>
          <p:cNvPr id="16" name="TextBox 15"/>
          <p:cNvSpPr txBox="1"/>
          <p:nvPr/>
        </p:nvSpPr>
        <p:spPr>
          <a:xfrm>
            <a:off x="11000232" y="6492240"/>
            <a:ext cx="594360" cy="228600"/>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09</a:t>
            </a:r>
          </a:p>
        </p:txBody>
      </p:sp>
      <p:sp>
        <p:nvSpPr>
          <p:cNvPr id="17" name="TextBox 16"/>
          <p:cNvSpPr txBox="1"/>
          <p:nvPr/>
        </p:nvSpPr>
        <p:spPr>
          <a:xfrm>
            <a:off x="557784" y="6044184"/>
            <a:ext cx="11064240" cy="292608"/>
          </a:xfrm>
          <a:prstGeom prst="rect">
            <a:avLst/>
          </a:prstGeom>
          <a:noFill/>
        </p:spPr>
        <p:txBody>
          <a:bodyPr wrap="square" lIns="13716" rIns="13716" tIns="22860" bIns="22860">
            <a:spAutoFit/>
          </a:bodyPr>
          <a:lstStyle/>
          <a:p>
            <a:pPr algn="l">
              <a:lnSpc>
                <a:spcPts val="1232"/>
              </a:lnSpc>
              <a:spcBef>
                <a:spcPts val="0"/>
              </a:spcBef>
              <a:spcAft>
                <a:spcPts val="0"/>
              </a:spcAft>
            </a:pPr>
            <a:r>
              <a:rPr sz="1100" b="0">
                <a:solidFill>
                  <a:srgbClr val="5C6F83"/>
                </a:solidFill>
                <a:latin typeface="Aptos"/>
              </a:rPr>
              <a:t>Current controls are domain-scoped; employee/field-level policies and physical customer isolation require further work.</a:t>
            </a:r>
          </a:p>
        </p:txBody>
      </p:sp>
      <p:sp>
        <p:nvSpPr>
          <p:cNvPr id="18" name="Rounded Rectangle 17"/>
          <p:cNvSpPr/>
          <p:nvPr/>
        </p:nvSpPr>
        <p:spPr>
          <a:xfrm>
            <a:off x="548640" y="2615184"/>
            <a:ext cx="3584448" cy="3108960"/>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2852928"/>
            <a:ext cx="41148" cy="402336"/>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43784"/>
            <a:ext cx="3035808"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235CC4"/>
                </a:solidFill>
                <a:latin typeface="Aptos"/>
              </a:rPr>
              <a:t>PLACEMENT</a:t>
            </a:r>
          </a:p>
        </p:txBody>
      </p:sp>
      <p:sp>
        <p:nvSpPr>
          <p:cNvPr id="21" name="TextBox 20"/>
          <p:cNvSpPr txBox="1"/>
          <p:nvPr/>
        </p:nvSpPr>
        <p:spPr>
          <a:xfrm>
            <a:off x="758952" y="3419856"/>
            <a:ext cx="3163824"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Where it appears</a:t>
            </a:r>
          </a:p>
        </p:txBody>
      </p:sp>
      <p:sp>
        <p:nvSpPr>
          <p:cNvPr id="22" name="TextBox 21"/>
          <p:cNvSpPr txBox="1"/>
          <p:nvPr/>
        </p:nvSpPr>
        <p:spPr>
          <a:xfrm>
            <a:off x="758952" y="4315968"/>
            <a:ext cx="3163824" cy="12801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Attach to an application.</a:t>
            </a:r>
          </a:p>
          <a:p>
            <a:pPr algn="l">
              <a:lnSpc>
                <a:spcPts val="1792"/>
              </a:lnSpc>
              <a:spcBef>
                <a:spcPts val="0"/>
              </a:spcBef>
              <a:spcAft>
                <a:spcPts val="0"/>
              </a:spcAft>
            </a:pPr>
            <a:r>
              <a:rPr sz="1600" b="0">
                <a:solidFill>
                  <a:srgbClr val="5C6F83"/>
                </a:solidFill>
                <a:latin typeface="Aptos"/>
              </a:rPr>
              <a:t>Make the agent discoverable.</a:t>
            </a:r>
          </a:p>
          <a:p>
            <a:pPr algn="l">
              <a:lnSpc>
                <a:spcPts val="1792"/>
              </a:lnSpc>
              <a:spcBef>
                <a:spcPts val="0"/>
              </a:spcBef>
              <a:spcAft>
                <a:spcPts val="0"/>
              </a:spcAft>
            </a:pPr>
            <a:r>
              <a:rPr sz="1600" b="0">
                <a:solidFill>
                  <a:srgbClr val="5C6F83"/>
                </a:solidFill>
                <a:latin typeface="Aptos"/>
              </a:rPr>
              <a:t>Placement grants no data access.</a:t>
            </a:r>
          </a:p>
        </p:txBody>
      </p:sp>
      <p:sp>
        <p:nvSpPr>
          <p:cNvPr id="23" name="Rounded Rectangle 22"/>
          <p:cNvSpPr/>
          <p:nvPr/>
        </p:nvSpPr>
        <p:spPr>
          <a:xfrm>
            <a:off x="4297679" y="2615184"/>
            <a:ext cx="3584448" cy="3108960"/>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80559" y="2852928"/>
            <a:ext cx="41148" cy="402336"/>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3440" y="2843784"/>
            <a:ext cx="3035808"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API ACCESS</a:t>
            </a:r>
          </a:p>
        </p:txBody>
      </p:sp>
      <p:sp>
        <p:nvSpPr>
          <p:cNvPr id="26" name="TextBox 25"/>
          <p:cNvSpPr txBox="1"/>
          <p:nvPr/>
        </p:nvSpPr>
        <p:spPr>
          <a:xfrm>
            <a:off x="4507992" y="3419856"/>
            <a:ext cx="3163824"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What it may use</a:t>
            </a:r>
          </a:p>
        </p:txBody>
      </p:sp>
      <p:sp>
        <p:nvSpPr>
          <p:cNvPr id="27" name="TextBox 26"/>
          <p:cNvSpPr txBox="1"/>
          <p:nvPr/>
        </p:nvSpPr>
        <p:spPr>
          <a:xfrm>
            <a:off x="4507992" y="4315968"/>
            <a:ext cx="3163824" cy="12801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Explicit Read / Write grants.</a:t>
            </a:r>
          </a:p>
          <a:p>
            <a:pPr algn="l">
              <a:lnSpc>
                <a:spcPts val="1792"/>
              </a:lnSpc>
              <a:spcBef>
                <a:spcPts val="0"/>
              </a:spcBef>
              <a:spcAft>
                <a:spcPts val="0"/>
              </a:spcAft>
            </a:pPr>
            <a:r>
              <a:rPr sz="1600" b="0">
                <a:solidFill>
                  <a:srgbClr val="5C6F83"/>
                </a:solidFill>
                <a:latin typeface="Aptos"/>
              </a:rPr>
              <a:t>Direct roles and agent groups.</a:t>
            </a:r>
          </a:p>
          <a:p>
            <a:pPr algn="l">
              <a:lnSpc>
                <a:spcPts val="1792"/>
              </a:lnSpc>
              <a:spcBef>
                <a:spcPts val="0"/>
              </a:spcBef>
              <a:spcAft>
                <a:spcPts val="0"/>
              </a:spcAft>
            </a:pPr>
            <a:r>
              <a:rPr sz="1600" b="0">
                <a:solidFill>
                  <a:srgbClr val="5C6F83"/>
                </a:solidFill>
                <a:latin typeface="Aptos"/>
              </a:rPr>
              <a:t>New agents start without grants.</a:t>
            </a:r>
          </a:p>
        </p:txBody>
      </p:sp>
      <p:sp>
        <p:nvSpPr>
          <p:cNvPr id="28" name="Rounded Rectangle 27"/>
          <p:cNvSpPr/>
          <p:nvPr/>
        </p:nvSpPr>
        <p:spPr>
          <a:xfrm>
            <a:off x="8046719" y="2615184"/>
            <a:ext cx="3584448" cy="3108960"/>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29599" y="2852928"/>
            <a:ext cx="41148" cy="402336"/>
          </a:xfrm>
          <a:prstGeom prst="rect">
            <a:avLst/>
          </a:prstGeom>
          <a:solidFill>
            <a:srgbClr val="765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80" y="2843784"/>
            <a:ext cx="3035808"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7650A6"/>
                </a:solidFill>
                <a:latin typeface="Aptos"/>
              </a:rPr>
              <a:t>CONTEXT ACCESS</a:t>
            </a:r>
          </a:p>
        </p:txBody>
      </p:sp>
      <p:sp>
        <p:nvSpPr>
          <p:cNvPr id="31" name="TextBox 30"/>
          <p:cNvSpPr txBox="1"/>
          <p:nvPr/>
        </p:nvSpPr>
        <p:spPr>
          <a:xfrm>
            <a:off x="8257031" y="3419856"/>
            <a:ext cx="3163824"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Whose work it may read</a:t>
            </a:r>
          </a:p>
        </p:txBody>
      </p:sp>
      <p:sp>
        <p:nvSpPr>
          <p:cNvPr id="32" name="TextBox 31"/>
          <p:cNvSpPr txBox="1"/>
          <p:nvPr/>
        </p:nvSpPr>
        <p:spPr>
          <a:xfrm>
            <a:off x="8257031" y="4315968"/>
            <a:ext cx="3163824" cy="12801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Choose permitted source agents.</a:t>
            </a:r>
          </a:p>
          <a:p>
            <a:pPr algn="l">
              <a:lnSpc>
                <a:spcPts val="1792"/>
              </a:lnSpc>
              <a:spcBef>
                <a:spcPts val="0"/>
              </a:spcBef>
              <a:spcAft>
                <a:spcPts val="0"/>
              </a:spcAft>
            </a:pPr>
            <a:r>
              <a:rPr sz="1600" b="0">
                <a:solidFill>
                  <a:srgbClr val="5C6F83"/>
                </a:solidFill>
                <a:latin typeface="Aptos"/>
              </a:rPr>
              <a:t>Authorize one-way sharing.</a:t>
            </a:r>
          </a:p>
          <a:p>
            <a:pPr algn="l">
              <a:lnSpc>
                <a:spcPts val="1792"/>
              </a:lnSpc>
              <a:spcBef>
                <a:spcPts val="0"/>
              </a:spcBef>
              <a:spcAft>
                <a:spcPts val="0"/>
              </a:spcAft>
            </a:pPr>
            <a:r>
              <a:rPr sz="1600" b="0">
                <a:solidFill>
                  <a:srgbClr val="5C6F83"/>
                </a:solidFill>
                <a:latin typeface="Aptos"/>
              </a:rPr>
              <a:t>Keep source version and scope.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THE PLATFORM</a:t>
            </a:r>
          </a:p>
        </p:txBody>
      </p:sp>
      <p:sp>
        <p:nvSpPr>
          <p:cNvPr id="5" name="Rectangle 4"/>
          <p:cNvSpPr/>
          <p:nvPr/>
        </p:nvSpPr>
        <p:spPr>
          <a:xfrm>
            <a:off x="3383280"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CREATE AGENTS</a:t>
            </a:r>
          </a:p>
        </p:txBody>
      </p:sp>
      <p:sp>
        <p:nvSpPr>
          <p:cNvPr id="7" name="Rectangle 6"/>
          <p:cNvSpPr/>
          <p:nvPr/>
        </p:nvSpPr>
        <p:spPr>
          <a:xfrm>
            <a:off x="6236208" y="539496"/>
            <a:ext cx="2606040" cy="3200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6208"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1">
                <a:solidFill>
                  <a:srgbClr val="007C83"/>
                </a:solidFill>
                <a:latin typeface="Aptos"/>
              </a:rPr>
              <a:t>CONTROL + OPERATE</a:t>
            </a:r>
          </a:p>
        </p:txBody>
      </p:sp>
      <p:sp>
        <p:nvSpPr>
          <p:cNvPr id="9" name="Rectangle 8"/>
          <p:cNvSpPr/>
          <p:nvPr/>
        </p:nvSpPr>
        <p:spPr>
          <a:xfrm>
            <a:off x="9089136"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89136"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REUSE + SCALE</a:t>
            </a:r>
          </a:p>
        </p:txBody>
      </p:sp>
      <p:sp>
        <p:nvSpPr>
          <p:cNvPr id="11" name="TextBox 10"/>
          <p:cNvSpPr txBox="1"/>
          <p:nvPr/>
        </p:nvSpPr>
        <p:spPr>
          <a:xfrm>
            <a:off x="530352" y="768096"/>
            <a:ext cx="11128248" cy="210312"/>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007C83"/>
                </a:solidFill>
                <a:latin typeface="Aptos"/>
              </a:rPr>
              <a:t>CONTROLLED COLLABORATION</a:t>
            </a:r>
          </a:p>
        </p:txBody>
      </p:sp>
      <p:sp>
        <p:nvSpPr>
          <p:cNvPr id="12" name="TextBox 11"/>
          <p:cNvSpPr txBox="1"/>
          <p:nvPr/>
        </p:nvSpPr>
        <p:spPr>
          <a:xfrm>
            <a:off x="530352" y="1078992"/>
            <a:ext cx="11128248" cy="594360"/>
          </a:xfrm>
          <a:prstGeom prst="rect">
            <a:avLst/>
          </a:prstGeom>
          <a:noFill/>
        </p:spPr>
        <p:txBody>
          <a:bodyPr wrap="square" lIns="13716" rIns="13716" tIns="22860" bIns="22860">
            <a:spAutoFit/>
          </a:bodyPr>
          <a:lstStyle/>
          <a:p>
            <a:pPr algn="l">
              <a:lnSpc>
                <a:spcPts val="3360"/>
              </a:lnSpc>
              <a:spcBef>
                <a:spcPts val="0"/>
              </a:spcBef>
              <a:spcAft>
                <a:spcPts val="0"/>
              </a:spcAft>
            </a:pPr>
            <a:r>
              <a:rPr sz="3000" b="1">
                <a:solidFill>
                  <a:srgbClr val="122743"/>
                </a:solidFill>
                <a:latin typeface="Aptos"/>
              </a:rPr>
              <a:t>Compose agents without losing the access boundary.</a:t>
            </a:r>
          </a:p>
        </p:txBody>
      </p:sp>
      <p:sp>
        <p:nvSpPr>
          <p:cNvPr id="13" name="TextBox 12"/>
          <p:cNvSpPr txBox="1"/>
          <p:nvPr/>
        </p:nvSpPr>
        <p:spPr>
          <a:xfrm>
            <a:off x="548640" y="1746504"/>
            <a:ext cx="11064240" cy="5943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The platform can transfer saved, authorized results between agents and record the handoff.</a:t>
            </a:r>
          </a:p>
        </p:txBody>
      </p:sp>
      <p:sp>
        <p:nvSpPr>
          <p:cNvPr id="14" name="Rectangle 13"/>
          <p:cNvSpPr/>
          <p:nvPr/>
        </p:nvSpPr>
        <p:spPr>
          <a:xfrm>
            <a:off x="530352" y="6437376"/>
            <a:ext cx="11128248" cy="11887"/>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537960"/>
            <a:ext cx="7315200" cy="173736"/>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AGENT TEMPLATE STUDIO  /  CODEBASE UPDATE  /  03 OCT 2026</a:t>
            </a:r>
          </a:p>
        </p:txBody>
      </p:sp>
      <p:sp>
        <p:nvSpPr>
          <p:cNvPr id="16" name="TextBox 15"/>
          <p:cNvSpPr txBox="1"/>
          <p:nvPr/>
        </p:nvSpPr>
        <p:spPr>
          <a:xfrm>
            <a:off x="11000232" y="6492240"/>
            <a:ext cx="594360" cy="228600"/>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10</a:t>
            </a:r>
          </a:p>
        </p:txBody>
      </p:sp>
      <p:sp>
        <p:nvSpPr>
          <p:cNvPr id="17" name="Rounded Rectangle 16"/>
          <p:cNvSpPr/>
          <p:nvPr/>
        </p:nvSpPr>
        <p:spPr>
          <a:xfrm>
            <a:off x="548640" y="2615184"/>
            <a:ext cx="3447288" cy="2633472"/>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2852928"/>
            <a:ext cx="41148" cy="402336"/>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2843784"/>
            <a:ext cx="2898648"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235CC4"/>
                </a:solidFill>
                <a:latin typeface="Aptos"/>
              </a:rPr>
              <a:t>SOURCE AGENT</a:t>
            </a:r>
          </a:p>
        </p:txBody>
      </p:sp>
      <p:sp>
        <p:nvSpPr>
          <p:cNvPr id="20" name="TextBox 19"/>
          <p:cNvSpPr txBox="1"/>
          <p:nvPr/>
        </p:nvSpPr>
        <p:spPr>
          <a:xfrm>
            <a:off x="758952" y="3419856"/>
            <a:ext cx="3026664"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Produce a result</a:t>
            </a:r>
          </a:p>
        </p:txBody>
      </p:sp>
      <p:sp>
        <p:nvSpPr>
          <p:cNvPr id="21" name="TextBox 20"/>
          <p:cNvSpPr txBox="1"/>
          <p:nvPr/>
        </p:nvSpPr>
        <p:spPr>
          <a:xfrm>
            <a:off x="758952" y="4315968"/>
            <a:ext cx="3026664" cy="804671"/>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Saved response</a:t>
            </a:r>
          </a:p>
          <a:p>
            <a:pPr algn="l">
              <a:lnSpc>
                <a:spcPts val="1792"/>
              </a:lnSpc>
              <a:spcBef>
                <a:spcPts val="0"/>
              </a:spcBef>
              <a:spcAft>
                <a:spcPts val="0"/>
              </a:spcAft>
            </a:pPr>
            <a:r>
              <a:rPr sz="1600" b="0">
                <a:solidFill>
                  <a:srgbClr val="5C6F83"/>
                </a:solidFill>
                <a:latin typeface="Aptos"/>
              </a:rPr>
              <a:t>Source version</a:t>
            </a:r>
          </a:p>
          <a:p>
            <a:pPr algn="l">
              <a:lnSpc>
                <a:spcPts val="1792"/>
              </a:lnSpc>
              <a:spcBef>
                <a:spcPts val="0"/>
              </a:spcBef>
              <a:spcAft>
                <a:spcPts val="0"/>
              </a:spcAft>
            </a:pPr>
            <a:r>
              <a:rPr sz="1600" b="0">
                <a:solidFill>
                  <a:srgbClr val="5C6F83"/>
                </a:solidFill>
                <a:latin typeface="Aptos"/>
              </a:rPr>
              <a:t>Supporting evidence</a:t>
            </a:r>
          </a:p>
        </p:txBody>
      </p:sp>
      <p:sp>
        <p:nvSpPr>
          <p:cNvPr id="22" name="Chevron 21"/>
          <p:cNvSpPr/>
          <p:nvPr/>
        </p:nvSpPr>
        <p:spPr>
          <a:xfrm>
            <a:off x="4096512" y="3822191"/>
            <a:ext cx="219456" cy="228600"/>
          </a:xfrm>
          <a:prstGeom prst="chevron">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370831" y="2615184"/>
            <a:ext cx="3447288" cy="2633472"/>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53712" y="2852928"/>
            <a:ext cx="41148" cy="402336"/>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36592" y="2843784"/>
            <a:ext cx="2898648"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PLATFORM HANDOFF</a:t>
            </a:r>
          </a:p>
        </p:txBody>
      </p:sp>
      <p:sp>
        <p:nvSpPr>
          <p:cNvPr id="26" name="TextBox 25"/>
          <p:cNvSpPr txBox="1"/>
          <p:nvPr/>
        </p:nvSpPr>
        <p:spPr>
          <a:xfrm>
            <a:off x="4581144" y="3419856"/>
            <a:ext cx="3026664"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Authorize the transfer</a:t>
            </a:r>
          </a:p>
        </p:txBody>
      </p:sp>
      <p:sp>
        <p:nvSpPr>
          <p:cNvPr id="27" name="TextBox 26"/>
          <p:cNvSpPr txBox="1"/>
          <p:nvPr/>
        </p:nvSpPr>
        <p:spPr>
          <a:xfrm>
            <a:off x="4581144" y="4315968"/>
            <a:ext cx="3026664" cy="804671"/>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Discover eligible recipient</a:t>
            </a:r>
          </a:p>
          <a:p>
            <a:pPr algn="l">
              <a:lnSpc>
                <a:spcPts val="1792"/>
              </a:lnSpc>
              <a:spcBef>
                <a:spcPts val="0"/>
              </a:spcBef>
              <a:spcAft>
                <a:spcPts val="0"/>
              </a:spcAft>
            </a:pPr>
            <a:r>
              <a:rPr sz="1600" b="0">
                <a:solidFill>
                  <a:srgbClr val="5C6F83"/>
                </a:solidFill>
                <a:latin typeface="Aptos"/>
              </a:rPr>
              <a:t>Check directional READ</a:t>
            </a:r>
          </a:p>
          <a:p>
            <a:pPr algn="l">
              <a:lnSpc>
                <a:spcPts val="1792"/>
              </a:lnSpc>
              <a:spcBef>
                <a:spcPts val="0"/>
              </a:spcBef>
              <a:spcAft>
                <a:spcPts val="0"/>
              </a:spcAft>
            </a:pPr>
            <a:r>
              <a:rPr sz="1600" b="0">
                <a:solidFill>
                  <a:srgbClr val="5C6F83"/>
                </a:solidFill>
                <a:latin typeface="Aptos"/>
              </a:rPr>
              <a:t>Record message and status</a:t>
            </a:r>
          </a:p>
        </p:txBody>
      </p:sp>
      <p:sp>
        <p:nvSpPr>
          <p:cNvPr id="28" name="Chevron 27"/>
          <p:cNvSpPr/>
          <p:nvPr/>
        </p:nvSpPr>
        <p:spPr>
          <a:xfrm>
            <a:off x="7918704" y="3822191"/>
            <a:ext cx="219456" cy="228600"/>
          </a:xfrm>
          <a:prstGeom prst="chevron">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193023" y="2615184"/>
            <a:ext cx="3447288" cy="2633472"/>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75903" y="2852928"/>
            <a:ext cx="41148" cy="402336"/>
          </a:xfrm>
          <a:prstGeom prst="rect">
            <a:avLst/>
          </a:prstGeom>
          <a:solidFill>
            <a:srgbClr val="765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58784" y="2843784"/>
            <a:ext cx="2898648"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7650A6"/>
                </a:solidFill>
                <a:latin typeface="Aptos"/>
              </a:rPr>
              <a:t>RECEIVING AGENT</a:t>
            </a:r>
          </a:p>
        </p:txBody>
      </p:sp>
      <p:sp>
        <p:nvSpPr>
          <p:cNvPr id="32" name="TextBox 31"/>
          <p:cNvSpPr txBox="1"/>
          <p:nvPr/>
        </p:nvSpPr>
        <p:spPr>
          <a:xfrm>
            <a:off x="8403336" y="3419856"/>
            <a:ext cx="3026664"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Continue the task</a:t>
            </a:r>
          </a:p>
        </p:txBody>
      </p:sp>
      <p:sp>
        <p:nvSpPr>
          <p:cNvPr id="33" name="TextBox 32"/>
          <p:cNvSpPr txBox="1"/>
          <p:nvPr/>
        </p:nvSpPr>
        <p:spPr>
          <a:xfrm>
            <a:off x="8403336" y="4315968"/>
            <a:ext cx="3026664" cy="804671"/>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Use permitted context</a:t>
            </a:r>
          </a:p>
          <a:p>
            <a:pPr algn="l">
              <a:lnSpc>
                <a:spcPts val="1792"/>
              </a:lnSpc>
              <a:spcBef>
                <a:spcPts val="0"/>
              </a:spcBef>
              <a:spcAft>
                <a:spcPts val="0"/>
              </a:spcAft>
            </a:pPr>
            <a:r>
              <a:rPr sz="1600" b="0">
                <a:solidFill>
                  <a:srgbClr val="5C6F83"/>
                </a:solidFill>
                <a:latin typeface="Aptos"/>
              </a:rPr>
              <a:t>Create the next output</a:t>
            </a:r>
          </a:p>
          <a:p>
            <a:pPr algn="l">
              <a:lnSpc>
                <a:spcPts val="1792"/>
              </a:lnSpc>
              <a:spcBef>
                <a:spcPts val="0"/>
              </a:spcBef>
              <a:spcAft>
                <a:spcPts val="0"/>
              </a:spcAft>
            </a:pPr>
            <a:r>
              <a:rPr sz="1600" b="0">
                <a:solidFill>
                  <a:srgbClr val="5C6F83"/>
                </a:solidFill>
                <a:latin typeface="Aptos"/>
              </a:rPr>
              <a:t>Store the resulting artifacts</a:t>
            </a:r>
          </a:p>
        </p:txBody>
      </p:sp>
      <p:sp>
        <p:nvSpPr>
          <p:cNvPr id="34" name="Rounded Rectangle 33"/>
          <p:cNvSpPr/>
          <p:nvPr/>
        </p:nvSpPr>
        <p:spPr>
          <a:xfrm>
            <a:off x="548640" y="5358384"/>
            <a:ext cx="11091672" cy="484632"/>
          </a:xfrm>
          <a:prstGeom prst="roundRect">
            <a:avLst>
              <a:gd name="adj" fmla="val 9000"/>
            </a:avLst>
          </a:prstGeom>
          <a:solidFill>
            <a:srgbClr val="1227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8952" y="5458968"/>
            <a:ext cx="10652760" cy="283464"/>
          </a:xfrm>
          <a:prstGeom prst="rect">
            <a:avLst/>
          </a:prstGeom>
          <a:noFill/>
        </p:spPr>
        <p:txBody>
          <a:bodyPr wrap="square" lIns="13716" rIns="13716" tIns="22860" bIns="22860">
            <a:spAutoFit/>
          </a:bodyPr>
          <a:lstStyle/>
          <a:p>
            <a:pPr algn="l">
              <a:lnSpc>
                <a:spcPts val="1904"/>
              </a:lnSpc>
              <a:spcBef>
                <a:spcPts val="0"/>
              </a:spcBef>
              <a:spcAft>
                <a:spcPts val="0"/>
              </a:spcAft>
            </a:pPr>
            <a:r>
              <a:rPr sz="1700" b="1">
                <a:solidFill>
                  <a:srgbClr val="FFFFFF"/>
                </a:solidFill>
                <a:latin typeface="Aptos"/>
              </a:rPr>
              <a:t>Reuse evidence across agents while keeping permissions, context and provenance explicit.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THE PLATFORM</a:t>
            </a:r>
          </a:p>
        </p:txBody>
      </p:sp>
      <p:sp>
        <p:nvSpPr>
          <p:cNvPr id="5" name="Rectangle 4"/>
          <p:cNvSpPr/>
          <p:nvPr/>
        </p:nvSpPr>
        <p:spPr>
          <a:xfrm>
            <a:off x="3383280"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CREATE AGENTS</a:t>
            </a:r>
          </a:p>
        </p:txBody>
      </p:sp>
      <p:sp>
        <p:nvSpPr>
          <p:cNvPr id="7" name="Rectangle 6"/>
          <p:cNvSpPr/>
          <p:nvPr/>
        </p:nvSpPr>
        <p:spPr>
          <a:xfrm>
            <a:off x="6236208"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6208"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CONTROL + OPERATE</a:t>
            </a:r>
          </a:p>
        </p:txBody>
      </p:sp>
      <p:sp>
        <p:nvSpPr>
          <p:cNvPr id="9" name="Rectangle 8"/>
          <p:cNvSpPr/>
          <p:nvPr/>
        </p:nvSpPr>
        <p:spPr>
          <a:xfrm>
            <a:off x="9089136" y="539496"/>
            <a:ext cx="2606040" cy="3200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89136"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1">
                <a:solidFill>
                  <a:srgbClr val="007C83"/>
                </a:solidFill>
                <a:latin typeface="Aptos"/>
              </a:rPr>
              <a:t>REUSE + SCALE</a:t>
            </a:r>
          </a:p>
        </p:txBody>
      </p:sp>
      <p:sp>
        <p:nvSpPr>
          <p:cNvPr id="11" name="TextBox 10"/>
          <p:cNvSpPr txBox="1"/>
          <p:nvPr/>
        </p:nvSpPr>
        <p:spPr>
          <a:xfrm>
            <a:off x="530352" y="768096"/>
            <a:ext cx="11128248" cy="210312"/>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007C83"/>
                </a:solidFill>
                <a:latin typeface="Aptos"/>
              </a:rPr>
              <a:t>DOMAIN ADOPTION</a:t>
            </a:r>
          </a:p>
        </p:txBody>
      </p:sp>
      <p:sp>
        <p:nvSpPr>
          <p:cNvPr id="12" name="TextBox 11"/>
          <p:cNvSpPr txBox="1"/>
          <p:nvPr/>
        </p:nvSpPr>
        <p:spPr>
          <a:xfrm>
            <a:off x="530352" y="1078992"/>
            <a:ext cx="11128248" cy="594360"/>
          </a:xfrm>
          <a:prstGeom prst="rect">
            <a:avLst/>
          </a:prstGeom>
          <a:noFill/>
        </p:spPr>
        <p:txBody>
          <a:bodyPr wrap="square" lIns="13716" rIns="13716" tIns="22860" bIns="22860">
            <a:spAutoFit/>
          </a:bodyPr>
          <a:lstStyle/>
          <a:p>
            <a:pPr algn="l">
              <a:lnSpc>
                <a:spcPts val="3360"/>
              </a:lnSpc>
              <a:spcBef>
                <a:spcPts val="0"/>
              </a:spcBef>
              <a:spcAft>
                <a:spcPts val="0"/>
              </a:spcAft>
            </a:pPr>
            <a:r>
              <a:rPr sz="3000" b="1">
                <a:solidFill>
                  <a:srgbClr val="122743"/>
                </a:solidFill>
                <a:latin typeface="Aptos"/>
              </a:rPr>
              <a:t>One foundation. Domain-specific agents.</a:t>
            </a:r>
          </a:p>
        </p:txBody>
      </p:sp>
      <p:sp>
        <p:nvSpPr>
          <p:cNvPr id="13" name="TextBox 12"/>
          <p:cNvSpPr txBox="1"/>
          <p:nvPr/>
        </p:nvSpPr>
        <p:spPr>
          <a:xfrm>
            <a:off x="548640" y="1746504"/>
            <a:ext cx="11064240" cy="5943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Add domain-specific data and behavior while reusing creation, model access, permissions and operations.</a:t>
            </a:r>
          </a:p>
        </p:txBody>
      </p:sp>
      <p:sp>
        <p:nvSpPr>
          <p:cNvPr id="14" name="Rectangle 13"/>
          <p:cNvSpPr/>
          <p:nvPr/>
        </p:nvSpPr>
        <p:spPr>
          <a:xfrm>
            <a:off x="530352" y="6437376"/>
            <a:ext cx="11128248" cy="11887"/>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537960"/>
            <a:ext cx="7315200" cy="173736"/>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AGENT TEMPLATE STUDIO  /  CODEBASE UPDATE  /  03 OCT 2026</a:t>
            </a:r>
          </a:p>
        </p:txBody>
      </p:sp>
      <p:sp>
        <p:nvSpPr>
          <p:cNvPr id="16" name="TextBox 15"/>
          <p:cNvSpPr txBox="1"/>
          <p:nvPr/>
        </p:nvSpPr>
        <p:spPr>
          <a:xfrm>
            <a:off x="11000232" y="6492240"/>
            <a:ext cx="594360" cy="228600"/>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11</a:t>
            </a:r>
          </a:p>
        </p:txBody>
      </p:sp>
      <p:sp>
        <p:nvSpPr>
          <p:cNvPr id="17" name="TextBox 16"/>
          <p:cNvSpPr txBox="1"/>
          <p:nvPr/>
        </p:nvSpPr>
        <p:spPr>
          <a:xfrm>
            <a:off x="557784" y="6044184"/>
            <a:ext cx="11064240" cy="292608"/>
          </a:xfrm>
          <a:prstGeom prst="rect">
            <a:avLst/>
          </a:prstGeom>
          <a:noFill/>
        </p:spPr>
        <p:txBody>
          <a:bodyPr wrap="square" lIns="13716" rIns="13716" tIns="22860" bIns="22860">
            <a:spAutoFit/>
          </a:bodyPr>
          <a:lstStyle/>
          <a:p>
            <a:pPr algn="l">
              <a:lnSpc>
                <a:spcPts val="1232"/>
              </a:lnSpc>
              <a:spcBef>
                <a:spcPts val="0"/>
              </a:spcBef>
              <a:spcAft>
                <a:spcPts val="0"/>
              </a:spcAft>
            </a:pPr>
            <a:r>
              <a:rPr sz="1100" b="0">
                <a:solidFill>
                  <a:srgbClr val="5C6F83"/>
                </a:solidFill>
                <a:latin typeface="Aptos"/>
              </a:rPr>
              <a:t>The generic record adapter and Leaves example establish an extension path; new domains still need integration work.</a:t>
            </a:r>
          </a:p>
        </p:txBody>
      </p:sp>
      <p:sp>
        <p:nvSpPr>
          <p:cNvPr id="18" name="Rounded Rectangle 17"/>
          <p:cNvSpPr/>
          <p:nvPr/>
        </p:nvSpPr>
        <p:spPr>
          <a:xfrm>
            <a:off x="548640" y="2615184"/>
            <a:ext cx="5422392" cy="2660904"/>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2852928"/>
            <a:ext cx="41148" cy="402336"/>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43784"/>
            <a:ext cx="4873752"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235CC4"/>
                </a:solidFill>
                <a:latin typeface="Aptos"/>
              </a:rPr>
              <a:t>PLATFORM TEAM</a:t>
            </a:r>
          </a:p>
        </p:txBody>
      </p:sp>
      <p:sp>
        <p:nvSpPr>
          <p:cNvPr id="21" name="TextBox 20"/>
          <p:cNvSpPr txBox="1"/>
          <p:nvPr/>
        </p:nvSpPr>
        <p:spPr>
          <a:xfrm>
            <a:off x="758952" y="3419856"/>
            <a:ext cx="5001768"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Build and operate once</a:t>
            </a:r>
          </a:p>
        </p:txBody>
      </p:sp>
      <p:sp>
        <p:nvSpPr>
          <p:cNvPr id="22" name="TextBox 21"/>
          <p:cNvSpPr txBox="1"/>
          <p:nvPr/>
        </p:nvSpPr>
        <p:spPr>
          <a:xfrm>
            <a:off x="758952" y="4315968"/>
            <a:ext cx="5001768" cy="832104"/>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Templates + factory + runtime</a:t>
            </a:r>
          </a:p>
          <a:p>
            <a:pPr algn="l">
              <a:lnSpc>
                <a:spcPts val="1792"/>
              </a:lnSpc>
              <a:spcBef>
                <a:spcPts val="0"/>
              </a:spcBef>
              <a:spcAft>
                <a:spcPts val="0"/>
              </a:spcAft>
            </a:pPr>
            <a:r>
              <a:rPr sz="1600" b="0">
                <a:solidFill>
                  <a:srgbClr val="5C6F83"/>
                </a:solidFill>
                <a:latin typeface="Aptos"/>
              </a:rPr>
              <a:t>Models + APIs + access controls</a:t>
            </a:r>
          </a:p>
          <a:p>
            <a:pPr algn="l">
              <a:lnSpc>
                <a:spcPts val="1792"/>
              </a:lnSpc>
              <a:spcBef>
                <a:spcPts val="0"/>
              </a:spcBef>
              <a:spcAft>
                <a:spcPts val="0"/>
              </a:spcAft>
            </a:pPr>
            <a:r>
              <a:rPr sz="1600" b="0">
                <a:solidFill>
                  <a:srgbClr val="5C6F83"/>
                </a:solidFill>
                <a:latin typeface="Aptos"/>
              </a:rPr>
              <a:t>Health + evaluation + metrics</a:t>
            </a:r>
          </a:p>
        </p:txBody>
      </p:sp>
      <p:sp>
        <p:nvSpPr>
          <p:cNvPr id="23" name="Rounded Rectangle 22"/>
          <p:cNvSpPr/>
          <p:nvPr/>
        </p:nvSpPr>
        <p:spPr>
          <a:xfrm>
            <a:off x="6227064" y="2615184"/>
            <a:ext cx="5413248" cy="2660904"/>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9944" y="2852928"/>
            <a:ext cx="41148" cy="402336"/>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92824" y="2843784"/>
            <a:ext cx="4864608"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DOMAIN TEAM</a:t>
            </a:r>
          </a:p>
        </p:txBody>
      </p:sp>
      <p:sp>
        <p:nvSpPr>
          <p:cNvPr id="26" name="TextBox 25"/>
          <p:cNvSpPr txBox="1"/>
          <p:nvPr/>
        </p:nvSpPr>
        <p:spPr>
          <a:xfrm>
            <a:off x="6437376" y="3419856"/>
            <a:ext cx="4992624"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Configure and extend</a:t>
            </a:r>
          </a:p>
        </p:txBody>
      </p:sp>
      <p:sp>
        <p:nvSpPr>
          <p:cNvPr id="27" name="TextBox 26"/>
          <p:cNvSpPr txBox="1"/>
          <p:nvPr/>
        </p:nvSpPr>
        <p:spPr>
          <a:xfrm>
            <a:off x="6437376" y="4315968"/>
            <a:ext cx="4992624" cy="832104"/>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Business purpose + instructions</a:t>
            </a:r>
          </a:p>
          <a:p>
            <a:pPr algn="l">
              <a:lnSpc>
                <a:spcPts val="1792"/>
              </a:lnSpc>
              <a:spcBef>
                <a:spcPts val="0"/>
              </a:spcBef>
              <a:spcAft>
                <a:spcPts val="0"/>
              </a:spcAft>
            </a:pPr>
            <a:r>
              <a:rPr sz="1600" b="0">
                <a:solidFill>
                  <a:srgbClr val="5C6F83"/>
                </a:solidFill>
                <a:latin typeface="Aptos"/>
              </a:rPr>
              <a:t>Domain data + rules + tools</a:t>
            </a:r>
          </a:p>
          <a:p>
            <a:pPr algn="l">
              <a:lnSpc>
                <a:spcPts val="1792"/>
              </a:lnSpc>
              <a:spcBef>
                <a:spcPts val="0"/>
              </a:spcBef>
              <a:spcAft>
                <a:spcPts val="0"/>
              </a:spcAft>
            </a:pPr>
            <a:r>
              <a:rPr sz="1600" b="0">
                <a:solidFill>
                  <a:srgbClr val="5C6F83"/>
                </a:solidFill>
                <a:latin typeface="Aptos"/>
              </a:rPr>
              <a:t>Application placement + test cases</a:t>
            </a:r>
          </a:p>
        </p:txBody>
      </p:sp>
      <p:sp>
        <p:nvSpPr>
          <p:cNvPr id="28" name="Rounded Rectangle 27"/>
          <p:cNvSpPr/>
          <p:nvPr/>
        </p:nvSpPr>
        <p:spPr>
          <a:xfrm>
            <a:off x="548640" y="5358384"/>
            <a:ext cx="11091672" cy="484632"/>
          </a:xfrm>
          <a:prstGeom prst="roundRect">
            <a:avLst>
              <a:gd name="adj" fmla="val 9000"/>
            </a:avLst>
          </a:prstGeom>
          <a:solidFill>
            <a:srgbClr val="1227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8952" y="5458968"/>
            <a:ext cx="10652760" cy="283464"/>
          </a:xfrm>
          <a:prstGeom prst="rect">
            <a:avLst/>
          </a:prstGeom>
          <a:noFill/>
        </p:spPr>
        <p:txBody>
          <a:bodyPr wrap="square" lIns="13716" rIns="13716" tIns="22860" bIns="22860">
            <a:spAutoFit/>
          </a:bodyPr>
          <a:lstStyle/>
          <a:p>
            <a:pPr algn="l">
              <a:lnSpc>
                <a:spcPts val="1904"/>
              </a:lnSpc>
              <a:spcBef>
                <a:spcPts val="0"/>
              </a:spcBef>
              <a:spcAft>
                <a:spcPts val="0"/>
              </a:spcAft>
            </a:pPr>
            <a:r>
              <a:rPr sz="1700" b="1">
                <a:solidFill>
                  <a:srgbClr val="FFFFFF"/>
                </a:solidFill>
                <a:latin typeface="Aptos"/>
              </a:rPr>
              <a:t>Payroll → Leaves / HR → Benefits → Insurance → additional business domains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THE PLATFORM</a:t>
            </a:r>
          </a:p>
        </p:txBody>
      </p:sp>
      <p:sp>
        <p:nvSpPr>
          <p:cNvPr id="5" name="Rectangle 4"/>
          <p:cNvSpPr/>
          <p:nvPr/>
        </p:nvSpPr>
        <p:spPr>
          <a:xfrm>
            <a:off x="3383280"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CREATE AGENTS</a:t>
            </a:r>
          </a:p>
        </p:txBody>
      </p:sp>
      <p:sp>
        <p:nvSpPr>
          <p:cNvPr id="7" name="Rectangle 6"/>
          <p:cNvSpPr/>
          <p:nvPr/>
        </p:nvSpPr>
        <p:spPr>
          <a:xfrm>
            <a:off x="6236208" y="539496"/>
            <a:ext cx="2606040" cy="3200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6208"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1">
                <a:solidFill>
                  <a:srgbClr val="007C83"/>
                </a:solidFill>
                <a:latin typeface="Aptos"/>
              </a:rPr>
              <a:t>CONTROL + OPERATE</a:t>
            </a:r>
          </a:p>
        </p:txBody>
      </p:sp>
      <p:sp>
        <p:nvSpPr>
          <p:cNvPr id="9" name="Rectangle 8"/>
          <p:cNvSpPr/>
          <p:nvPr/>
        </p:nvSpPr>
        <p:spPr>
          <a:xfrm>
            <a:off x="9089136"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89136"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REUSE + SCALE</a:t>
            </a:r>
          </a:p>
        </p:txBody>
      </p:sp>
      <p:sp>
        <p:nvSpPr>
          <p:cNvPr id="11" name="TextBox 10"/>
          <p:cNvSpPr txBox="1"/>
          <p:nvPr/>
        </p:nvSpPr>
        <p:spPr>
          <a:xfrm>
            <a:off x="530352" y="768096"/>
            <a:ext cx="11128248" cy="210312"/>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007C83"/>
                </a:solidFill>
                <a:latin typeface="Aptos"/>
              </a:rPr>
              <a:t>SHARED OPERATIONS</a:t>
            </a:r>
          </a:p>
        </p:txBody>
      </p:sp>
      <p:sp>
        <p:nvSpPr>
          <p:cNvPr id="12" name="TextBox 11"/>
          <p:cNvSpPr txBox="1"/>
          <p:nvPr/>
        </p:nvSpPr>
        <p:spPr>
          <a:xfrm>
            <a:off x="530352" y="1078992"/>
            <a:ext cx="11128248" cy="594360"/>
          </a:xfrm>
          <a:prstGeom prst="rect">
            <a:avLst/>
          </a:prstGeom>
          <a:noFill/>
        </p:spPr>
        <p:txBody>
          <a:bodyPr wrap="square" lIns="13716" rIns="13716" tIns="22860" bIns="22860">
            <a:spAutoFit/>
          </a:bodyPr>
          <a:lstStyle/>
          <a:p>
            <a:pPr algn="l">
              <a:lnSpc>
                <a:spcPts val="3360"/>
              </a:lnSpc>
              <a:spcBef>
                <a:spcPts val="0"/>
              </a:spcBef>
              <a:spcAft>
                <a:spcPts val="0"/>
              </a:spcAft>
            </a:pPr>
            <a:r>
              <a:rPr sz="3000" b="1">
                <a:solidFill>
                  <a:srgbClr val="122743"/>
                </a:solidFill>
                <a:latin typeface="Aptos"/>
              </a:rPr>
              <a:t>Manage agent readiness, quality and usage in one place.</a:t>
            </a:r>
          </a:p>
        </p:txBody>
      </p:sp>
      <p:sp>
        <p:nvSpPr>
          <p:cNvPr id="13" name="TextBox 12"/>
          <p:cNvSpPr txBox="1"/>
          <p:nvPr/>
        </p:nvSpPr>
        <p:spPr>
          <a:xfrm>
            <a:off x="548640" y="1746504"/>
            <a:ext cx="11064240" cy="5943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A reusable platform includes the operating loop for the agents it creates.</a:t>
            </a:r>
          </a:p>
        </p:txBody>
      </p:sp>
      <p:sp>
        <p:nvSpPr>
          <p:cNvPr id="14" name="Rectangle 13"/>
          <p:cNvSpPr/>
          <p:nvPr/>
        </p:nvSpPr>
        <p:spPr>
          <a:xfrm>
            <a:off x="530352" y="6437376"/>
            <a:ext cx="11128248" cy="11887"/>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537960"/>
            <a:ext cx="7315200" cy="173736"/>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AGENT TEMPLATE STUDIO  /  CODEBASE UPDATE  /  03 OCT 2026</a:t>
            </a:r>
          </a:p>
        </p:txBody>
      </p:sp>
      <p:sp>
        <p:nvSpPr>
          <p:cNvPr id="16" name="TextBox 15"/>
          <p:cNvSpPr txBox="1"/>
          <p:nvPr/>
        </p:nvSpPr>
        <p:spPr>
          <a:xfrm>
            <a:off x="11000232" y="6492240"/>
            <a:ext cx="594360" cy="228600"/>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12</a:t>
            </a:r>
          </a:p>
        </p:txBody>
      </p:sp>
      <p:sp>
        <p:nvSpPr>
          <p:cNvPr id="17" name="TextBox 16"/>
          <p:cNvSpPr txBox="1"/>
          <p:nvPr/>
        </p:nvSpPr>
        <p:spPr>
          <a:xfrm>
            <a:off x="557784" y="6044184"/>
            <a:ext cx="11064240" cy="292608"/>
          </a:xfrm>
          <a:prstGeom prst="rect">
            <a:avLst/>
          </a:prstGeom>
          <a:noFill/>
        </p:spPr>
        <p:txBody>
          <a:bodyPr wrap="square" lIns="13716" rIns="13716" tIns="22860" bIns="22860">
            <a:spAutoFit/>
          </a:bodyPr>
          <a:lstStyle/>
          <a:p>
            <a:pPr algn="l">
              <a:lnSpc>
                <a:spcPts val="1232"/>
              </a:lnSpc>
              <a:spcBef>
                <a:spcPts val="0"/>
              </a:spcBef>
              <a:spcAft>
                <a:spcPts val="0"/>
              </a:spcAft>
            </a:pPr>
            <a:r>
              <a:rPr sz="1100" b="0">
                <a:solidFill>
                  <a:srgbClr val="5C6F83"/>
                </a:solidFill>
                <a:latin typeface="Aptos"/>
              </a:rPr>
              <a:t>Health checks cover configuration and limited connectivity. Evaluation results depend on the model and available data.</a:t>
            </a:r>
          </a:p>
        </p:txBody>
      </p:sp>
      <p:sp>
        <p:nvSpPr>
          <p:cNvPr id="18" name="Rounded Rectangle 17"/>
          <p:cNvSpPr/>
          <p:nvPr/>
        </p:nvSpPr>
        <p:spPr>
          <a:xfrm>
            <a:off x="548640" y="2615184"/>
            <a:ext cx="3584448" cy="3108960"/>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2852928"/>
            <a:ext cx="41148" cy="402336"/>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43784"/>
            <a:ext cx="3035808"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READY</a:t>
            </a:r>
          </a:p>
        </p:txBody>
      </p:sp>
      <p:sp>
        <p:nvSpPr>
          <p:cNvPr id="21" name="TextBox 20"/>
          <p:cNvSpPr txBox="1"/>
          <p:nvPr/>
        </p:nvSpPr>
        <p:spPr>
          <a:xfrm>
            <a:off x="758952" y="3419856"/>
            <a:ext cx="3163824"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Registry + health</a:t>
            </a:r>
          </a:p>
        </p:txBody>
      </p:sp>
      <p:sp>
        <p:nvSpPr>
          <p:cNvPr id="22" name="TextBox 21"/>
          <p:cNvSpPr txBox="1"/>
          <p:nvPr/>
        </p:nvSpPr>
        <p:spPr>
          <a:xfrm>
            <a:off x="758952" y="4315968"/>
            <a:ext cx="3163824" cy="12801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Find saved agents.</a:t>
            </a:r>
          </a:p>
          <a:p>
            <a:pPr algn="l">
              <a:lnSpc>
                <a:spcPts val="1792"/>
              </a:lnSpc>
              <a:spcBef>
                <a:spcPts val="0"/>
              </a:spcBef>
              <a:spcAft>
                <a:spcPts val="0"/>
              </a:spcAft>
            </a:pPr>
            <a:r>
              <a:rPr sz="1600" b="0">
                <a:solidFill>
                  <a:srgbClr val="5C6F83"/>
                </a:solidFill>
                <a:latin typeface="Aptos"/>
              </a:rPr>
              <a:t>Check configuration.</a:t>
            </a:r>
          </a:p>
          <a:p>
            <a:pPr algn="l">
              <a:lnSpc>
                <a:spcPts val="1792"/>
              </a:lnSpc>
              <a:spcBef>
                <a:spcPts val="0"/>
              </a:spcBef>
              <a:spcAft>
                <a:spcPts val="0"/>
              </a:spcAft>
            </a:pPr>
            <a:r>
              <a:rPr sz="1600" b="0">
                <a:solidFill>
                  <a:srgbClr val="5C6F83"/>
                </a:solidFill>
                <a:latin typeface="Aptos"/>
              </a:rPr>
              <a:t>See connection problems.</a:t>
            </a:r>
          </a:p>
        </p:txBody>
      </p:sp>
      <p:sp>
        <p:nvSpPr>
          <p:cNvPr id="23" name="Rounded Rectangle 22"/>
          <p:cNvSpPr/>
          <p:nvPr/>
        </p:nvSpPr>
        <p:spPr>
          <a:xfrm>
            <a:off x="4297679" y="2615184"/>
            <a:ext cx="3584448" cy="3108960"/>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80559" y="2852928"/>
            <a:ext cx="41148" cy="402336"/>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3440" y="2843784"/>
            <a:ext cx="3035808"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235CC4"/>
                </a:solidFill>
                <a:latin typeface="Aptos"/>
              </a:rPr>
              <a:t>USEFUL</a:t>
            </a:r>
          </a:p>
        </p:txBody>
      </p:sp>
      <p:sp>
        <p:nvSpPr>
          <p:cNvPr id="26" name="TextBox 25"/>
          <p:cNvSpPr txBox="1"/>
          <p:nvPr/>
        </p:nvSpPr>
        <p:spPr>
          <a:xfrm>
            <a:off x="4507992" y="3419856"/>
            <a:ext cx="3163824"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Evaluation</a:t>
            </a:r>
          </a:p>
        </p:txBody>
      </p:sp>
      <p:sp>
        <p:nvSpPr>
          <p:cNvPr id="27" name="TextBox 26"/>
          <p:cNvSpPr txBox="1"/>
          <p:nvPr/>
        </p:nvSpPr>
        <p:spPr>
          <a:xfrm>
            <a:off x="4507992" y="4315968"/>
            <a:ext cx="3163824" cy="12801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Run sample questions.</a:t>
            </a:r>
          </a:p>
          <a:p>
            <a:pPr algn="l">
              <a:lnSpc>
                <a:spcPts val="1792"/>
              </a:lnSpc>
              <a:spcBef>
                <a:spcPts val="0"/>
              </a:spcBef>
              <a:spcAft>
                <a:spcPts val="0"/>
              </a:spcAft>
            </a:pPr>
            <a:r>
              <a:rPr sz="1600" b="0">
                <a:solidFill>
                  <a:srgbClr val="5C6F83"/>
                </a:solidFill>
                <a:latin typeface="Aptos"/>
              </a:rPr>
              <a:t>Check expected answers.</a:t>
            </a:r>
          </a:p>
          <a:p>
            <a:pPr algn="l">
              <a:lnSpc>
                <a:spcPts val="1792"/>
              </a:lnSpc>
              <a:spcBef>
                <a:spcPts val="0"/>
              </a:spcBef>
              <a:spcAft>
                <a:spcPts val="0"/>
              </a:spcAft>
            </a:pPr>
            <a:r>
              <a:rPr sz="1600" b="0">
                <a:solidFill>
                  <a:srgbClr val="5C6F83"/>
                </a:solidFill>
                <a:latin typeface="Aptos"/>
              </a:rPr>
              <a:t>Review failures and improve.</a:t>
            </a:r>
          </a:p>
        </p:txBody>
      </p:sp>
      <p:sp>
        <p:nvSpPr>
          <p:cNvPr id="28" name="Rounded Rectangle 27"/>
          <p:cNvSpPr/>
          <p:nvPr/>
        </p:nvSpPr>
        <p:spPr>
          <a:xfrm>
            <a:off x="8046719" y="2615184"/>
            <a:ext cx="3584448" cy="3108960"/>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29599" y="2852928"/>
            <a:ext cx="41148" cy="402336"/>
          </a:xfrm>
          <a:prstGeom prst="rect">
            <a:avLst/>
          </a:prstGeom>
          <a:solidFill>
            <a:srgbClr val="765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80" y="2843784"/>
            <a:ext cx="3035808"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7650A6"/>
                </a:solidFill>
                <a:latin typeface="Aptos"/>
              </a:rPr>
              <a:t>VISIBLE</a:t>
            </a:r>
          </a:p>
        </p:txBody>
      </p:sp>
      <p:sp>
        <p:nvSpPr>
          <p:cNvPr id="31" name="TextBox 30"/>
          <p:cNvSpPr txBox="1"/>
          <p:nvPr/>
        </p:nvSpPr>
        <p:spPr>
          <a:xfrm>
            <a:off x="8257031" y="3419856"/>
            <a:ext cx="3163824"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Usage + performance</a:t>
            </a:r>
          </a:p>
        </p:txBody>
      </p:sp>
      <p:sp>
        <p:nvSpPr>
          <p:cNvPr id="32" name="TextBox 31"/>
          <p:cNvSpPr txBox="1"/>
          <p:nvPr/>
        </p:nvSpPr>
        <p:spPr>
          <a:xfrm>
            <a:off x="8257031" y="4315968"/>
            <a:ext cx="3163824" cy="12801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Track activity and latency.</a:t>
            </a:r>
          </a:p>
          <a:p>
            <a:pPr algn="l">
              <a:lnSpc>
                <a:spcPts val="1792"/>
              </a:lnSpc>
              <a:spcBef>
                <a:spcPts val="0"/>
              </a:spcBef>
              <a:spcAft>
                <a:spcPts val="0"/>
              </a:spcAft>
            </a:pPr>
            <a:r>
              <a:rPr sz="1600" b="0">
                <a:solidFill>
                  <a:srgbClr val="5C6F83"/>
                </a:solidFill>
                <a:latin typeface="Aptos"/>
              </a:rPr>
              <a:t>Inspect model calls and errors.</a:t>
            </a:r>
          </a:p>
          <a:p>
            <a:pPr algn="l">
              <a:lnSpc>
                <a:spcPts val="1792"/>
              </a:lnSpc>
              <a:spcBef>
                <a:spcPts val="0"/>
              </a:spcBef>
              <a:spcAft>
                <a:spcPts val="0"/>
              </a:spcAft>
            </a:pPr>
            <a:r>
              <a:rPr sz="1600" b="0">
                <a:solidFill>
                  <a:srgbClr val="5C6F83"/>
                </a:solidFill>
                <a:latin typeface="Aptos"/>
              </a:rPr>
              <a:t>Compare agents over time.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THE PLATFORM</a:t>
            </a:r>
          </a:p>
        </p:txBody>
      </p:sp>
      <p:sp>
        <p:nvSpPr>
          <p:cNvPr id="5" name="Rectangle 4"/>
          <p:cNvSpPr/>
          <p:nvPr/>
        </p:nvSpPr>
        <p:spPr>
          <a:xfrm>
            <a:off x="3383280"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CREATE AGENTS</a:t>
            </a:r>
          </a:p>
        </p:txBody>
      </p:sp>
      <p:sp>
        <p:nvSpPr>
          <p:cNvPr id="7" name="Rectangle 6"/>
          <p:cNvSpPr/>
          <p:nvPr/>
        </p:nvSpPr>
        <p:spPr>
          <a:xfrm>
            <a:off x="6236208"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6208"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CONTROL + OPERATE</a:t>
            </a:r>
          </a:p>
        </p:txBody>
      </p:sp>
      <p:sp>
        <p:nvSpPr>
          <p:cNvPr id="9" name="Rectangle 8"/>
          <p:cNvSpPr/>
          <p:nvPr/>
        </p:nvSpPr>
        <p:spPr>
          <a:xfrm>
            <a:off x="9089136" y="539496"/>
            <a:ext cx="2606040" cy="3200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89136"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1">
                <a:solidFill>
                  <a:srgbClr val="007C83"/>
                </a:solidFill>
                <a:latin typeface="Aptos"/>
              </a:rPr>
              <a:t>REUSE + SCALE</a:t>
            </a:r>
          </a:p>
        </p:txBody>
      </p:sp>
      <p:sp>
        <p:nvSpPr>
          <p:cNvPr id="11" name="TextBox 10"/>
          <p:cNvSpPr txBox="1"/>
          <p:nvPr/>
        </p:nvSpPr>
        <p:spPr>
          <a:xfrm>
            <a:off x="530352" y="768096"/>
            <a:ext cx="11128248" cy="210312"/>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007C83"/>
                </a:solidFill>
                <a:latin typeface="Aptos"/>
              </a:rPr>
              <a:t>PLATFORM PROOF POINT: PAYROLL</a:t>
            </a:r>
          </a:p>
        </p:txBody>
      </p:sp>
      <p:sp>
        <p:nvSpPr>
          <p:cNvPr id="12" name="TextBox 11"/>
          <p:cNvSpPr txBox="1"/>
          <p:nvPr/>
        </p:nvSpPr>
        <p:spPr>
          <a:xfrm>
            <a:off x="530352" y="1078992"/>
            <a:ext cx="11128248" cy="594360"/>
          </a:xfrm>
          <a:prstGeom prst="rect">
            <a:avLst/>
          </a:prstGeom>
          <a:noFill/>
        </p:spPr>
        <p:txBody>
          <a:bodyPr wrap="square" lIns="13716" rIns="13716" tIns="22860" bIns="22860">
            <a:spAutoFit/>
          </a:bodyPr>
          <a:lstStyle/>
          <a:p>
            <a:pPr algn="l">
              <a:lnSpc>
                <a:spcPts val="3360"/>
              </a:lnSpc>
              <a:spcBef>
                <a:spcPts val="0"/>
              </a:spcBef>
              <a:spcAft>
                <a:spcPts val="0"/>
              </a:spcAft>
            </a:pPr>
            <a:r>
              <a:rPr sz="3000" b="1">
                <a:solidFill>
                  <a:srgbClr val="122743"/>
                </a:solidFill>
                <a:latin typeface="Aptos"/>
              </a:rPr>
              <a:t>Payroll demonstrates the platform in action.</a:t>
            </a:r>
          </a:p>
        </p:txBody>
      </p:sp>
      <p:sp>
        <p:nvSpPr>
          <p:cNvPr id="13" name="TextBox 12"/>
          <p:cNvSpPr txBox="1"/>
          <p:nvPr/>
        </p:nvSpPr>
        <p:spPr>
          <a:xfrm>
            <a:off x="548640" y="1746504"/>
            <a:ext cx="11064240" cy="5943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Payroll demonstrates template creation, model selection, approved data access and controlled agent collaboration.</a:t>
            </a:r>
          </a:p>
        </p:txBody>
      </p:sp>
      <p:sp>
        <p:nvSpPr>
          <p:cNvPr id="14" name="Rectangle 13"/>
          <p:cNvSpPr/>
          <p:nvPr/>
        </p:nvSpPr>
        <p:spPr>
          <a:xfrm>
            <a:off x="530352" y="6437376"/>
            <a:ext cx="11128248" cy="11887"/>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537960"/>
            <a:ext cx="7315200" cy="173736"/>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AGENT TEMPLATE STUDIO  /  CODEBASE UPDATE  /  03 OCT 2026</a:t>
            </a:r>
          </a:p>
        </p:txBody>
      </p:sp>
      <p:sp>
        <p:nvSpPr>
          <p:cNvPr id="16" name="TextBox 15"/>
          <p:cNvSpPr txBox="1"/>
          <p:nvPr/>
        </p:nvSpPr>
        <p:spPr>
          <a:xfrm>
            <a:off x="11000232" y="6492240"/>
            <a:ext cx="594360" cy="228600"/>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13</a:t>
            </a:r>
          </a:p>
        </p:txBody>
      </p:sp>
      <p:sp>
        <p:nvSpPr>
          <p:cNvPr id="17" name="TextBox 16"/>
          <p:cNvSpPr txBox="1"/>
          <p:nvPr/>
        </p:nvSpPr>
        <p:spPr>
          <a:xfrm>
            <a:off x="557784" y="6044184"/>
            <a:ext cx="11064240" cy="292608"/>
          </a:xfrm>
          <a:prstGeom prst="rect">
            <a:avLst/>
          </a:prstGeom>
          <a:noFill/>
        </p:spPr>
        <p:txBody>
          <a:bodyPr wrap="square" lIns="13716" rIns="13716" tIns="22860" bIns="22860">
            <a:spAutoFit/>
          </a:bodyPr>
          <a:lstStyle/>
          <a:p>
            <a:pPr algn="l">
              <a:lnSpc>
                <a:spcPts val="1232"/>
              </a:lnSpc>
              <a:spcBef>
                <a:spcPts val="0"/>
              </a:spcBef>
              <a:spcAft>
                <a:spcPts val="0"/>
              </a:spcAft>
            </a:pPr>
            <a:r>
              <a:rPr sz="1100" b="0">
                <a:solidFill>
                  <a:srgbClr val="5C6F83"/>
                </a:solidFill>
                <a:latin typeface="Aptos"/>
              </a:rPr>
              <a:t>Implemented reference workflow; findings require review. Incident handoff is explicit and does not modify payroll.</a:t>
            </a:r>
          </a:p>
        </p:txBody>
      </p:sp>
      <p:sp>
        <p:nvSpPr>
          <p:cNvPr id="18" name="Rounded Rectangle 17"/>
          <p:cNvSpPr/>
          <p:nvPr/>
        </p:nvSpPr>
        <p:spPr>
          <a:xfrm>
            <a:off x="548640" y="2715768"/>
            <a:ext cx="2578608" cy="1993392"/>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13232" y="2907792"/>
            <a:ext cx="36576" cy="274320"/>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2880360"/>
            <a:ext cx="2066543" cy="521207"/>
          </a:xfrm>
          <a:prstGeom prst="rect">
            <a:avLst/>
          </a:prstGeom>
          <a:noFill/>
        </p:spPr>
        <p:txBody>
          <a:bodyPr wrap="square" lIns="13716" rIns="13716" tIns="22860" bIns="22860">
            <a:spAutoFit/>
          </a:bodyPr>
          <a:lstStyle/>
          <a:p>
            <a:pPr algn="l">
              <a:lnSpc>
                <a:spcPts val="1904"/>
              </a:lnSpc>
              <a:spcBef>
                <a:spcPts val="0"/>
              </a:spcBef>
              <a:spcAft>
                <a:spcPts val="0"/>
              </a:spcAft>
            </a:pPr>
            <a:r>
              <a:rPr sz="1700" b="1">
                <a:solidFill>
                  <a:srgbClr val="122743"/>
                </a:solidFill>
                <a:latin typeface="Aptos"/>
              </a:rPr>
              <a:t>Detect + review</a:t>
            </a:r>
          </a:p>
        </p:txBody>
      </p:sp>
      <p:sp>
        <p:nvSpPr>
          <p:cNvPr id="21" name="TextBox 20"/>
          <p:cNvSpPr txBox="1"/>
          <p:nvPr/>
        </p:nvSpPr>
        <p:spPr>
          <a:xfrm>
            <a:off x="731520" y="3419856"/>
            <a:ext cx="2212848" cy="1152144"/>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Anomaly Detection</a:t>
            </a:r>
          </a:p>
          <a:p>
            <a:pPr algn="l">
              <a:lnSpc>
                <a:spcPts val="1792"/>
              </a:lnSpc>
              <a:spcBef>
                <a:spcPts val="0"/>
              </a:spcBef>
              <a:spcAft>
                <a:spcPts val="0"/>
              </a:spcAft>
            </a:pPr>
            <a:r>
              <a:rPr sz="1600" b="0">
                <a:solidFill>
                  <a:srgbClr val="5C6F83"/>
                </a:solidFill>
                <a:latin typeface="Aptos"/>
              </a:rPr>
              <a:t>Approved payroll data</a:t>
            </a:r>
          </a:p>
        </p:txBody>
      </p:sp>
      <p:sp>
        <p:nvSpPr>
          <p:cNvPr id="22" name="Chevron 21"/>
          <p:cNvSpPr/>
          <p:nvPr/>
        </p:nvSpPr>
        <p:spPr>
          <a:xfrm>
            <a:off x="3182112" y="3685032"/>
            <a:ext cx="155448" cy="228600"/>
          </a:xfrm>
          <a:prstGeom prst="chevron">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383280" y="2715768"/>
            <a:ext cx="2578608" cy="1993392"/>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547872" y="2907792"/>
            <a:ext cx="36576" cy="274320"/>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12464" y="2880360"/>
            <a:ext cx="2066543" cy="521207"/>
          </a:xfrm>
          <a:prstGeom prst="rect">
            <a:avLst/>
          </a:prstGeom>
          <a:noFill/>
        </p:spPr>
        <p:txBody>
          <a:bodyPr wrap="square" lIns="13716" rIns="13716" tIns="22860" bIns="22860">
            <a:spAutoFit/>
          </a:bodyPr>
          <a:lstStyle/>
          <a:p>
            <a:pPr algn="l">
              <a:lnSpc>
                <a:spcPts val="1904"/>
              </a:lnSpc>
              <a:spcBef>
                <a:spcPts val="0"/>
              </a:spcBef>
              <a:spcAft>
                <a:spcPts val="0"/>
              </a:spcAft>
            </a:pPr>
            <a:r>
              <a:rPr sz="1700" b="1">
                <a:solidFill>
                  <a:srgbClr val="122743"/>
                </a:solidFill>
                <a:latin typeface="Aptos"/>
              </a:rPr>
              <a:t>Explain + compare</a:t>
            </a:r>
          </a:p>
        </p:txBody>
      </p:sp>
      <p:sp>
        <p:nvSpPr>
          <p:cNvPr id="26" name="TextBox 25"/>
          <p:cNvSpPr txBox="1"/>
          <p:nvPr/>
        </p:nvSpPr>
        <p:spPr>
          <a:xfrm>
            <a:off x="3566160" y="3419856"/>
            <a:ext cx="2212848" cy="1152144"/>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Saved findings</a:t>
            </a:r>
          </a:p>
          <a:p>
            <a:pPr algn="l">
              <a:lnSpc>
                <a:spcPts val="1792"/>
              </a:lnSpc>
              <a:spcBef>
                <a:spcPts val="0"/>
              </a:spcBef>
              <a:spcAft>
                <a:spcPts val="0"/>
              </a:spcAft>
            </a:pPr>
            <a:r>
              <a:rPr sz="1600" b="0">
                <a:solidFill>
                  <a:srgbClr val="5C6F83"/>
                </a:solidFill>
                <a:latin typeface="Aptos"/>
              </a:rPr>
              <a:t>Calculated differences</a:t>
            </a:r>
          </a:p>
        </p:txBody>
      </p:sp>
      <p:sp>
        <p:nvSpPr>
          <p:cNvPr id="27" name="Chevron 26"/>
          <p:cNvSpPr/>
          <p:nvPr/>
        </p:nvSpPr>
        <p:spPr>
          <a:xfrm>
            <a:off x="6016752" y="3685032"/>
            <a:ext cx="155448" cy="228600"/>
          </a:xfrm>
          <a:prstGeom prst="chevron">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217920" y="2715768"/>
            <a:ext cx="2578608" cy="1993392"/>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82512" y="2907792"/>
            <a:ext cx="36576" cy="274320"/>
          </a:xfrm>
          <a:prstGeom prst="rect">
            <a:avLst/>
          </a:prstGeom>
          <a:solidFill>
            <a:srgbClr val="765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47104" y="2880360"/>
            <a:ext cx="2066543" cy="521207"/>
          </a:xfrm>
          <a:prstGeom prst="rect">
            <a:avLst/>
          </a:prstGeom>
          <a:noFill/>
        </p:spPr>
        <p:txBody>
          <a:bodyPr wrap="square" lIns="13716" rIns="13716" tIns="22860" bIns="22860">
            <a:spAutoFit/>
          </a:bodyPr>
          <a:lstStyle/>
          <a:p>
            <a:pPr algn="l">
              <a:lnSpc>
                <a:spcPts val="1904"/>
              </a:lnSpc>
              <a:spcBef>
                <a:spcPts val="0"/>
              </a:spcBef>
              <a:spcAft>
                <a:spcPts val="0"/>
              </a:spcAft>
            </a:pPr>
            <a:r>
              <a:rPr sz="1700" b="1">
                <a:solidFill>
                  <a:srgbClr val="122743"/>
                </a:solidFill>
                <a:latin typeface="Aptos"/>
              </a:rPr>
              <a:t>Create a report</a:t>
            </a:r>
          </a:p>
        </p:txBody>
      </p:sp>
      <p:sp>
        <p:nvSpPr>
          <p:cNvPr id="31" name="TextBox 30"/>
          <p:cNvSpPr txBox="1"/>
          <p:nvPr/>
        </p:nvSpPr>
        <p:spPr>
          <a:xfrm>
            <a:off x="6400800" y="3419856"/>
            <a:ext cx="2212848" cy="1152144"/>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Incident Report</a:t>
            </a:r>
          </a:p>
          <a:p>
            <a:pPr algn="l">
              <a:lnSpc>
                <a:spcPts val="1792"/>
              </a:lnSpc>
              <a:spcBef>
                <a:spcPts val="0"/>
              </a:spcBef>
              <a:spcAft>
                <a:spcPts val="0"/>
              </a:spcAft>
            </a:pPr>
            <a:r>
              <a:rPr sz="1600" b="0">
                <a:solidFill>
                  <a:srgbClr val="5C6F83"/>
                </a:solidFill>
                <a:latin typeface="Aptos"/>
              </a:rPr>
              <a:t>Authorized handoff</a:t>
            </a:r>
          </a:p>
        </p:txBody>
      </p:sp>
      <p:sp>
        <p:nvSpPr>
          <p:cNvPr id="32" name="Chevron 31"/>
          <p:cNvSpPr/>
          <p:nvPr/>
        </p:nvSpPr>
        <p:spPr>
          <a:xfrm>
            <a:off x="8851392" y="3685032"/>
            <a:ext cx="155448" cy="228600"/>
          </a:xfrm>
          <a:prstGeom prst="chevron">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052560" y="2715768"/>
            <a:ext cx="2578608" cy="1993392"/>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217152" y="2907792"/>
            <a:ext cx="36576" cy="274320"/>
          </a:xfrm>
          <a:prstGeom prst="rect">
            <a:avLst/>
          </a:prstGeom>
          <a:solidFill>
            <a:srgbClr val="247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81744" y="2880360"/>
            <a:ext cx="2066543" cy="521207"/>
          </a:xfrm>
          <a:prstGeom prst="rect">
            <a:avLst/>
          </a:prstGeom>
          <a:noFill/>
        </p:spPr>
        <p:txBody>
          <a:bodyPr wrap="square" lIns="13716" rIns="13716" tIns="22860" bIns="22860">
            <a:spAutoFit/>
          </a:bodyPr>
          <a:lstStyle/>
          <a:p>
            <a:pPr algn="l">
              <a:lnSpc>
                <a:spcPts val="1904"/>
              </a:lnSpc>
              <a:spcBef>
                <a:spcPts val="0"/>
              </a:spcBef>
              <a:spcAft>
                <a:spcPts val="0"/>
              </a:spcAft>
            </a:pPr>
            <a:r>
              <a:rPr sz="1700" b="1">
                <a:solidFill>
                  <a:srgbClr val="122743"/>
                </a:solidFill>
                <a:latin typeface="Aptos"/>
              </a:rPr>
              <a:t>Ask follow-ups</a:t>
            </a:r>
          </a:p>
        </p:txBody>
      </p:sp>
      <p:sp>
        <p:nvSpPr>
          <p:cNvPr id="36" name="TextBox 35"/>
          <p:cNvSpPr txBox="1"/>
          <p:nvPr/>
        </p:nvSpPr>
        <p:spPr>
          <a:xfrm>
            <a:off x="9235440" y="3419856"/>
            <a:ext cx="2212848" cy="1152144"/>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General Query</a:t>
            </a:r>
          </a:p>
          <a:p>
            <a:pPr algn="l">
              <a:lnSpc>
                <a:spcPts val="1792"/>
              </a:lnSpc>
              <a:spcBef>
                <a:spcPts val="0"/>
              </a:spcBef>
              <a:spcAft>
                <a:spcPts val="0"/>
              </a:spcAft>
            </a:pPr>
            <a:r>
              <a:rPr sz="1600" b="0">
                <a:solidFill>
                  <a:srgbClr val="5C6F83"/>
                </a:solidFill>
                <a:latin typeface="Aptos"/>
              </a:rPr>
              <a:t>Permitted context</a:t>
            </a:r>
          </a:p>
        </p:txBody>
      </p:sp>
      <p:sp>
        <p:nvSpPr>
          <p:cNvPr id="37" name="Rounded Rectangle 36"/>
          <p:cNvSpPr/>
          <p:nvPr/>
        </p:nvSpPr>
        <p:spPr>
          <a:xfrm>
            <a:off x="548640" y="5084064"/>
            <a:ext cx="11091672" cy="713232"/>
          </a:xfrm>
          <a:prstGeom prst="roundRect">
            <a:avLst>
              <a:gd name="adj" fmla="val 9000"/>
            </a:avLst>
          </a:prstGeom>
          <a:solidFill>
            <a:srgbClr val="1227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3816" y="5276088"/>
            <a:ext cx="10561320" cy="365760"/>
          </a:xfrm>
          <a:prstGeom prst="rect">
            <a:avLst/>
          </a:prstGeom>
          <a:noFill/>
        </p:spPr>
        <p:txBody>
          <a:bodyPr wrap="square" lIns="13716" rIns="13716" tIns="22860" bIns="22860">
            <a:spAutoFit/>
          </a:bodyPr>
          <a:lstStyle/>
          <a:p>
            <a:pPr algn="l">
              <a:lnSpc>
                <a:spcPts val="1792"/>
              </a:lnSpc>
              <a:spcBef>
                <a:spcPts val="0"/>
              </a:spcBef>
              <a:spcAft>
                <a:spcPts val="0"/>
              </a:spcAft>
            </a:pPr>
            <a:r>
              <a:rPr sz="1600" b="1">
                <a:solidFill>
                  <a:srgbClr val="FFFFFF"/>
                </a:solidFill>
                <a:latin typeface="Aptos"/>
              </a:rPr>
              <a:t>SHARED PLATFORM: templates • model runtime • API permissions • context access • registry • metrics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THE PLATFORM</a:t>
            </a:r>
          </a:p>
        </p:txBody>
      </p:sp>
      <p:sp>
        <p:nvSpPr>
          <p:cNvPr id="5" name="Rectangle 4"/>
          <p:cNvSpPr/>
          <p:nvPr/>
        </p:nvSpPr>
        <p:spPr>
          <a:xfrm>
            <a:off x="3383280"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CREATE AGENTS</a:t>
            </a:r>
          </a:p>
        </p:txBody>
      </p:sp>
      <p:sp>
        <p:nvSpPr>
          <p:cNvPr id="7" name="Rectangle 6"/>
          <p:cNvSpPr/>
          <p:nvPr/>
        </p:nvSpPr>
        <p:spPr>
          <a:xfrm>
            <a:off x="6236208"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6208"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CONTROL + OPERATE</a:t>
            </a:r>
          </a:p>
        </p:txBody>
      </p:sp>
      <p:sp>
        <p:nvSpPr>
          <p:cNvPr id="9" name="Rectangle 8"/>
          <p:cNvSpPr/>
          <p:nvPr/>
        </p:nvSpPr>
        <p:spPr>
          <a:xfrm>
            <a:off x="9089136" y="539496"/>
            <a:ext cx="2606040" cy="3200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89136"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1">
                <a:solidFill>
                  <a:srgbClr val="007C83"/>
                </a:solidFill>
                <a:latin typeface="Aptos"/>
              </a:rPr>
              <a:t>REUSE + SCALE</a:t>
            </a:r>
          </a:p>
        </p:txBody>
      </p:sp>
      <p:sp>
        <p:nvSpPr>
          <p:cNvPr id="11" name="TextBox 10"/>
          <p:cNvSpPr txBox="1"/>
          <p:nvPr/>
        </p:nvSpPr>
        <p:spPr>
          <a:xfrm>
            <a:off x="530352" y="768096"/>
            <a:ext cx="11128248" cy="210312"/>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007C83"/>
                </a:solidFill>
                <a:latin typeface="Aptos"/>
              </a:rPr>
              <a:t>THE PLATFORM INVESTMENT</a:t>
            </a:r>
          </a:p>
        </p:txBody>
      </p:sp>
      <p:sp>
        <p:nvSpPr>
          <p:cNvPr id="12" name="TextBox 11"/>
          <p:cNvSpPr txBox="1"/>
          <p:nvPr/>
        </p:nvSpPr>
        <p:spPr>
          <a:xfrm>
            <a:off x="530352" y="1078992"/>
            <a:ext cx="11128248" cy="594360"/>
          </a:xfrm>
          <a:prstGeom prst="rect">
            <a:avLst/>
          </a:prstGeom>
          <a:noFill/>
        </p:spPr>
        <p:txBody>
          <a:bodyPr wrap="square" lIns="13716" rIns="13716" tIns="22860" bIns="22860">
            <a:spAutoFit/>
          </a:bodyPr>
          <a:lstStyle/>
          <a:p>
            <a:pPr algn="l">
              <a:lnSpc>
                <a:spcPts val="3360"/>
              </a:lnSpc>
              <a:spcBef>
                <a:spcPts val="0"/>
              </a:spcBef>
              <a:spcAft>
                <a:spcPts val="0"/>
              </a:spcAft>
            </a:pPr>
            <a:r>
              <a:rPr sz="3000" b="1">
                <a:solidFill>
                  <a:srgbClr val="122743"/>
                </a:solidFill>
                <a:latin typeface="Aptos"/>
              </a:rPr>
              <a:t>Accelerate agent delivery. Centralize control. Preserve choice.</a:t>
            </a:r>
          </a:p>
        </p:txBody>
      </p:sp>
      <p:sp>
        <p:nvSpPr>
          <p:cNvPr id="13" name="TextBox 12"/>
          <p:cNvSpPr txBox="1"/>
          <p:nvPr/>
        </p:nvSpPr>
        <p:spPr>
          <a:xfrm>
            <a:off x="548640" y="1746504"/>
            <a:ext cx="11064240" cy="5943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The return comes from reusing the same foundation across successive agents and domains.</a:t>
            </a:r>
          </a:p>
        </p:txBody>
      </p:sp>
      <p:sp>
        <p:nvSpPr>
          <p:cNvPr id="14" name="Rectangle 13"/>
          <p:cNvSpPr/>
          <p:nvPr/>
        </p:nvSpPr>
        <p:spPr>
          <a:xfrm>
            <a:off x="530352" y="6437376"/>
            <a:ext cx="11128248" cy="11887"/>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537960"/>
            <a:ext cx="7315200" cy="173736"/>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AGENT TEMPLATE STUDIO  /  CODEBASE UPDATE  /  03 OCT 2026</a:t>
            </a:r>
          </a:p>
        </p:txBody>
      </p:sp>
      <p:sp>
        <p:nvSpPr>
          <p:cNvPr id="16" name="TextBox 15"/>
          <p:cNvSpPr txBox="1"/>
          <p:nvPr/>
        </p:nvSpPr>
        <p:spPr>
          <a:xfrm>
            <a:off x="11000232" y="6492240"/>
            <a:ext cx="594360" cy="228600"/>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14</a:t>
            </a:r>
          </a:p>
        </p:txBody>
      </p:sp>
      <p:sp>
        <p:nvSpPr>
          <p:cNvPr id="17" name="Rounded Rectangle 16"/>
          <p:cNvSpPr/>
          <p:nvPr/>
        </p:nvSpPr>
        <p:spPr>
          <a:xfrm>
            <a:off x="548640" y="2606040"/>
            <a:ext cx="11091672" cy="3154680"/>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816352"/>
            <a:ext cx="3200400" cy="256032"/>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PLATFORM CAPABILITY</a:t>
            </a:r>
          </a:p>
        </p:txBody>
      </p:sp>
      <p:sp>
        <p:nvSpPr>
          <p:cNvPr id="19" name="TextBox 18"/>
          <p:cNvSpPr txBox="1"/>
          <p:nvPr/>
        </p:nvSpPr>
        <p:spPr>
          <a:xfrm>
            <a:off x="4142232" y="2816352"/>
            <a:ext cx="3364992" cy="256032"/>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BUSINESS VALUE</a:t>
            </a:r>
          </a:p>
        </p:txBody>
      </p:sp>
      <p:sp>
        <p:nvSpPr>
          <p:cNvPr id="20" name="TextBox 19"/>
          <p:cNvSpPr txBox="1"/>
          <p:nvPr/>
        </p:nvSpPr>
        <p:spPr>
          <a:xfrm>
            <a:off x="7671816" y="2816352"/>
            <a:ext cx="3630168" cy="256032"/>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HOW TO MEASURE IT</a:t>
            </a:r>
          </a:p>
        </p:txBody>
      </p:sp>
      <p:sp>
        <p:nvSpPr>
          <p:cNvPr id="21" name="TextBox 20"/>
          <p:cNvSpPr txBox="1"/>
          <p:nvPr/>
        </p:nvSpPr>
        <p:spPr>
          <a:xfrm>
            <a:off x="777240" y="3346704"/>
            <a:ext cx="3200400" cy="475488"/>
          </a:xfrm>
          <a:prstGeom prst="rect">
            <a:avLst/>
          </a:prstGeom>
          <a:noFill/>
        </p:spPr>
        <p:txBody>
          <a:bodyPr wrap="square" lIns="13716" rIns="13716" tIns="22860" bIns="22860">
            <a:spAutoFit/>
          </a:bodyPr>
          <a:lstStyle/>
          <a:p>
            <a:pPr algn="l">
              <a:lnSpc>
                <a:spcPts val="1680"/>
              </a:lnSpc>
              <a:spcBef>
                <a:spcPts val="0"/>
              </a:spcBef>
              <a:spcAft>
                <a:spcPts val="0"/>
              </a:spcAft>
            </a:pPr>
            <a:r>
              <a:rPr sz="1500" b="1">
                <a:solidFill>
                  <a:srgbClr val="122743"/>
                </a:solidFill>
                <a:latin typeface="Aptos"/>
              </a:rPr>
              <a:t>Template-driven creation</a:t>
            </a:r>
          </a:p>
        </p:txBody>
      </p:sp>
      <p:sp>
        <p:nvSpPr>
          <p:cNvPr id="22" name="TextBox 21"/>
          <p:cNvSpPr txBox="1"/>
          <p:nvPr/>
        </p:nvSpPr>
        <p:spPr>
          <a:xfrm>
            <a:off x="4142232" y="3346704"/>
            <a:ext cx="3364992" cy="475488"/>
          </a:xfrm>
          <a:prstGeom prst="rect">
            <a:avLst/>
          </a:prstGeom>
          <a:noFill/>
        </p:spPr>
        <p:txBody>
          <a:bodyPr wrap="square" lIns="13716" rIns="13716" tIns="22860" bIns="22860">
            <a:spAutoFit/>
          </a:bodyPr>
          <a:lstStyle/>
          <a:p>
            <a:pPr algn="l">
              <a:lnSpc>
                <a:spcPts val="1680"/>
              </a:lnSpc>
              <a:spcBef>
                <a:spcPts val="0"/>
              </a:spcBef>
              <a:spcAft>
                <a:spcPts val="0"/>
              </a:spcAft>
            </a:pPr>
            <a:r>
              <a:rPr sz="1500" b="0">
                <a:solidFill>
                  <a:srgbClr val="18314E"/>
                </a:solidFill>
                <a:latin typeface="Aptos"/>
              </a:rPr>
              <a:t>Less repeated implementation</a:t>
            </a:r>
          </a:p>
        </p:txBody>
      </p:sp>
      <p:sp>
        <p:nvSpPr>
          <p:cNvPr id="23" name="TextBox 22"/>
          <p:cNvSpPr txBox="1"/>
          <p:nvPr/>
        </p:nvSpPr>
        <p:spPr>
          <a:xfrm>
            <a:off x="7671816" y="3346704"/>
            <a:ext cx="3630168" cy="475488"/>
          </a:xfrm>
          <a:prstGeom prst="rect">
            <a:avLst/>
          </a:prstGeom>
          <a:noFill/>
        </p:spPr>
        <p:txBody>
          <a:bodyPr wrap="square" lIns="13716" rIns="13716" tIns="22860" bIns="22860">
            <a:spAutoFit/>
          </a:bodyPr>
          <a:lstStyle/>
          <a:p>
            <a:pPr algn="l">
              <a:lnSpc>
                <a:spcPts val="1680"/>
              </a:lnSpc>
              <a:spcBef>
                <a:spcPts val="0"/>
              </a:spcBef>
              <a:spcAft>
                <a:spcPts val="0"/>
              </a:spcAft>
            </a:pPr>
            <a:r>
              <a:rPr sz="1500" b="0">
                <a:solidFill>
                  <a:srgbClr val="5C6F83"/>
                </a:solidFill>
                <a:latin typeface="Aptos"/>
              </a:rPr>
              <a:t>Time to configure the next agent</a:t>
            </a:r>
          </a:p>
        </p:txBody>
      </p:sp>
      <p:sp>
        <p:nvSpPr>
          <p:cNvPr id="24" name="Rectangle 23"/>
          <p:cNvSpPr/>
          <p:nvPr/>
        </p:nvSpPr>
        <p:spPr>
          <a:xfrm>
            <a:off x="777240" y="3840480"/>
            <a:ext cx="10607040" cy="8229"/>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3904488"/>
            <a:ext cx="3200400" cy="475488"/>
          </a:xfrm>
          <a:prstGeom prst="rect">
            <a:avLst/>
          </a:prstGeom>
          <a:noFill/>
        </p:spPr>
        <p:txBody>
          <a:bodyPr wrap="square" lIns="13716" rIns="13716" tIns="22860" bIns="22860">
            <a:spAutoFit/>
          </a:bodyPr>
          <a:lstStyle/>
          <a:p>
            <a:pPr algn="l">
              <a:lnSpc>
                <a:spcPts val="1680"/>
              </a:lnSpc>
              <a:spcBef>
                <a:spcPts val="0"/>
              </a:spcBef>
              <a:spcAft>
                <a:spcPts val="0"/>
              </a:spcAft>
            </a:pPr>
            <a:r>
              <a:rPr sz="1500" b="1">
                <a:solidFill>
                  <a:srgbClr val="122743"/>
                </a:solidFill>
                <a:latin typeface="Aptos"/>
              </a:rPr>
              <a:t>Shared APIs + access controls</a:t>
            </a:r>
          </a:p>
        </p:txBody>
      </p:sp>
      <p:sp>
        <p:nvSpPr>
          <p:cNvPr id="26" name="TextBox 25"/>
          <p:cNvSpPr txBox="1"/>
          <p:nvPr/>
        </p:nvSpPr>
        <p:spPr>
          <a:xfrm>
            <a:off x="4142232" y="3904488"/>
            <a:ext cx="3364992" cy="475488"/>
          </a:xfrm>
          <a:prstGeom prst="rect">
            <a:avLst/>
          </a:prstGeom>
          <a:noFill/>
        </p:spPr>
        <p:txBody>
          <a:bodyPr wrap="square" lIns="13716" rIns="13716" tIns="22860" bIns="22860">
            <a:spAutoFit/>
          </a:bodyPr>
          <a:lstStyle/>
          <a:p>
            <a:pPr algn="l">
              <a:lnSpc>
                <a:spcPts val="1680"/>
              </a:lnSpc>
              <a:spcBef>
                <a:spcPts val="0"/>
              </a:spcBef>
              <a:spcAft>
                <a:spcPts val="0"/>
              </a:spcAft>
            </a:pPr>
            <a:r>
              <a:rPr sz="1500" b="0">
                <a:solidFill>
                  <a:srgbClr val="18314E"/>
                </a:solidFill>
                <a:latin typeface="Aptos"/>
              </a:rPr>
              <a:t>Consistent, reviewable boundaries</a:t>
            </a:r>
          </a:p>
        </p:txBody>
      </p:sp>
      <p:sp>
        <p:nvSpPr>
          <p:cNvPr id="27" name="TextBox 26"/>
          <p:cNvSpPr txBox="1"/>
          <p:nvPr/>
        </p:nvSpPr>
        <p:spPr>
          <a:xfrm>
            <a:off x="7671816" y="3904488"/>
            <a:ext cx="3630168" cy="475488"/>
          </a:xfrm>
          <a:prstGeom prst="rect">
            <a:avLst/>
          </a:prstGeom>
          <a:noFill/>
        </p:spPr>
        <p:txBody>
          <a:bodyPr wrap="square" lIns="13716" rIns="13716" tIns="22860" bIns="22860">
            <a:spAutoFit/>
          </a:bodyPr>
          <a:lstStyle/>
          <a:p>
            <a:pPr algn="l">
              <a:lnSpc>
                <a:spcPts val="1680"/>
              </a:lnSpc>
              <a:spcBef>
                <a:spcPts val="0"/>
              </a:spcBef>
              <a:spcAft>
                <a:spcPts val="0"/>
              </a:spcAft>
            </a:pPr>
            <a:r>
              <a:rPr sz="1500" b="0">
                <a:solidFill>
                  <a:srgbClr val="5C6F83"/>
                </a:solidFill>
                <a:latin typeface="Aptos"/>
              </a:rPr>
              <a:t>Reuse and permission-check outcomes</a:t>
            </a:r>
          </a:p>
        </p:txBody>
      </p:sp>
      <p:sp>
        <p:nvSpPr>
          <p:cNvPr id="28" name="Rectangle 27"/>
          <p:cNvSpPr/>
          <p:nvPr/>
        </p:nvSpPr>
        <p:spPr>
          <a:xfrm>
            <a:off x="777240" y="4398264"/>
            <a:ext cx="10607040" cy="8229"/>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462272"/>
            <a:ext cx="3200400" cy="475488"/>
          </a:xfrm>
          <a:prstGeom prst="rect">
            <a:avLst/>
          </a:prstGeom>
          <a:noFill/>
        </p:spPr>
        <p:txBody>
          <a:bodyPr wrap="square" lIns="13716" rIns="13716" tIns="22860" bIns="22860">
            <a:spAutoFit/>
          </a:bodyPr>
          <a:lstStyle/>
          <a:p>
            <a:pPr algn="l">
              <a:lnSpc>
                <a:spcPts val="1680"/>
              </a:lnSpc>
              <a:spcBef>
                <a:spcPts val="0"/>
              </a:spcBef>
              <a:spcAft>
                <a:spcPts val="0"/>
              </a:spcAft>
            </a:pPr>
            <a:r>
              <a:rPr sz="1500" b="1">
                <a:solidFill>
                  <a:srgbClr val="122743"/>
                </a:solidFill>
                <a:latin typeface="Aptos"/>
              </a:rPr>
              <a:t>Managed + private model options</a:t>
            </a:r>
          </a:p>
        </p:txBody>
      </p:sp>
      <p:sp>
        <p:nvSpPr>
          <p:cNvPr id="30" name="TextBox 29"/>
          <p:cNvSpPr txBox="1"/>
          <p:nvPr/>
        </p:nvSpPr>
        <p:spPr>
          <a:xfrm>
            <a:off x="4142232" y="4462272"/>
            <a:ext cx="3364992" cy="475488"/>
          </a:xfrm>
          <a:prstGeom prst="rect">
            <a:avLst/>
          </a:prstGeom>
          <a:noFill/>
        </p:spPr>
        <p:txBody>
          <a:bodyPr wrap="square" lIns="13716" rIns="13716" tIns="22860" bIns="22860">
            <a:spAutoFit/>
          </a:bodyPr>
          <a:lstStyle/>
          <a:p>
            <a:pPr algn="l">
              <a:lnSpc>
                <a:spcPts val="1680"/>
              </a:lnSpc>
              <a:spcBef>
                <a:spcPts val="0"/>
              </a:spcBef>
              <a:spcAft>
                <a:spcPts val="0"/>
              </a:spcAft>
            </a:pPr>
            <a:r>
              <a:rPr sz="1500" b="0">
                <a:solidFill>
                  <a:srgbClr val="18314E"/>
                </a:solidFill>
                <a:latin typeface="Aptos"/>
              </a:rPr>
              <a:t>Choice of where inference runs</a:t>
            </a:r>
          </a:p>
        </p:txBody>
      </p:sp>
      <p:sp>
        <p:nvSpPr>
          <p:cNvPr id="31" name="TextBox 30"/>
          <p:cNvSpPr txBox="1"/>
          <p:nvPr/>
        </p:nvSpPr>
        <p:spPr>
          <a:xfrm>
            <a:off x="7671816" y="4462272"/>
            <a:ext cx="3630168" cy="475488"/>
          </a:xfrm>
          <a:prstGeom prst="rect">
            <a:avLst/>
          </a:prstGeom>
          <a:noFill/>
        </p:spPr>
        <p:txBody>
          <a:bodyPr wrap="square" lIns="13716" rIns="13716" tIns="22860" bIns="22860">
            <a:spAutoFit/>
          </a:bodyPr>
          <a:lstStyle/>
          <a:p>
            <a:pPr algn="l">
              <a:lnSpc>
                <a:spcPts val="1680"/>
              </a:lnSpc>
              <a:spcBef>
                <a:spcPts val="0"/>
              </a:spcBef>
              <a:spcAft>
                <a:spcPts val="0"/>
              </a:spcAft>
            </a:pPr>
            <a:r>
              <a:rPr sz="1500" b="0">
                <a:solidFill>
                  <a:srgbClr val="5C6F83"/>
                </a:solidFill>
                <a:latin typeface="Aptos"/>
              </a:rPr>
              <a:t>Model suitability and operating effort</a:t>
            </a:r>
          </a:p>
        </p:txBody>
      </p:sp>
      <p:sp>
        <p:nvSpPr>
          <p:cNvPr id="32" name="Rectangle 31"/>
          <p:cNvSpPr/>
          <p:nvPr/>
        </p:nvSpPr>
        <p:spPr>
          <a:xfrm>
            <a:off x="777240" y="4956048"/>
            <a:ext cx="10607040" cy="8229"/>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5020056"/>
            <a:ext cx="3200400" cy="475488"/>
          </a:xfrm>
          <a:prstGeom prst="rect">
            <a:avLst/>
          </a:prstGeom>
          <a:noFill/>
        </p:spPr>
        <p:txBody>
          <a:bodyPr wrap="square" lIns="13716" rIns="13716" tIns="22860" bIns="22860">
            <a:spAutoFit/>
          </a:bodyPr>
          <a:lstStyle/>
          <a:p>
            <a:pPr algn="l">
              <a:lnSpc>
                <a:spcPts val="1680"/>
              </a:lnSpc>
              <a:spcBef>
                <a:spcPts val="0"/>
              </a:spcBef>
              <a:spcAft>
                <a:spcPts val="0"/>
              </a:spcAft>
            </a:pPr>
            <a:r>
              <a:rPr sz="1500" b="1">
                <a:solidFill>
                  <a:srgbClr val="122743"/>
                </a:solidFill>
                <a:latin typeface="Aptos"/>
              </a:rPr>
              <a:t>Common runtime + operating views</a:t>
            </a:r>
          </a:p>
        </p:txBody>
      </p:sp>
      <p:sp>
        <p:nvSpPr>
          <p:cNvPr id="34" name="TextBox 33"/>
          <p:cNvSpPr txBox="1"/>
          <p:nvPr/>
        </p:nvSpPr>
        <p:spPr>
          <a:xfrm>
            <a:off x="4142232" y="5020056"/>
            <a:ext cx="3364992" cy="475488"/>
          </a:xfrm>
          <a:prstGeom prst="rect">
            <a:avLst/>
          </a:prstGeom>
          <a:noFill/>
        </p:spPr>
        <p:txBody>
          <a:bodyPr wrap="square" lIns="13716" rIns="13716" tIns="22860" bIns="22860">
            <a:spAutoFit/>
          </a:bodyPr>
          <a:lstStyle/>
          <a:p>
            <a:pPr algn="l">
              <a:lnSpc>
                <a:spcPts val="1680"/>
              </a:lnSpc>
              <a:spcBef>
                <a:spcPts val="0"/>
              </a:spcBef>
              <a:spcAft>
                <a:spcPts val="0"/>
              </a:spcAft>
            </a:pPr>
            <a:r>
              <a:rPr sz="1500" b="0">
                <a:solidFill>
                  <a:srgbClr val="18314E"/>
                </a:solidFill>
                <a:latin typeface="Aptos"/>
              </a:rPr>
              <a:t>One support model across agents</a:t>
            </a:r>
          </a:p>
        </p:txBody>
      </p:sp>
      <p:sp>
        <p:nvSpPr>
          <p:cNvPr id="35" name="TextBox 34"/>
          <p:cNvSpPr txBox="1"/>
          <p:nvPr/>
        </p:nvSpPr>
        <p:spPr>
          <a:xfrm>
            <a:off x="7671816" y="5020056"/>
            <a:ext cx="3630168" cy="475488"/>
          </a:xfrm>
          <a:prstGeom prst="rect">
            <a:avLst/>
          </a:prstGeom>
          <a:noFill/>
        </p:spPr>
        <p:txBody>
          <a:bodyPr wrap="square" lIns="13716" rIns="13716" tIns="22860" bIns="22860">
            <a:spAutoFit/>
          </a:bodyPr>
          <a:lstStyle/>
          <a:p>
            <a:pPr algn="l">
              <a:lnSpc>
                <a:spcPts val="1680"/>
              </a:lnSpc>
              <a:spcBef>
                <a:spcPts val="0"/>
              </a:spcBef>
              <a:spcAft>
                <a:spcPts val="0"/>
              </a:spcAft>
            </a:pPr>
            <a:r>
              <a:rPr sz="1500" b="0">
                <a:solidFill>
                  <a:srgbClr val="5C6F83"/>
                </a:solidFill>
                <a:latin typeface="Aptos"/>
              </a:rPr>
              <a:t>Usage, latency and failure rates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THE PLATFORM</a:t>
            </a:r>
          </a:p>
        </p:txBody>
      </p:sp>
      <p:sp>
        <p:nvSpPr>
          <p:cNvPr id="5" name="Rectangle 4"/>
          <p:cNvSpPr/>
          <p:nvPr/>
        </p:nvSpPr>
        <p:spPr>
          <a:xfrm>
            <a:off x="3383280"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CREATE AGENTS</a:t>
            </a:r>
          </a:p>
        </p:txBody>
      </p:sp>
      <p:sp>
        <p:nvSpPr>
          <p:cNvPr id="7" name="Rectangle 6"/>
          <p:cNvSpPr/>
          <p:nvPr/>
        </p:nvSpPr>
        <p:spPr>
          <a:xfrm>
            <a:off x="6236208"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6208"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CONTROL + OPERATE</a:t>
            </a:r>
          </a:p>
        </p:txBody>
      </p:sp>
      <p:sp>
        <p:nvSpPr>
          <p:cNvPr id="9" name="Rectangle 8"/>
          <p:cNvSpPr/>
          <p:nvPr/>
        </p:nvSpPr>
        <p:spPr>
          <a:xfrm>
            <a:off x="9089136" y="539496"/>
            <a:ext cx="2606040" cy="3200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89136"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1">
                <a:solidFill>
                  <a:srgbClr val="007C83"/>
                </a:solidFill>
                <a:latin typeface="Aptos"/>
              </a:rPr>
              <a:t>REUSE + SCALE</a:t>
            </a:r>
          </a:p>
        </p:txBody>
      </p:sp>
      <p:sp>
        <p:nvSpPr>
          <p:cNvPr id="11" name="TextBox 10"/>
          <p:cNvSpPr txBox="1"/>
          <p:nvPr/>
        </p:nvSpPr>
        <p:spPr>
          <a:xfrm>
            <a:off x="530352" y="768096"/>
            <a:ext cx="11128248" cy="210312"/>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007C83"/>
                </a:solidFill>
                <a:latin typeface="Aptos"/>
              </a:rPr>
              <a:t>ADOPT THE FOUNDATION</a:t>
            </a:r>
          </a:p>
        </p:txBody>
      </p:sp>
      <p:sp>
        <p:nvSpPr>
          <p:cNvPr id="12" name="TextBox 11"/>
          <p:cNvSpPr txBox="1"/>
          <p:nvPr/>
        </p:nvSpPr>
        <p:spPr>
          <a:xfrm>
            <a:off x="530352" y="1078992"/>
            <a:ext cx="11128248" cy="594360"/>
          </a:xfrm>
          <a:prstGeom prst="rect">
            <a:avLst/>
          </a:prstGeom>
          <a:noFill/>
        </p:spPr>
        <p:txBody>
          <a:bodyPr wrap="square" lIns="13716" rIns="13716" tIns="22860" bIns="22860">
            <a:spAutoFit/>
          </a:bodyPr>
          <a:lstStyle/>
          <a:p>
            <a:pPr algn="l">
              <a:lnSpc>
                <a:spcPts val="3360"/>
              </a:lnSpc>
              <a:spcBef>
                <a:spcPts val="0"/>
              </a:spcBef>
              <a:spcAft>
                <a:spcPts val="0"/>
              </a:spcAft>
            </a:pPr>
            <a:r>
              <a:rPr sz="3000" b="1">
                <a:solidFill>
                  <a:srgbClr val="122743"/>
                </a:solidFill>
                <a:latin typeface="Aptos"/>
              </a:rPr>
              <a:t>Build the platform once. Prove reuse with the next domain.</a:t>
            </a:r>
          </a:p>
        </p:txBody>
      </p:sp>
      <p:sp>
        <p:nvSpPr>
          <p:cNvPr id="13" name="TextBox 12"/>
          <p:cNvSpPr txBox="1"/>
          <p:nvPr/>
        </p:nvSpPr>
        <p:spPr>
          <a:xfrm>
            <a:off x="548640" y="1746504"/>
            <a:ext cx="11064240" cy="5943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Sponsor a shared agent platform with a platform owner, a first domain and a second-domain reuse milestone.</a:t>
            </a:r>
          </a:p>
        </p:txBody>
      </p:sp>
      <p:sp>
        <p:nvSpPr>
          <p:cNvPr id="14" name="Rectangle 13"/>
          <p:cNvSpPr/>
          <p:nvPr/>
        </p:nvSpPr>
        <p:spPr>
          <a:xfrm>
            <a:off x="530352" y="6437376"/>
            <a:ext cx="11128248" cy="11887"/>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537960"/>
            <a:ext cx="7315200" cy="173736"/>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AGENT TEMPLATE STUDIO  /  CODEBASE UPDATE  /  03 OCT 2026</a:t>
            </a:r>
          </a:p>
        </p:txBody>
      </p:sp>
      <p:sp>
        <p:nvSpPr>
          <p:cNvPr id="16" name="TextBox 15"/>
          <p:cNvSpPr txBox="1"/>
          <p:nvPr/>
        </p:nvSpPr>
        <p:spPr>
          <a:xfrm>
            <a:off x="11000232" y="6492240"/>
            <a:ext cx="594360" cy="228600"/>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15</a:t>
            </a:r>
          </a:p>
        </p:txBody>
      </p:sp>
      <p:sp>
        <p:nvSpPr>
          <p:cNvPr id="17" name="TextBox 16"/>
          <p:cNvSpPr txBox="1"/>
          <p:nvPr/>
        </p:nvSpPr>
        <p:spPr>
          <a:xfrm>
            <a:off x="557784" y="6044184"/>
            <a:ext cx="11064240" cy="292608"/>
          </a:xfrm>
          <a:prstGeom prst="rect">
            <a:avLst/>
          </a:prstGeom>
          <a:noFill/>
        </p:spPr>
        <p:txBody>
          <a:bodyPr wrap="square" lIns="13716" rIns="13716" tIns="22860" bIns="22860">
            <a:spAutoFit/>
          </a:bodyPr>
          <a:lstStyle/>
          <a:p>
            <a:pPr algn="l">
              <a:lnSpc>
                <a:spcPts val="1232"/>
              </a:lnSpc>
              <a:spcBef>
                <a:spcPts val="0"/>
              </a:spcBef>
              <a:spcAft>
                <a:spcPts val="0"/>
              </a:spcAft>
            </a:pPr>
            <a:r>
              <a:rPr sz="1100" b="0">
                <a:solidFill>
                  <a:srgbClr val="5C6F83"/>
                </a:solidFill>
                <a:latin typeface="Aptos"/>
              </a:rPr>
              <a:t>Agree success targets before rollout. Private inference, identity and deployment controls must be validated for the target environment.</a:t>
            </a:r>
          </a:p>
        </p:txBody>
      </p:sp>
      <p:sp>
        <p:nvSpPr>
          <p:cNvPr id="18" name="Rounded Rectangle 17"/>
          <p:cNvSpPr/>
          <p:nvPr/>
        </p:nvSpPr>
        <p:spPr>
          <a:xfrm>
            <a:off x="548640" y="2615184"/>
            <a:ext cx="3584448" cy="2642616"/>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2852928"/>
            <a:ext cx="41148" cy="402336"/>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43784"/>
            <a:ext cx="3035808"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235CC4"/>
                </a:solidFill>
                <a:latin typeface="Aptos"/>
              </a:rPr>
              <a:t>01  ESTABLISH</a:t>
            </a:r>
          </a:p>
        </p:txBody>
      </p:sp>
      <p:sp>
        <p:nvSpPr>
          <p:cNvPr id="21" name="TextBox 20"/>
          <p:cNvSpPr txBox="1"/>
          <p:nvPr/>
        </p:nvSpPr>
        <p:spPr>
          <a:xfrm>
            <a:off x="758952" y="3419856"/>
            <a:ext cx="3163824"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Prepare the platform</a:t>
            </a:r>
          </a:p>
        </p:txBody>
      </p:sp>
      <p:sp>
        <p:nvSpPr>
          <p:cNvPr id="22" name="TextBox 21"/>
          <p:cNvSpPr txBox="1"/>
          <p:nvPr/>
        </p:nvSpPr>
        <p:spPr>
          <a:xfrm>
            <a:off x="758952" y="4315968"/>
            <a:ext cx="3163824" cy="813816"/>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Approve models and hosting.</a:t>
            </a:r>
          </a:p>
          <a:p>
            <a:pPr algn="l">
              <a:lnSpc>
                <a:spcPts val="1792"/>
              </a:lnSpc>
              <a:spcBef>
                <a:spcPts val="0"/>
              </a:spcBef>
              <a:spcAft>
                <a:spcPts val="0"/>
              </a:spcAft>
            </a:pPr>
            <a:r>
              <a:rPr sz="1600" b="0">
                <a:solidFill>
                  <a:srgbClr val="5C6F83"/>
                </a:solidFill>
                <a:latin typeface="Aptos"/>
              </a:rPr>
              <a:t>Register data connections.</a:t>
            </a:r>
          </a:p>
          <a:p>
            <a:pPr algn="l">
              <a:lnSpc>
                <a:spcPts val="1792"/>
              </a:lnSpc>
              <a:spcBef>
                <a:spcPts val="0"/>
              </a:spcBef>
              <a:spcAft>
                <a:spcPts val="0"/>
              </a:spcAft>
            </a:pPr>
            <a:r>
              <a:rPr sz="1600" b="0">
                <a:solidFill>
                  <a:srgbClr val="5C6F83"/>
                </a:solidFill>
                <a:latin typeface="Aptos"/>
              </a:rPr>
              <a:t>Set roles and access boundaries.</a:t>
            </a:r>
          </a:p>
        </p:txBody>
      </p:sp>
      <p:sp>
        <p:nvSpPr>
          <p:cNvPr id="23" name="Rounded Rectangle 22"/>
          <p:cNvSpPr/>
          <p:nvPr/>
        </p:nvSpPr>
        <p:spPr>
          <a:xfrm>
            <a:off x="4297679" y="2615184"/>
            <a:ext cx="3584448" cy="2642616"/>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80559" y="2852928"/>
            <a:ext cx="41148" cy="402336"/>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3440" y="2843784"/>
            <a:ext cx="3035808"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02  ENABLE</a:t>
            </a:r>
          </a:p>
        </p:txBody>
      </p:sp>
      <p:sp>
        <p:nvSpPr>
          <p:cNvPr id="26" name="TextBox 25"/>
          <p:cNvSpPr txBox="1"/>
          <p:nvPr/>
        </p:nvSpPr>
        <p:spPr>
          <a:xfrm>
            <a:off x="4507992" y="3419856"/>
            <a:ext cx="3163824"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Launch a domain agent</a:t>
            </a:r>
          </a:p>
        </p:txBody>
      </p:sp>
      <p:sp>
        <p:nvSpPr>
          <p:cNvPr id="27" name="TextBox 26"/>
          <p:cNvSpPr txBox="1"/>
          <p:nvPr/>
        </p:nvSpPr>
        <p:spPr>
          <a:xfrm>
            <a:off x="4507992" y="4315968"/>
            <a:ext cx="3163824" cy="813816"/>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Choose a template.</a:t>
            </a:r>
          </a:p>
          <a:p>
            <a:pPr algn="l">
              <a:lnSpc>
                <a:spcPts val="1792"/>
              </a:lnSpc>
              <a:spcBef>
                <a:spcPts val="0"/>
              </a:spcBef>
              <a:spcAft>
                <a:spcPts val="0"/>
              </a:spcAft>
            </a:pPr>
            <a:r>
              <a:rPr sz="1600" b="0">
                <a:solidFill>
                  <a:srgbClr val="5C6F83"/>
                </a:solidFill>
                <a:latin typeface="Aptos"/>
              </a:rPr>
              <a:t>Configure and test the agent.</a:t>
            </a:r>
          </a:p>
          <a:p>
            <a:pPr algn="l">
              <a:lnSpc>
                <a:spcPts val="1792"/>
              </a:lnSpc>
              <a:spcBef>
                <a:spcPts val="0"/>
              </a:spcBef>
              <a:spcAft>
                <a:spcPts val="0"/>
              </a:spcAft>
            </a:pPr>
            <a:r>
              <a:rPr sz="1600" b="0">
                <a:solidFill>
                  <a:srgbClr val="5C6F83"/>
                </a:solidFill>
                <a:latin typeface="Aptos"/>
              </a:rPr>
              <a:t>Measure creation and operations.</a:t>
            </a:r>
          </a:p>
        </p:txBody>
      </p:sp>
      <p:sp>
        <p:nvSpPr>
          <p:cNvPr id="28" name="Rounded Rectangle 27"/>
          <p:cNvSpPr/>
          <p:nvPr/>
        </p:nvSpPr>
        <p:spPr>
          <a:xfrm>
            <a:off x="8046719" y="2615184"/>
            <a:ext cx="3584448" cy="2642616"/>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29599" y="2852928"/>
            <a:ext cx="41148" cy="402336"/>
          </a:xfrm>
          <a:prstGeom prst="rect">
            <a:avLst/>
          </a:prstGeom>
          <a:solidFill>
            <a:srgbClr val="765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80" y="2843784"/>
            <a:ext cx="3035808"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7650A6"/>
                </a:solidFill>
                <a:latin typeface="Aptos"/>
              </a:rPr>
              <a:t>03  EXPAND</a:t>
            </a:r>
          </a:p>
        </p:txBody>
      </p:sp>
      <p:sp>
        <p:nvSpPr>
          <p:cNvPr id="31" name="TextBox 30"/>
          <p:cNvSpPr txBox="1"/>
          <p:nvPr/>
        </p:nvSpPr>
        <p:spPr>
          <a:xfrm>
            <a:off x="8257031" y="3419856"/>
            <a:ext cx="3163824"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Demonstrate reuse</a:t>
            </a:r>
          </a:p>
        </p:txBody>
      </p:sp>
      <p:sp>
        <p:nvSpPr>
          <p:cNvPr id="32" name="TextBox 31"/>
          <p:cNvSpPr txBox="1"/>
          <p:nvPr/>
        </p:nvSpPr>
        <p:spPr>
          <a:xfrm>
            <a:off x="8257031" y="4315968"/>
            <a:ext cx="3163824" cy="813816"/>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Onboard a second domain.</a:t>
            </a:r>
          </a:p>
          <a:p>
            <a:pPr algn="l">
              <a:lnSpc>
                <a:spcPts val="1792"/>
              </a:lnSpc>
              <a:spcBef>
                <a:spcPts val="0"/>
              </a:spcBef>
              <a:spcAft>
                <a:spcPts val="0"/>
              </a:spcAft>
            </a:pPr>
            <a:r>
              <a:rPr sz="1600" b="0">
                <a:solidFill>
                  <a:srgbClr val="5C6F83"/>
                </a:solidFill>
                <a:latin typeface="Aptos"/>
              </a:rPr>
              <a:t>Reuse platform capabilities.</a:t>
            </a:r>
          </a:p>
          <a:p>
            <a:pPr algn="l">
              <a:lnSpc>
                <a:spcPts val="1792"/>
              </a:lnSpc>
              <a:spcBef>
                <a:spcPts val="0"/>
              </a:spcBef>
              <a:spcAft>
                <a:spcPts val="0"/>
              </a:spcAft>
            </a:pPr>
            <a:r>
              <a:rPr sz="1600" b="0">
                <a:solidFill>
                  <a:srgbClr val="5C6F83"/>
                </a:solidFill>
                <a:latin typeface="Aptos"/>
              </a:rPr>
              <a:t>Measure incremental effort.</a:t>
            </a:r>
          </a:p>
        </p:txBody>
      </p:sp>
      <p:sp>
        <p:nvSpPr>
          <p:cNvPr id="33" name="Rounded Rectangle 32"/>
          <p:cNvSpPr/>
          <p:nvPr/>
        </p:nvSpPr>
        <p:spPr>
          <a:xfrm>
            <a:off x="548640" y="5358384"/>
            <a:ext cx="11091672" cy="484632"/>
          </a:xfrm>
          <a:prstGeom prst="roundRect">
            <a:avLst>
              <a:gd name="adj" fmla="val 9000"/>
            </a:avLst>
          </a:prstGeom>
          <a:solidFill>
            <a:srgbClr val="1227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8952" y="5458968"/>
            <a:ext cx="10652760" cy="283464"/>
          </a:xfrm>
          <a:prstGeom prst="rect">
            <a:avLst/>
          </a:prstGeom>
          <a:noFill/>
        </p:spPr>
        <p:txBody>
          <a:bodyPr wrap="square" lIns="13716" rIns="13716" tIns="22860" bIns="22860">
            <a:spAutoFit/>
          </a:bodyPr>
          <a:lstStyle/>
          <a:p>
            <a:pPr algn="l">
              <a:lnSpc>
                <a:spcPts val="1904"/>
              </a:lnSpc>
              <a:spcBef>
                <a:spcPts val="0"/>
              </a:spcBef>
              <a:spcAft>
                <a:spcPts val="0"/>
              </a:spcAft>
            </a:pPr>
            <a:r>
              <a:rPr sz="1700" b="1">
                <a:solidFill>
                  <a:srgbClr val="FFFFFF"/>
                </a:solidFill>
                <a:latin typeface="Aptos"/>
              </a:rPr>
              <a:t>The decision: invest in shared agent infrastructure that domain teams can repeatedly use.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THE PLATFORM</a:t>
            </a:r>
          </a:p>
        </p:txBody>
      </p:sp>
      <p:sp>
        <p:nvSpPr>
          <p:cNvPr id="5" name="Rectangle 4"/>
          <p:cNvSpPr/>
          <p:nvPr/>
        </p:nvSpPr>
        <p:spPr>
          <a:xfrm>
            <a:off x="3383280"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CREATE AGENTS</a:t>
            </a:r>
          </a:p>
        </p:txBody>
      </p:sp>
      <p:sp>
        <p:nvSpPr>
          <p:cNvPr id="7" name="Rectangle 6"/>
          <p:cNvSpPr/>
          <p:nvPr/>
        </p:nvSpPr>
        <p:spPr>
          <a:xfrm>
            <a:off x="6236208" y="539496"/>
            <a:ext cx="2606040" cy="3200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6208"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CONTROL + OPERATE</a:t>
            </a:r>
          </a:p>
        </p:txBody>
      </p:sp>
      <p:sp>
        <p:nvSpPr>
          <p:cNvPr id="9" name="Rectangle 8"/>
          <p:cNvSpPr/>
          <p:nvPr/>
        </p:nvSpPr>
        <p:spPr>
          <a:xfrm>
            <a:off x="9089136" y="539496"/>
            <a:ext cx="2606040" cy="3200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89136" y="265176"/>
            <a:ext cx="2606040" cy="201168"/>
          </a:xfrm>
          <a:prstGeom prst="rect">
            <a:avLst/>
          </a:prstGeom>
          <a:noFill/>
        </p:spPr>
        <p:txBody>
          <a:bodyPr wrap="square" lIns="13716" rIns="13716" tIns="22860" bIns="22860">
            <a:spAutoFit/>
          </a:bodyPr>
          <a:lstStyle/>
          <a:p>
            <a:pPr algn="l">
              <a:lnSpc>
                <a:spcPts val="1008"/>
              </a:lnSpc>
              <a:spcBef>
                <a:spcPts val="0"/>
              </a:spcBef>
              <a:spcAft>
                <a:spcPts val="0"/>
              </a:spcAft>
            </a:pPr>
            <a:r>
              <a:rPr sz="900" b="1">
                <a:solidFill>
                  <a:srgbClr val="007C83"/>
                </a:solidFill>
                <a:latin typeface="Aptos"/>
              </a:rPr>
              <a:t>REUSE + SCALE</a:t>
            </a:r>
          </a:p>
        </p:txBody>
      </p:sp>
      <p:sp>
        <p:nvSpPr>
          <p:cNvPr id="11" name="TextBox 10"/>
          <p:cNvSpPr txBox="1"/>
          <p:nvPr/>
        </p:nvSpPr>
        <p:spPr>
          <a:xfrm>
            <a:off x="530352" y="768096"/>
            <a:ext cx="11128248" cy="210312"/>
          </a:xfrm>
          <a:prstGeom prst="rect">
            <a:avLst/>
          </a:prstGeom>
          <a:noFill/>
        </p:spPr>
        <p:txBody>
          <a:bodyPr wrap="square" lIns="13716" rIns="13716" tIns="22860" bIns="22860">
            <a:spAutoFit/>
          </a:bodyPr>
          <a:lstStyle/>
          <a:p>
            <a:pPr algn="l">
              <a:lnSpc>
                <a:spcPts val="1120"/>
              </a:lnSpc>
              <a:spcBef>
                <a:spcPts val="0"/>
              </a:spcBef>
              <a:spcAft>
                <a:spcPts val="0"/>
              </a:spcAft>
            </a:pPr>
            <a:r>
              <a:rPr sz="1000" b="1">
                <a:solidFill>
                  <a:srgbClr val="007C83"/>
                </a:solidFill>
                <a:latin typeface="Aptos"/>
              </a:rPr>
              <a:t>APPENDIX: CURRENT IMPLEMENTATION</a:t>
            </a:r>
          </a:p>
        </p:txBody>
      </p:sp>
      <p:sp>
        <p:nvSpPr>
          <p:cNvPr id="12" name="TextBox 11"/>
          <p:cNvSpPr txBox="1"/>
          <p:nvPr/>
        </p:nvSpPr>
        <p:spPr>
          <a:xfrm>
            <a:off x="530352" y="1078992"/>
            <a:ext cx="11128248" cy="594360"/>
          </a:xfrm>
          <a:prstGeom prst="rect">
            <a:avLst/>
          </a:prstGeom>
          <a:noFill/>
        </p:spPr>
        <p:txBody>
          <a:bodyPr wrap="square" lIns="13716" rIns="13716" tIns="22860" bIns="22860">
            <a:spAutoFit/>
          </a:bodyPr>
          <a:lstStyle/>
          <a:p>
            <a:pPr algn="l">
              <a:lnSpc>
                <a:spcPts val="3360"/>
              </a:lnSpc>
              <a:spcBef>
                <a:spcPts val="0"/>
              </a:spcBef>
              <a:spcAft>
                <a:spcPts val="0"/>
              </a:spcAft>
            </a:pPr>
            <a:r>
              <a:rPr sz="3000" b="1">
                <a:solidFill>
                  <a:srgbClr val="122743"/>
                </a:solidFill>
                <a:latin typeface="Aptos"/>
              </a:rPr>
              <a:t>Platform capabilities and deployment readiness.</a:t>
            </a:r>
          </a:p>
        </p:txBody>
      </p:sp>
      <p:sp>
        <p:nvSpPr>
          <p:cNvPr id="13" name="TextBox 12"/>
          <p:cNvSpPr txBox="1"/>
          <p:nvPr/>
        </p:nvSpPr>
        <p:spPr>
          <a:xfrm>
            <a:off x="548640" y="1746504"/>
            <a:ext cx="11064240" cy="5943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Implementation evidence is included in speaker notes. This review checks source code, not a live production deployment.</a:t>
            </a:r>
          </a:p>
        </p:txBody>
      </p:sp>
      <p:sp>
        <p:nvSpPr>
          <p:cNvPr id="14" name="Rectangle 13"/>
          <p:cNvSpPr/>
          <p:nvPr/>
        </p:nvSpPr>
        <p:spPr>
          <a:xfrm>
            <a:off x="530352" y="6437376"/>
            <a:ext cx="11128248" cy="11887"/>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537960"/>
            <a:ext cx="7315200" cy="173736"/>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AGENT TEMPLATE STUDIO  /  CODEBASE UPDATE  /  03 OCT 2026</a:t>
            </a:r>
          </a:p>
        </p:txBody>
      </p:sp>
      <p:sp>
        <p:nvSpPr>
          <p:cNvPr id="16" name="TextBox 15"/>
          <p:cNvSpPr txBox="1"/>
          <p:nvPr/>
        </p:nvSpPr>
        <p:spPr>
          <a:xfrm>
            <a:off x="11000232" y="6492240"/>
            <a:ext cx="594360" cy="228600"/>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16</a:t>
            </a:r>
          </a:p>
        </p:txBody>
      </p:sp>
      <p:sp>
        <p:nvSpPr>
          <p:cNvPr id="17" name="Rounded Rectangle 16"/>
          <p:cNvSpPr/>
          <p:nvPr/>
        </p:nvSpPr>
        <p:spPr>
          <a:xfrm>
            <a:off x="548640" y="2615184"/>
            <a:ext cx="3584448" cy="3108960"/>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2852928"/>
            <a:ext cx="41148" cy="402336"/>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2843784"/>
            <a:ext cx="3035808"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IMPLEMENTED</a:t>
            </a:r>
          </a:p>
        </p:txBody>
      </p:sp>
      <p:sp>
        <p:nvSpPr>
          <p:cNvPr id="20" name="TextBox 19"/>
          <p:cNvSpPr txBox="1"/>
          <p:nvPr/>
        </p:nvSpPr>
        <p:spPr>
          <a:xfrm>
            <a:off x="758952" y="3419856"/>
            <a:ext cx="3163824"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Platform foundation</a:t>
            </a:r>
          </a:p>
        </p:txBody>
      </p:sp>
      <p:sp>
        <p:nvSpPr>
          <p:cNvPr id="21" name="TextBox 20"/>
          <p:cNvSpPr txBox="1"/>
          <p:nvPr/>
        </p:nvSpPr>
        <p:spPr>
          <a:xfrm>
            <a:off x="758952" y="4315968"/>
            <a:ext cx="3163824" cy="12801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Template creation + registry</a:t>
            </a:r>
          </a:p>
          <a:p>
            <a:pPr algn="l">
              <a:lnSpc>
                <a:spcPts val="1792"/>
              </a:lnSpc>
              <a:spcBef>
                <a:spcPts val="0"/>
              </a:spcBef>
              <a:spcAft>
                <a:spcPts val="0"/>
              </a:spcAft>
            </a:pPr>
            <a:r>
              <a:rPr sz="1600" b="0">
                <a:solidFill>
                  <a:srgbClr val="5C6F83"/>
                </a:solidFill>
                <a:latin typeface="Aptos"/>
              </a:rPr>
              <a:t>API, role and context controls</a:t>
            </a:r>
          </a:p>
          <a:p>
            <a:pPr algn="l">
              <a:lnSpc>
                <a:spcPts val="1792"/>
              </a:lnSpc>
              <a:spcBef>
                <a:spcPts val="0"/>
              </a:spcBef>
              <a:spcAft>
                <a:spcPts val="0"/>
              </a:spcAft>
            </a:pPr>
            <a:r>
              <a:rPr sz="1600" b="0">
                <a:solidFill>
                  <a:srgbClr val="5C6F83"/>
                </a:solidFill>
                <a:latin typeface="Aptos"/>
              </a:rPr>
              <a:t>Model adapters + operating views</a:t>
            </a:r>
          </a:p>
          <a:p>
            <a:pPr algn="l">
              <a:lnSpc>
                <a:spcPts val="1792"/>
              </a:lnSpc>
              <a:spcBef>
                <a:spcPts val="0"/>
              </a:spcBef>
              <a:spcAft>
                <a:spcPts val="0"/>
              </a:spcAft>
            </a:pPr>
            <a:r>
              <a:rPr sz="1600" b="0">
                <a:solidFill>
                  <a:srgbClr val="5C6F83"/>
                </a:solidFill>
                <a:latin typeface="Aptos"/>
              </a:rPr>
              <a:t>Payroll reference workflow</a:t>
            </a:r>
          </a:p>
        </p:txBody>
      </p:sp>
      <p:sp>
        <p:nvSpPr>
          <p:cNvPr id="22" name="Rounded Rectangle 21"/>
          <p:cNvSpPr/>
          <p:nvPr/>
        </p:nvSpPr>
        <p:spPr>
          <a:xfrm>
            <a:off x="4297679" y="2615184"/>
            <a:ext cx="3584448" cy="3108960"/>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59" y="2852928"/>
            <a:ext cx="41148" cy="402336"/>
          </a:xfrm>
          <a:prstGeom prst="rect">
            <a:avLst/>
          </a:prstGeom>
          <a:solidFill>
            <a:srgbClr val="235C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63440" y="2843784"/>
            <a:ext cx="3035808"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235CC4"/>
                </a:solidFill>
                <a:latin typeface="Aptos"/>
              </a:rPr>
              <a:t>CONFIGURABLE</a:t>
            </a:r>
          </a:p>
        </p:txBody>
      </p:sp>
      <p:sp>
        <p:nvSpPr>
          <p:cNvPr id="25" name="TextBox 24"/>
          <p:cNvSpPr txBox="1"/>
          <p:nvPr/>
        </p:nvSpPr>
        <p:spPr>
          <a:xfrm>
            <a:off x="4507992" y="3419856"/>
            <a:ext cx="3163824"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Model + hosting paths</a:t>
            </a:r>
          </a:p>
        </p:txBody>
      </p:sp>
      <p:sp>
        <p:nvSpPr>
          <p:cNvPr id="26" name="TextBox 25"/>
          <p:cNvSpPr txBox="1"/>
          <p:nvPr/>
        </p:nvSpPr>
        <p:spPr>
          <a:xfrm>
            <a:off x="4507992" y="4315968"/>
            <a:ext cx="3163824" cy="12801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Managed model endpoints</a:t>
            </a:r>
          </a:p>
          <a:p>
            <a:pPr algn="l">
              <a:lnSpc>
                <a:spcPts val="1792"/>
              </a:lnSpc>
              <a:spcBef>
                <a:spcPts val="0"/>
              </a:spcBef>
              <a:spcAft>
                <a:spcPts val="0"/>
              </a:spcAft>
            </a:pPr>
            <a:r>
              <a:rPr sz="1600" b="0">
                <a:solidFill>
                  <a:srgbClr val="5C6F83"/>
                </a:solidFill>
                <a:latin typeface="Aptos"/>
              </a:rPr>
              <a:t>Private compatible endpoints</a:t>
            </a:r>
          </a:p>
          <a:p>
            <a:pPr algn="l">
              <a:lnSpc>
                <a:spcPts val="1792"/>
              </a:lnSpc>
              <a:spcBef>
                <a:spcPts val="0"/>
              </a:spcBef>
              <a:spcAft>
                <a:spcPts val="0"/>
              </a:spcAft>
            </a:pPr>
            <a:r>
              <a:rPr sz="1600" b="0">
                <a:solidFill>
                  <a:srgbClr val="5C6F83"/>
                </a:solidFill>
                <a:latin typeface="Aptos"/>
              </a:rPr>
              <a:t>Compose or existing Kind</a:t>
            </a:r>
          </a:p>
          <a:p>
            <a:pPr algn="l">
              <a:lnSpc>
                <a:spcPts val="1792"/>
              </a:lnSpc>
              <a:spcBef>
                <a:spcPts val="0"/>
              </a:spcBef>
              <a:spcAft>
                <a:spcPts val="0"/>
              </a:spcAft>
            </a:pPr>
            <a:r>
              <a:rPr sz="1600" b="0">
                <a:solidFill>
                  <a:srgbClr val="5C6F83"/>
                </a:solidFill>
                <a:latin typeface="Aptos"/>
              </a:rPr>
              <a:t>Ray / vLLM deployment assets</a:t>
            </a:r>
          </a:p>
        </p:txBody>
      </p:sp>
      <p:sp>
        <p:nvSpPr>
          <p:cNvPr id="27" name="Rounded Rectangle 26"/>
          <p:cNvSpPr/>
          <p:nvPr/>
        </p:nvSpPr>
        <p:spPr>
          <a:xfrm>
            <a:off x="8046719" y="2615184"/>
            <a:ext cx="3584448" cy="3108960"/>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29599" y="2852928"/>
            <a:ext cx="41148" cy="402336"/>
          </a:xfrm>
          <a:prstGeom prst="rect">
            <a:avLst/>
          </a:prstGeom>
          <a:solidFill>
            <a:srgbClr val="765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0" y="2843784"/>
            <a:ext cx="3035808"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7650A6"/>
                </a:solidFill>
                <a:latin typeface="Aptos"/>
              </a:rPr>
              <a:t>VALIDATE / EXTEND</a:t>
            </a:r>
          </a:p>
        </p:txBody>
      </p:sp>
      <p:sp>
        <p:nvSpPr>
          <p:cNvPr id="30" name="TextBox 29"/>
          <p:cNvSpPr txBox="1"/>
          <p:nvPr/>
        </p:nvSpPr>
        <p:spPr>
          <a:xfrm>
            <a:off x="8257031" y="3419856"/>
            <a:ext cx="3163824" cy="749808"/>
          </a:xfrm>
          <a:prstGeom prst="rect">
            <a:avLst/>
          </a:prstGeom>
          <a:noFill/>
        </p:spPr>
        <p:txBody>
          <a:bodyPr wrap="square" lIns="13716" rIns="13716" tIns="22860" bIns="22860">
            <a:spAutoFit/>
          </a:bodyPr>
          <a:lstStyle/>
          <a:p>
            <a:pPr algn="l">
              <a:lnSpc>
                <a:spcPts val="2352"/>
              </a:lnSpc>
              <a:spcBef>
                <a:spcPts val="0"/>
              </a:spcBef>
              <a:spcAft>
                <a:spcPts val="0"/>
              </a:spcAft>
            </a:pPr>
            <a:r>
              <a:rPr sz="2100" b="1">
                <a:solidFill>
                  <a:srgbClr val="122743"/>
                </a:solidFill>
                <a:latin typeface="Aptos"/>
              </a:rPr>
              <a:t>Target environment</a:t>
            </a:r>
          </a:p>
        </p:txBody>
      </p:sp>
      <p:sp>
        <p:nvSpPr>
          <p:cNvPr id="31" name="TextBox 30"/>
          <p:cNvSpPr txBox="1"/>
          <p:nvPr/>
        </p:nvSpPr>
        <p:spPr>
          <a:xfrm>
            <a:off x="8257031" y="4315968"/>
            <a:ext cx="3163824" cy="128016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Private GPU inference</a:t>
            </a:r>
          </a:p>
          <a:p>
            <a:pPr algn="l">
              <a:lnSpc>
                <a:spcPts val="1792"/>
              </a:lnSpc>
              <a:spcBef>
                <a:spcPts val="0"/>
              </a:spcBef>
              <a:spcAft>
                <a:spcPts val="0"/>
              </a:spcAft>
            </a:pPr>
            <a:r>
              <a:rPr sz="1600" b="0">
                <a:solidFill>
                  <a:srgbClr val="5C6F83"/>
                </a:solidFill>
                <a:latin typeface="Aptos"/>
              </a:rPr>
              <a:t>Enterprise identity and isolation</a:t>
            </a:r>
          </a:p>
          <a:p>
            <a:pPr algn="l">
              <a:lnSpc>
                <a:spcPts val="1792"/>
              </a:lnSpc>
              <a:spcBef>
                <a:spcPts val="0"/>
              </a:spcBef>
              <a:spcAft>
                <a:spcPts val="0"/>
              </a:spcAft>
            </a:pPr>
            <a:r>
              <a:rPr sz="1600" b="0">
                <a:solidFill>
                  <a:srgbClr val="5C6F83"/>
                </a:solidFill>
                <a:latin typeface="Aptos"/>
              </a:rPr>
              <a:t>Additional domain integrations</a:t>
            </a:r>
          </a:p>
          <a:p>
            <a:pPr algn="l">
              <a:lnSpc>
                <a:spcPts val="1792"/>
              </a:lnSpc>
              <a:spcBef>
                <a:spcPts val="0"/>
              </a:spcBef>
              <a:spcAft>
                <a:spcPts val="0"/>
              </a:spcAft>
            </a:pPr>
            <a:r>
              <a:rPr sz="1600" b="0">
                <a:solidFill>
                  <a:srgbClr val="5C6F83"/>
                </a:solidFill>
                <a:latin typeface="Aptos"/>
              </a:rPr>
              <a:t>Production quality and capacity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6915</Words>
  <Application>WPS Presentation</Application>
  <PresentationFormat>On-screen Show (16:9)</PresentationFormat>
  <Paragraphs>444</Paragraphs>
  <Slides>12</Slides>
  <Notes>6</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vt:i4>
      </vt:variant>
    </vt:vector>
  </HeadingPairs>
  <TitlesOfParts>
    <vt:vector size="22" baseType="lpstr">
      <vt:lpstr>Arial</vt:lpstr>
      <vt:lpstr>SimSun</vt:lpstr>
      <vt:lpstr>Wingdings</vt:lpstr>
      <vt:lpstr>Aptos</vt:lpstr>
      <vt:lpstr>Segoe UI</vt:lpstr>
      <vt:lpstr>Aptos</vt:lpstr>
      <vt:lpstr>Aptos</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TriNet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Template Studio — Shared Agent Infrastructure Platform</dc:title>
  <dc:creator>Agent Template Studio</dc:creator>
  <dc:subject>Template-driven domain agents with model choice, data access and shared controls</dc:subject>
  <cp:lastModifiedBy>Himanshu Gupta</cp:lastModifiedBy>
  <cp:revision>3</cp:revision>
  <dcterms:created xsi:type="dcterms:W3CDTF">2026-09-10T22:16:00Z</dcterms:created>
  <dcterms:modified xsi:type="dcterms:W3CDTF">2026-09-11T05:06:22Z</dcterms:modified>
  <cp:keywords>Agent infrastructure, platform, templates, private LLM, managed LLM, domains, API access</cp:keywords>
  <dc:description>Platform-first revision based on supplied deck and current workspace source, 03 October 2026.</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FA1D828F6E6A45A2BE8C1F6AF7BEA5D3_12</vt:lpwstr>
  </property>
</Properties>
</file>